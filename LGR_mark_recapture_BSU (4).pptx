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06db70-acc4-b0d3-74a6-6eda9fa4fa78}">
          <p14:sldIdLst>
            <p14:sldId id="256"/>
          </p14:sldIdLst>
        </p14:section>
        <p14:section name="The problem" id="{bd856db5-8c17-62f6-f4ec-522ba0f4e66b}">
          <p14:sldIdLst>
            <p14:sldId id="257"/>
            <p14:sldId id="258"/>
          </p14:sldIdLst>
        </p14:section>
        <p14:section name="Screw traps" id="{0318a049-e1df-973f-e137-9fd7149023fb}">
          <p14:sldIdLst>
            <p14:sldId id="259"/>
            <p14:sldId id="260"/>
          </p14:sldIdLst>
        </p14:section>
        <p14:section name="Lower Granite" id="{bea35755-60d8-31bf-abea-cc48cc7ba42d}">
          <p14:sldIdLst>
            <p14:sldId id="261"/>
            <p14:sldId id="262"/>
            <p14:sldId id="263"/>
            <p14:sldId id="264"/>
            <p14:sldId id="265"/>
            <p14:sldId id="266"/>
            <p14:sldId id="267"/>
            <p14:sldId id="268"/>
          </p14:sldIdLst>
        </p14:section>
        <p14:section name="Wild fish in a hatchery river" id="{9e77b041-6090-8f40-b7fd-b7df2b3be8f8}">
          <p14:sldIdLst>
            <p14:sldId id="269"/>
            <p14:sldId id="270"/>
            <p14:sldId id="271"/>
            <p14:sldId id="272"/>
          </p14:sldIdLst>
        </p14:section>
        <p14:section name="Day and night" id="{e2b30a04-e625-d463-7cac-b3f76bf20047}">
          <p14:sldIdLst>
            <p14:sldId id="273"/>
            <p14:sldId id="274"/>
            <p14:sldId id="275"/>
            <p14:sldId id="276"/>
            <p14:sldId id="277"/>
          </p14:sldIdLst>
        </p14:section>
        <p14:section name="From GE to abundance" id="{7f0b3872-77bf-dc38-f1de-9f27abbf4033}">
          <p14:sldIdLst>
            <p14:sldId id="278"/>
            <p14:sldId id="279"/>
            <p14:sldId id="280"/>
            <p14:sldId id="281"/>
            <p14:sldId id="282"/>
          </p14:sldIdLst>
        </p14:section>
        <p14:section name="Close" id="{e35d4630-5d8f-e3e7-7a48-62104986c150}">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Fish past the dam, 2,000 bootstrap rounds</a:t>
            </a:r>
          </a:p>
        </c:rich>
      </c:tx>
      <c:layout/>
      <c:overlay val="0"/>
    </c:title>
    <c:autoTitleDeleted val="0"/>
    <c:plotArea>
      <c:layout/>
      <c:barChart>
        <c:barDir val="col"/>
        <c:grouping val="stacked"/>
        <c:varyColors val="0"/>
        <c:ser>
          <c:idx val="0"/>
          <c:order val="0"/>
          <c:tx>
            <c:strRef>
              <c:f>Sheet1!$B$1</c:f>
              <c:strCache>
                <c:ptCount val="1"/>
                <c:pt idx="0">
                  <c:v>Middle 90%</c:v>
                </c:pt>
              </c:strCache>
            </c:strRef>
          </c:tx>
          <c:spPr>
            <a:solidFill>
              <a:srgbClr val="1F6F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Sheet1!$A$2:$A$47</c:f>
              <c:multiLvlStrCache>
                <c:ptCount val="46"/>
                <c:lvl>
                  <c:pt idx="0">
                    <c:v>2,240</c:v>
                  </c:pt>
                  <c:pt idx="1">
                    <c:v>2,320</c:v>
                  </c:pt>
                  <c:pt idx="2">
                    <c:v>2,400</c:v>
                  </c:pt>
                  <c:pt idx="3">
                    <c:v>2,480</c:v>
                  </c:pt>
                  <c:pt idx="4">
                    <c:v>2,560</c:v>
                  </c:pt>
                  <c:pt idx="5">
                    <c:v>2,640</c:v>
                  </c:pt>
                  <c:pt idx="6">
                    <c:v>2,720</c:v>
                  </c:pt>
                  <c:pt idx="7">
                    <c:v>2,800</c:v>
                  </c:pt>
                  <c:pt idx="8">
                    <c:v>2,880</c:v>
                  </c:pt>
                  <c:pt idx="9">
                    <c:v>2,960</c:v>
                  </c:pt>
                  <c:pt idx="10">
                    <c:v>3,040</c:v>
                  </c:pt>
                  <c:pt idx="11">
                    <c:v>3,120</c:v>
                  </c:pt>
                  <c:pt idx="12">
                    <c:v>3,200</c:v>
                  </c:pt>
                  <c:pt idx="13">
                    <c:v>3,280</c:v>
                  </c:pt>
                  <c:pt idx="14">
                    <c:v>3,360</c:v>
                  </c:pt>
                  <c:pt idx="15">
                    <c:v>3,440</c:v>
                  </c:pt>
                  <c:pt idx="16">
                    <c:v>3,520</c:v>
                  </c:pt>
                  <c:pt idx="17">
                    <c:v>3,600</c:v>
                  </c:pt>
                  <c:pt idx="18">
                    <c:v>3,680</c:v>
                  </c:pt>
                  <c:pt idx="19">
                    <c:v>3,760</c:v>
                  </c:pt>
                  <c:pt idx="20">
                    <c:v>3,840</c:v>
                  </c:pt>
                  <c:pt idx="21">
                    <c:v>3,920</c:v>
                  </c:pt>
                  <c:pt idx="22">
                    <c:v>4,000</c:v>
                  </c:pt>
                  <c:pt idx="23">
                    <c:v>4,080</c:v>
                  </c:pt>
                  <c:pt idx="24">
                    <c:v>4,160</c:v>
                  </c:pt>
                  <c:pt idx="25">
                    <c:v>4,240</c:v>
                  </c:pt>
                  <c:pt idx="26">
                    <c:v>4,320</c:v>
                  </c:pt>
                  <c:pt idx="27">
                    <c:v>4,400</c:v>
                  </c:pt>
                  <c:pt idx="28">
                    <c:v>4,480</c:v>
                  </c:pt>
                  <c:pt idx="29">
                    <c:v>4,560</c:v>
                  </c:pt>
                  <c:pt idx="30">
                    <c:v>4,640</c:v>
                  </c:pt>
                  <c:pt idx="31">
                    <c:v>4,720</c:v>
                  </c:pt>
                  <c:pt idx="32">
                    <c:v>4,800</c:v>
                  </c:pt>
                  <c:pt idx="33">
                    <c:v>4,880</c:v>
                  </c:pt>
                  <c:pt idx="34">
                    <c:v>4,960</c:v>
                  </c:pt>
                  <c:pt idx="35">
                    <c:v>5,040</c:v>
                  </c:pt>
                  <c:pt idx="36">
                    <c:v>5,120</c:v>
                  </c:pt>
                  <c:pt idx="37">
                    <c:v>5,200</c:v>
                  </c:pt>
                  <c:pt idx="38">
                    <c:v>5,280</c:v>
                  </c:pt>
                  <c:pt idx="39">
                    <c:v>5,360</c:v>
                  </c:pt>
                  <c:pt idx="40">
                    <c:v>5,440</c:v>
                  </c:pt>
                  <c:pt idx="41">
                    <c:v>5,520</c:v>
                  </c:pt>
                  <c:pt idx="42">
                    <c:v>5,600</c:v>
                  </c:pt>
                  <c:pt idx="43">
                    <c:v>5,680</c:v>
                  </c:pt>
                  <c:pt idx="44">
                    <c:v>5,760</c:v>
                  </c:pt>
                  <c:pt idx="45">
                    <c:v>5,840</c:v>
                  </c:pt>
                </c:lvl>
              </c:multiLvlStrCache>
            </c:multiLvlStrRef>
          </c:cat>
          <c:val>
            <c:numRef>
              <c:f>Sheet1!$B$2:$B$47</c:f>
              <c:numCache>
                <c:formatCode>General</c:formatCode>
                <c:ptCount val="46"/>
                <c:pt idx="0">
                  <c:v>0</c:v>
                </c:pt>
                <c:pt idx="1">
                  <c:v>0</c:v>
                </c:pt>
                <c:pt idx="2">
                  <c:v>0</c:v>
                </c:pt>
                <c:pt idx="3">
                  <c:v>0</c:v>
                </c:pt>
                <c:pt idx="4">
                  <c:v>0</c:v>
                </c:pt>
                <c:pt idx="5">
                  <c:v>0</c:v>
                </c:pt>
                <c:pt idx="6">
                  <c:v>0</c:v>
                </c:pt>
                <c:pt idx="7">
                  <c:v>0</c:v>
                </c:pt>
                <c:pt idx="8">
                  <c:v>0</c:v>
                </c:pt>
                <c:pt idx="9">
                  <c:v>0</c:v>
                </c:pt>
                <c:pt idx="10">
                  <c:v>0</c:v>
                </c:pt>
                <c:pt idx="11">
                  <c:v>34</c:v>
                </c:pt>
                <c:pt idx="12">
                  <c:v>46</c:v>
                </c:pt>
                <c:pt idx="13">
                  <c:v>45</c:v>
                </c:pt>
                <c:pt idx="14">
                  <c:v>63</c:v>
                </c:pt>
                <c:pt idx="15">
                  <c:v>70</c:v>
                </c:pt>
                <c:pt idx="16">
                  <c:v>73</c:v>
                </c:pt>
                <c:pt idx="17">
                  <c:v>90</c:v>
                </c:pt>
                <c:pt idx="18">
                  <c:v>114</c:v>
                </c:pt>
                <c:pt idx="19">
                  <c:v>113</c:v>
                </c:pt>
                <c:pt idx="20">
                  <c:v>112</c:v>
                </c:pt>
                <c:pt idx="21">
                  <c:v>118</c:v>
                </c:pt>
                <c:pt idx="22">
                  <c:v>117</c:v>
                </c:pt>
                <c:pt idx="23">
                  <c:v>99</c:v>
                </c:pt>
                <c:pt idx="24">
                  <c:v>108</c:v>
                </c:pt>
                <c:pt idx="25">
                  <c:v>104</c:v>
                </c:pt>
                <c:pt idx="26">
                  <c:v>89</c:v>
                </c:pt>
                <c:pt idx="27">
                  <c:v>71</c:v>
                </c:pt>
                <c:pt idx="28">
                  <c:v>62</c:v>
                </c:pt>
                <c:pt idx="29">
                  <c:v>68</c:v>
                </c:pt>
                <c:pt idx="30">
                  <c:v>77</c:v>
                </c:pt>
                <c:pt idx="31">
                  <c:v>55</c:v>
                </c:pt>
                <c:pt idx="32">
                  <c:v>37</c:v>
                </c:pt>
                <c:pt idx="33">
                  <c:v>23</c:v>
                </c:pt>
                <c:pt idx="34">
                  <c:v>31</c:v>
                </c:pt>
                <c:pt idx="35">
                  <c:v>0</c:v>
                </c:pt>
                <c:pt idx="36">
                  <c:v>0</c:v>
                </c:pt>
                <c:pt idx="37">
                  <c:v>0</c:v>
                </c:pt>
                <c:pt idx="38">
                  <c:v>0</c:v>
                </c:pt>
                <c:pt idx="39">
                  <c:v>0</c:v>
                </c:pt>
                <c:pt idx="40">
                  <c:v>0</c:v>
                </c:pt>
                <c:pt idx="41">
                  <c:v>0</c:v>
                </c:pt>
                <c:pt idx="42">
                  <c:v>0</c:v>
                </c:pt>
                <c:pt idx="43">
                  <c:v>0</c:v>
                </c:pt>
                <c:pt idx="44">
                  <c:v>0</c:v>
                </c:pt>
                <c:pt idx="45">
                  <c:v>0</c:v>
                </c:pt>
              </c:numCache>
            </c:numRef>
          </c:val>
        </c:ser>
        <c:ser>
          <c:idx val="1"/>
          <c:order val="1"/>
          <c:tx>
            <c:strRef>
              <c:f>Sheet1!$C$1</c:f>
              <c:strCache>
                <c:ptCount val="1"/>
                <c:pt idx="0">
                  <c:v>Outer 10%</c:v>
                </c:pt>
              </c:strCache>
            </c:strRef>
          </c:tx>
          <c:spPr>
            <a:solidFill>
              <a:srgbClr val="B8C2C7"/>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Sheet1!$A$2:$A$47</c:f>
              <c:multiLvlStrCache>
                <c:ptCount val="46"/>
                <c:lvl>
                  <c:pt idx="0">
                    <c:v>2,240</c:v>
                  </c:pt>
                  <c:pt idx="1">
                    <c:v>2,320</c:v>
                  </c:pt>
                  <c:pt idx="2">
                    <c:v>2,400</c:v>
                  </c:pt>
                  <c:pt idx="3">
                    <c:v>2,480</c:v>
                  </c:pt>
                  <c:pt idx="4">
                    <c:v>2,560</c:v>
                  </c:pt>
                  <c:pt idx="5">
                    <c:v>2,640</c:v>
                  </c:pt>
                  <c:pt idx="6">
                    <c:v>2,720</c:v>
                  </c:pt>
                  <c:pt idx="7">
                    <c:v>2,800</c:v>
                  </c:pt>
                  <c:pt idx="8">
                    <c:v>2,880</c:v>
                  </c:pt>
                  <c:pt idx="9">
                    <c:v>2,960</c:v>
                  </c:pt>
                  <c:pt idx="10">
                    <c:v>3,040</c:v>
                  </c:pt>
                  <c:pt idx="11">
                    <c:v>3,120</c:v>
                  </c:pt>
                  <c:pt idx="12">
                    <c:v>3,200</c:v>
                  </c:pt>
                  <c:pt idx="13">
                    <c:v>3,280</c:v>
                  </c:pt>
                  <c:pt idx="14">
                    <c:v>3,360</c:v>
                  </c:pt>
                  <c:pt idx="15">
                    <c:v>3,440</c:v>
                  </c:pt>
                  <c:pt idx="16">
                    <c:v>3,520</c:v>
                  </c:pt>
                  <c:pt idx="17">
                    <c:v>3,600</c:v>
                  </c:pt>
                  <c:pt idx="18">
                    <c:v>3,680</c:v>
                  </c:pt>
                  <c:pt idx="19">
                    <c:v>3,760</c:v>
                  </c:pt>
                  <c:pt idx="20">
                    <c:v>3,840</c:v>
                  </c:pt>
                  <c:pt idx="21">
                    <c:v>3,920</c:v>
                  </c:pt>
                  <c:pt idx="22">
                    <c:v>4,000</c:v>
                  </c:pt>
                  <c:pt idx="23">
                    <c:v>4,080</c:v>
                  </c:pt>
                  <c:pt idx="24">
                    <c:v>4,160</c:v>
                  </c:pt>
                  <c:pt idx="25">
                    <c:v>4,240</c:v>
                  </c:pt>
                  <c:pt idx="26">
                    <c:v>4,320</c:v>
                  </c:pt>
                  <c:pt idx="27">
                    <c:v>4,400</c:v>
                  </c:pt>
                  <c:pt idx="28">
                    <c:v>4,480</c:v>
                  </c:pt>
                  <c:pt idx="29">
                    <c:v>4,560</c:v>
                  </c:pt>
                  <c:pt idx="30">
                    <c:v>4,640</c:v>
                  </c:pt>
                  <c:pt idx="31">
                    <c:v>4,720</c:v>
                  </c:pt>
                  <c:pt idx="32">
                    <c:v>4,800</c:v>
                  </c:pt>
                  <c:pt idx="33">
                    <c:v>4,880</c:v>
                  </c:pt>
                  <c:pt idx="34">
                    <c:v>4,960</c:v>
                  </c:pt>
                  <c:pt idx="35">
                    <c:v>5,040</c:v>
                  </c:pt>
                  <c:pt idx="36">
                    <c:v>5,120</c:v>
                  </c:pt>
                  <c:pt idx="37">
                    <c:v>5,200</c:v>
                  </c:pt>
                  <c:pt idx="38">
                    <c:v>5,280</c:v>
                  </c:pt>
                  <c:pt idx="39">
                    <c:v>5,360</c:v>
                  </c:pt>
                  <c:pt idx="40">
                    <c:v>5,440</c:v>
                  </c:pt>
                  <c:pt idx="41">
                    <c:v>5,520</c:v>
                  </c:pt>
                  <c:pt idx="42">
                    <c:v>5,600</c:v>
                  </c:pt>
                  <c:pt idx="43">
                    <c:v>5,680</c:v>
                  </c:pt>
                  <c:pt idx="44">
                    <c:v>5,760</c:v>
                  </c:pt>
                  <c:pt idx="45">
                    <c:v>5,840</c:v>
                  </c:pt>
                </c:lvl>
              </c:multiLvlStrCache>
            </c:multiLvlStrRef>
          </c:cat>
          <c:val>
            <c:numRef>
              <c:f>Sheet1!$C$2:$C$47</c:f>
              <c:numCache>
                <c:formatCode>General</c:formatCode>
                <c:ptCount val="46"/>
                <c:pt idx="0">
                  <c:v>1</c:v>
                </c:pt>
                <c:pt idx="1">
                  <c:v>3</c:v>
                </c:pt>
                <c:pt idx="2">
                  <c:v>0</c:v>
                </c:pt>
                <c:pt idx="3">
                  <c:v>4</c:v>
                </c:pt>
                <c:pt idx="4">
                  <c:v>3</c:v>
                </c:pt>
                <c:pt idx="5">
                  <c:v>7</c:v>
                </c:pt>
                <c:pt idx="6">
                  <c:v>11</c:v>
                </c:pt>
                <c:pt idx="7">
                  <c:v>7</c:v>
                </c:pt>
                <c:pt idx="8">
                  <c:v>16</c:v>
                </c:pt>
                <c:pt idx="9">
                  <c:v>23</c:v>
                </c:pt>
                <c:pt idx="10">
                  <c:v>20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27</c:v>
                </c:pt>
                <c:pt idx="36">
                  <c:v>16</c:v>
                </c:pt>
                <c:pt idx="37">
                  <c:v>17</c:v>
                </c:pt>
                <c:pt idx="38">
                  <c:v>9</c:v>
                </c:pt>
                <c:pt idx="39">
                  <c:v>5</c:v>
                </c:pt>
                <c:pt idx="40">
                  <c:v>5</c:v>
                </c:pt>
                <c:pt idx="41">
                  <c:v>3</c:v>
                </c:pt>
                <c:pt idx="42">
                  <c:v>1</c:v>
                </c:pt>
                <c:pt idx="43">
                  <c:v>2</c:v>
                </c:pt>
                <c:pt idx="44">
                  <c:v>0</c:v>
                </c:pt>
                <c:pt idx="45">
                  <c:v>1</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1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3"/>
                </a:solidFill>
                <a:latin typeface="+mn-lt"/>
              </a:defRPr>
            </a:pPr>
            <a:endParaRPr lang="en-US"/>
          </a:p>
        </c:txPr>
        <c:crossAx val="2094734552"/>
        <c:crosses val="autoZero"/>
        <c:auto val="1"/>
        <c:lblAlgn val="ctr"/>
        <c:noMultiLvlLbl val="1"/>
        <c:tickLblSkip val="5"/>
      </c:catAx>
      <c:valAx>
        <c:axId val="2094734552"/>
        <c:scaling>
          <c:orientation val="minMax"/>
        </c:scaling>
        <c:delete val="0"/>
        <c:axPos val="l"/>
        <c:majorGridlines>
          <c:spPr>
            <a:ln w="9525" cap="flat">
              <a:solidFill>
                <a:srgbClr val="E3E9EB"/>
              </a:solidFill>
              <a:prstDash val="solid"/>
              <a:round/>
            </a:ln>
          </c:spPr>
        </c:majorGridlines>
        <c:title>
          <c:tx>
            <c:rich>
              <a:bodyPr/>
              <a:lstStyle/>
              <a:p>
                <a:pPr>
                  <a:defRPr sz="1200" b="0" i="0" u="none" strike="noStrike">
                    <a:solidFill>
                      <a:srgbClr val="5B6B73"/>
                    </a:solidFill>
                    <a:latin typeface="+mn-lt"/>
                  </a:defRPr>
                </a:pPr>
                <a:r>
                  <a:rPr sz="1200" b="0" i="0" u="none" strike="noStrike">
                    <a:solidFill>
                      <a:srgbClr val="5B6B73"/>
                    </a:solidFill>
                    <a:latin typeface="+mn-lt"/>
                  </a:rPr>
                  <a:t>Rounds</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Season wild GE, before and after dropping LGR-tagged fish</a:t>
            </a:r>
          </a:p>
        </c:rich>
      </c:tx>
      <c:layout/>
      <c:overlay val="0"/>
    </c:title>
    <c:autoTitleDeleted val="0"/>
    <c:plotArea>
      <c:layout/>
      <c:barChart>
        <c:barDir val="col"/>
        <c:grouping val="clustered"/>
        <c:varyColors val="0"/>
        <c:ser>
          <c:idx val="0"/>
          <c:order val="0"/>
          <c:tx>
            <c:strRef>
              <c:f>Sheet1!$B$1</c:f>
              <c:strCache>
                <c:ptCount val="1"/>
                <c:pt idx="0">
                  <c:v>Before dropping</c:v>
                </c:pt>
              </c:strCache>
            </c:strRef>
          </c:tx>
          <c:spPr>
            <a:solidFill>
              <a:srgbClr val="A9B3B8"/>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2021 (24%)</c:v>
                  </c:pt>
                  <c:pt idx="1">
                    <c:v>2022 (50%)</c:v>
                  </c:pt>
                  <c:pt idx="2">
                    <c:v>2023 (59%)</c:v>
                  </c:pt>
                  <c:pt idx="3">
                    <c:v>2024 (46%)</c:v>
                  </c:pt>
                  <c:pt idx="4">
                    <c:v>2025 (45%)</c:v>
                  </c:pt>
                </c:lvl>
              </c:multiLvlStrCache>
            </c:multiLvlStrRef>
          </c:cat>
          <c:val>
            <c:numRef>
              <c:f>Sheet1!$B$2:$B$6</c:f>
              <c:numCache>
                <c:formatCode>General</c:formatCode>
                <c:ptCount val="5"/>
                <c:pt idx="0">
                  <c:v>0.128</c:v>
                </c:pt>
                <c:pt idx="1">
                  <c:v>0.256</c:v>
                </c:pt>
                <c:pt idx="2">
                  <c:v>0.272</c:v>
                </c:pt>
                <c:pt idx="3">
                  <c:v>0.23</c:v>
                </c:pt>
                <c:pt idx="4">
                  <c:v>0.186</c:v>
                </c:pt>
              </c:numCache>
            </c:numRef>
          </c:val>
        </c:ser>
        <c:ser>
          <c:idx val="1"/>
          <c:order val="1"/>
          <c:tx>
            <c:strRef>
              <c:f>Sheet1!$C$1</c:f>
              <c:strCache>
                <c:ptCount val="1"/>
                <c:pt idx="0">
                  <c:v>After dropping</c:v>
                </c:pt>
              </c:strCache>
            </c:strRef>
          </c:tx>
          <c:spPr>
            <a:solidFill>
              <a:srgbClr val="1F6F78"/>
            </a:solidFill>
            <a:effectLst/>
          </c:spPr>
          <c:invertIfNegative val="0"/>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2021 (24%)</c:v>
                  </c:pt>
                  <c:pt idx="1">
                    <c:v>2022 (50%)</c:v>
                  </c:pt>
                  <c:pt idx="2">
                    <c:v>2023 (59%)</c:v>
                  </c:pt>
                  <c:pt idx="3">
                    <c:v>2024 (46%)</c:v>
                  </c:pt>
                  <c:pt idx="4">
                    <c:v>2025 (45%)</c:v>
                  </c:pt>
                </c:lvl>
              </c:multiLvlStrCache>
            </c:multiLvlStrRef>
          </c:cat>
          <c:val>
            <c:numRef>
              <c:f>Sheet1!$C$2:$C$6</c:f>
              <c:numCache>
                <c:formatCode>General</c:formatCode>
                <c:ptCount val="5"/>
                <c:pt idx="0">
                  <c:v>0.037</c:v>
                </c:pt>
                <c:pt idx="1">
                  <c:v>0.151</c:v>
                </c:pt>
                <c:pt idx="2">
                  <c:v>0.224</c:v>
                </c:pt>
                <c:pt idx="3">
                  <c:v>0.044</c:v>
                </c:pt>
                <c:pt idx="4">
                  <c:v>0.048</c:v>
                </c:pt>
              </c:numCache>
            </c:numRef>
          </c:val>
        </c:ser>
        <c:dLbls>
          <c:numFmt formatCode="0.000" sourceLinked="0"/>
          <c:txPr>
            <a:bodyPr/>
            <a:lstStyle/>
            <a:p>
              <a:pPr>
                <a:defRPr b="0" i="0" strike="noStrike" sz="1100" u="none">
                  <a:solidFill>
                    <a:srgbClr val="1B2A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B73"/>
                    </a:solidFill>
                    <a:latin typeface="+mn-lt"/>
                  </a:defRPr>
                </a:pPr>
                <a:r>
                  <a:rPr sz="1200" b="0" i="0" u="none" strike="noStrike">
                    <a:solidFill>
                      <a:srgbClr val="5B6B73"/>
                    </a:solidFill>
                    <a:latin typeface="+mn-lt"/>
                  </a:rPr>
                  <a:t>Migration year (share of wild histories dropped)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3"/>
                </a:solidFill>
                <a:latin typeface="+mn-lt"/>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9525" cap="flat">
              <a:solidFill>
                <a:srgbClr val="E3E9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everything today is about getting one number right at Lower Granite Dam.
The path along the bottom is the talk: a fish gets a PIT tag upstream, may be recaptured at a screw trap, passes Lower Granite (seen in the bypass at GRJ or on the spillway antennas at GRS, or not at all), and may be seen again at Little Goose (GOJ).
Check before presenting: photo credit and permission for the title photo; talk length (built for a 50-minute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today is about getting one number right.
The 2020 Record of Decision raised spill at Lower Granite (LGR) to a higher share of total flow than before (Beeken et al. 2025). Mean daily share of April to May LGR flow spilled: 8.0% in 1993 and 8.6% in 1995, 36.9% in 2019, about 57 to 62% in 2020 to 2023, and 80% in 2024 to 2026. Bars are 95% CIs of the mean over 61 days; days are autocorrelated, so treat them as optimistic.
SCRAPI's guidance efficiency (GE) comes from NOAA via Sandford and Smith (2002), built on 1990 to 1997 data. In the low-spill years 1993 and 1995, LGR detection (bypass only then, so effectively GE) averaged 70% for wild steelhead.
MY2025 wild steelhead: NOAA GE sat near 13% through the high-spill weeks. Closed-form season GE straight from PIT counts: 0.048.
GE too high means abundance too low. The MY2023 report says it directly.
Figure: built from the daily LGR flow and spill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SCRAPI's estimate: N-hat = sum over days of catch / (sample rate x GE).
The expansion is 1/GE: GE 8% gives 12.5x, 6% gives 16.7x, 4% gives 25x. Two points of GE (4% vs 6%) is a 50% difference in abundance.
Real example, MY2021 (Ebel to Baum email, Nov 2022): raising GE 25% gave about 238k; lowering it 25% gave about 400k. These fit steelhead: the published MY2021 wild steelhead estimate was 294,392, and 294k / 1.25 is about 235k, 294k / 0.75 about 393k. Wild Chinook was 160,082, which doesn't fit.
Close with the question the rest of the talk answers: how do we estimate GE better? With PIT tags. Fish tagged upstream are detected as they pass LGR and again downstream, and that is mark-recapture data.
Say: before LGR, let's see how PIT-tag mark-recapture works where we control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 caught in the rotary screw trap are PIT tagged (or stained or fin clipped) and released about 0.5 km upstream, or at least two riffles and a pool above the trap, so they mix with unmarked fish (Smith et al. 2025).
Trap efficiency is just recaptures over marks.
Stratified Lincoln-Petersen with Bailey's modification: N-hat_i = M_i (C_i + 1) / (R_i + 1).
Toy numbers, labeled as such: M = 200, C = 1,000, R = 20 gives 9,533; plain Petersen gives 10,000.
Two problems: days with zero recaptures force pooling into multi-day or multi-week strata, and trap outages produce no estimate at all (Young et al. 2025).
What IDFG does now: a daily state-space version of this, because it needs no hand-picked strata, still estimates through trap outages, and works at traps where declining runs leave too few recaptures for the stratified estimator (Smith et al. 2025; Young et al.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at LGR we set the sample rate. GE has to be inferred from tags nobody placed for this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each day's wild (ad-intact) trap catch by sample rate and GE, decompose to wild vs ad-intact hatchery by stratum, then to stock, sex, and age; bootstrap for intervals (Beeken et al. 2025; Ackerman et al. 2016).
GE arrives as a fixed daily value from NWFSC. No uncertainty attached.
The figure uses toy numbers for one day,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SCRAPI's bootstrap, per round (smoltEASE SCRAPI code): redraw each day's trap catch from a binomial with p = sample rate x GE, treating the estimated passage as fixed (rbinom(1, dailypass, Ptrue)); expand it back up; and resample the measured fish within each stratum, with replacement, for the wild/hatchery, stock, sex, and age splits. Repeat B times; the middle 90% of the totals is the interval.
Toy day from the previous slide: 4,000 fish pass, catch probability 0.25 x 0.05 = 0.0125, so about 50 fish. First five simulated catches: 53, 51, 51, 56, 50, which expand to 4,240, 4,080, 4,080, 4,480, 4,000. Over 2,000 rounds, the middle 90% is 3,120 to 4,960. These are simulated toy numbers, not a real day.
Say: GE is the same 0.05 in every round, so the interval carries trap-sampling noise but nothing about GE uncertainty, even though GE is the shakiest input. SCRAPI2 gives every round its own GE draw from the posterior. That comes back on the Jensen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MY2025 wild steelhead, first detections at LGR: GRJ 511 (bypass, 156 of them then transported), GRS 3,785.
Naive GE = 511 / (511 + 3,785) = 0.12.
Ask the room: what's missing? Detection probability for spilled fish.
Corrected: GE = n_GRJ / (n_GRJ + n_GRS / p).
Counts are season totals from six_cell_counts.csv (detection.zip). Every GE on slides 8 to 11 is closed form, not model output.
Tree: guided vs not guided; GRS seen vs missed. Line width = share of tagged fish at MY2025 wild season ratios, so the big grey "how many?" branch makes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GRS's 11 flatplate antennas sit in three rows across spillway 1, one after another down the flow path (PTAGIS GRS configuration drawing): 01 to 04, then 05 to 07 (06 is split in two to straddle the center expansion joint), then 08, 09, 0A, and 0B. Each antenna is 44.5 by 86.5 inches.
A spilled fish crosses all three rows, so every fish GRS detects carries a three-digit row history: 111, 110, 101, 011, 100, 010, or 001. MY2025: 72,791 histories, 3,785 of them wild.
Same logic as Lincoln-Petersen: of the fish row 2 read, the share row 1 also read estimates row 1's detection. With three rows it's a closed-population model with row-specific detection (BPA Ch. 6, Model Mt, with rows in place of occasions). Weak spot: it assumes every fish is equally readable. If fish passing deep or between antennas are hard for all three rows (heterogeneity, BPA's Model Mh), the 6.6% missed by every row is an underestimate.
MY2025 wild row detection (posterior means): row 1 0.642, row 2 0.610, row 3 0.527. Missed by row 1: 36%. Missed by rows 1 and 2: 0.358 x 0.390 = 14%. Missed by all three: 0.14 x 0.473 = 6.6%, so the array reads d = 1 - 0.066 = 0.934 for wild (0.936 hatchery). Say: three mediocre rows make a very good array, because a fish only slips through if every row misses it.
Plug it in: GE = 511 / (511 + 3,785 / 0.934) = 0.11. Barely moved.
Say: a fish that crosses bay 1 almost never slips past the antennas. So is that the whole story? What if I told you there were more paths?
Check before presenting: row and array estimates are from joint_posterior_summary.csv in detection.zip (MY2025, smoltEASE 0.1.9 in sessionInfo). Confirm it's the run to show, and which physical row is row 1, 2, and 3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I told you there are more paths? Eight spill bays plus turbines, and GRS sits in bay 1 only.
GRJ: LGR juvenile bypass and transportation facility, running since 1988 (PTAGIS). The model assumes every guided fish is detected here.
GRS: spillbay 1 only, 11 flatplate antennas in the spillway concrete, data from April 2020 (PTAGIS). The only spillway array among the eight dams Idaho's emigrants pass (Smith et al. 2025).
GOJ: Little Goose bypass, the next dam down.
The removable spillway weir (RSW) in bay 1 guides surface-oriented spilled fish to spillbay 1. Spillway weirs take fish from the first few meters of the surface; standard spillbay entrances are 10 to 15 m down (Faulkner et al. 2019). Installed permanently in 2001 (Hance et al. 2024).
GRS detection is really two things: p = d x q. Array detection d comes from the rows (0.93). q is the share of nonguided fish that go through bay 1, and "not guided" includes the turbines, so q covers every non-bypass route.
Say: how many spilled fish the weir pulls into bay 1 isn't fixed. At low flow, high spill pushes passage toward the deep bays and away from the weir (Harnish et al. 2023). That's why q has to be estimated, not assumed.
Check before presenting: six vs eight spill bays. Hance et al. 2024 say "one of the six spillbays"; other sources list eight spillway gates. The PTAGIS GRS drawing shows spillway 1 next to the powerhouse, matching the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move: c4 and c5 both skipped the bypass and were both detected at GOJ. They differ only in whether GRS read them, so p-hat = c4 / (c4 + c5). Recovery at Little Goose (surviving to GOJ and being detected there) cancels.
That is Lincoln-Petersen logic, not the LP estimator: GOJ acts as a second sample, and the share of it GRS already read estimates p. No N is estimated here, and the model estimates p jointly in the multistate likelihood; the ratio is the back-of-envelope version. The equal-catchability assumption is the weak spot: GRS-read fish all used bay 1 and the weir, while GRS-missed fish include other bays and the turbines, so different survival to Little Goose would bias p.
MY2025 wild: c4 = 123 and c5 = 195, so p-hat = 0.39 and GE = 511 / (511 + 3,785 / 0.39) = 0.05. With d = 0.93 from the rows, q = p / d, about 0.41.
The running total for the room: GE 0.12 naive, 0.11 with the rows, 0.05 with GOJ.
The model's weekly wild q runs 0.29 to 0.54 (detection.zip).
Likelihood: the code box shows the conditioning step, written with 1:5 to match this slide's five detectable cells. In fit_ge_rear_daynight.R the same lines run over 1:11 (the day/night cells, slide 22), followed by n[...,1:11] ~ dmulti(pi_obs[...,1:11], N_seen[...]): the detected fish, N_seen, are a multinomial over the detectable cells. p_seen is the probability of being detected anywhere; dividing by it makes the detectable cells sum to 1, so never-detected fish never enter the likelihood.
It needs GRS-read and GRS-missed nonguided fish to be recovered at GOJ (survive and be detected) at the same rate.
This is a multistate model (BPA Ch. 9): the route at LGR is the hidden state, and the detections are what we observe.
Tree: five cells plus the never-detected leaf, MY2025 wild counts. The thin c4 and c5 paths are the fish that identify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means surviving to GOJ and being detected there; the data can't separate the two. Recovery differs by route: logit φB = logit φS - δ.
Transport: guided fish loaded on barges never reach GOJ. Sixth cell, c6, probability ψ x τ.
Find transported fish by the GRJ raceway barge-load antennas (61/62), not the LGRRBR release flag. The flag missed 1,738 barged fish, 156 of them wild, and that suppressed φB by about a third.
If anyone asks what logit means here: slide 16 explains it. δ is the route gap on the logit scale.
Tree: purple transport branch off GRJ, c1 now 320 without the 156 barged fish, and GOJ recovery labeled φB for bypassed fish and φS for spilled fish.
Code panel: the phi_S, phi_B, and trans ~ dbeta(1, 1) lines are exact from fit_ge_rear_daynight.R (consistent structure). phi_S has its own logit regression on Little Goose spill in the file, left out here. The three cell lines are simplified to this slide's six cells: in the file they use psi_day times (1 - a) for day fish, transport is cell 5 (10 at night), and the night versions use psi_night and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 tagged and released inside the LGR facility (LGRRBR, LGRRRR, LGRTAL) are in the data only because they were already guided. Most land in c6.
MY2025: 3,689 of 8,219 wild histories (45%). Dropping them moved season wild GE from 0.186 to 0.048.
By year (share dropped; wild GE before, after): 2021 24%, 0.128, 0.037; 2022 50%, 0.256, 0.151; 2023 59%, 0.272, 0.224; 2024 46%, 0.230, 0.044; 2025 45%, 0.186, 0.048.
Closed-form season GE, not model output.
Same lesson as the screw trap: marks have to go on before the process you're estimating, or they aren't a sample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MY2025: 77,581 hatchery histories vs 4,491 wild, about 17 to 1 (six_cell_counts.csv).
Wild weeks are thin. Weeks are grouped into strata until each holds more than 10 fish informing detection (c4 + c5) and more than 10 informing recovery (c3 + c4). MY2025 wild: 9 strata, with weeks 22 to 26 pooled.
Hatchery fish pass the same dam, under the same spill, in the same weeks. Can wild borrow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by rear types: stratum averages, spill and outflow slopes, how much weeks wiggle.
Separate: a wild or hatchery offset, plus each rear-week's own value.
Offsets are fixed effects, centered to sum to zero. With only two rear types there's too little to estimate among-rear variance (BPA section 4.1.4: factors with fewer than about 5 to 10 levels are rarely treated as random).
Check that sharing is reasonable: weekly wild vs hatchery GE correlation is r = 0.81 to 0.96 across MY2021 to 2025 once the LGR-tagged fish are dropped (0.40 to 0.71 with them).
Rule we hold to: wild is the target, so no setting gets tuned to fit hatchery fish better at wild's expense.
Related approach for mixed-origin fish at LGR: Hance et al. (2024), fall Chinook.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BPA Chapter 3 frames every GLM in three parts (3.2.3): a random part (the noise, a statistical distribution), a link function, and a systematic part (the signal, a linear predictor). For GE: each tagged fish is a Bernoulli trial, guided or not with probability ψ (BPA 3.5: a binomial with N = 1 is a Bernoulli); the link is the logit; the linear predictor is the next slide's regression.
Why a link at all: adding binomial noise straight onto a linear predictor gives inadmissible values (BPA 3.2.3). The logit "maps the probability scale (i.e., the range from 0 to 1) onto the entire real line ... and ensures that a linear model does not result in probabilities outside of that admissible range, that is, below 0 or above 1" (BPA 3.5).
"The rest of the model (the linear predictor ηi) is up to your data, your questions, and your imagination" (BPA 3.5).
A linear model "is linear in the parameters and does not need to represent a straight line when plotted; most often it does not" (BPA 3.2.2). The S-curve is our linear model seen on the probability scale. Back-transform: ψ = 1 / (1 + e^(-η)).
Adding on the logit scale multiplies the odds: +1 multiplies the odds by e, about 2.7. MY2025 wild, closed-form season ratios: day GE 0.010 is logit -4.6; night GE 0.261 is logit -1.04. The night shift of about +3.55 multiplies the odds of being guided about 35 times. The same +3.55 from GE 0.50 lands at 0.97, never past 1.
Coupled GLMs: "Many of the most exciting ecological models for inference about populations can be viewed simply as a sequence of coupled GLMs (Royle and Dorazio, 2008)" (BPA 3.2.3). In smoltEASE's day/night model, guidance ψ, GRS detection p, and Little Goose recovery φS are each logit-linear with their own spill covariate, and φB is φS shifted by δ on the logit scale. Transport τ is the exception: a flat Beta(1, 1) prior on the probability scale.
Practical: in R, qlogis() is the logit and plogis() maps back (BPA 3.5 simulates with plogis); in JAGS, logit() and ilogit().
Say: the next slide's regression is written on this scale. Every effect in it, rear offsets, spill, flow, and later the night shift, is a shift on the logit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logit ψ[r,s] = μ_strat[g(s)] + rear_r + β spill + β_flow outflow + ε, with β ≤ 0. Slide 21 shows that in the model this is day GE, with night as a shift on top.
Season average, then strata, then weeks. A week with many fish is set by its own fish; a thin week gets pulled toward its stratum. Circle sizes in the diagram are illustrative.
BPA tie-in: 7.4 (time variation, random time effects) and 7.6 (time and group effects).
Code panel: lines from smoltEASE fit_ge_rear_daynight.R, structure = "consistent", day_ge = "rear", trimmed to the psi regression. The # comments are added for teaching. The rear_psi line sits inside a loop over r in the file. The last loop line reads psi[r,s] &lt;- ilogit(logit_psi[r,s]) as in fit_ge_rear_model2.R; in the day/night model the same line is psi_day[r,s], the week's daytime GE, and the week's overall GE is the blend psi[r,s] = (1 - a) psi_day + a psi_night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MY2025 wild steelhead, closed-form season ratios: day GE about 0.010, night GE about 0.261, night share of arrivals about 0.161. Not model estimates.
Figure: estimated GE by half hour, MY2025 steelhead, wild and hatchery, night shaded; same calculation as the diel passage dashboard.
Independent support: acoustic telemetry 2008 to 2018 found steelhead powerhouse passage 1.6 to 2.0 times higher at night at LGR, Little Goose, and Lower Monumental (Harnish et al. 2023). Powerhouse includes turbines, so it isn't GE, but it points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Toy numbers, labeled as such.
Pooled GE = (1 - a) GE_day + a GE_night, with a the night share. It equals guided fish over all fish: in week A, 3.6 guided by day plus 3.0 at night is 6.6 of every 100.
From week A to week B, day GE falls and night GE falls, yet pooled GE rises, because more fish pass at night in week B. That's Simpson's paradox.
A pooled GE regressed on spill would say more spill raised GE, the opposite of what happened by day and by night.
Even with no reversal, pooled GE moves whenever night share moves, between rears, weeks, or days, while day and night GE stay put.
So the expansion needs the night share of the fish being expanded: each day's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"Remember slide 15: wild borrows from hatchery. Here's what happens if that borrowing ignores timing."
Setup: 2,000 simulated seasons built on MY2025 steelhead weeks 15 to 22. Wild and hatchery share the same true day GE, night GE, GRS detection, and Little Goose recovery. Only their night shares differ, as in the real data. Wild tag numbers match the real, thin wild weeks, and wild borrows its GE from hatchery.
Borrow hatchery's pooled GE: the season's wild total is off by a median +33% (90% of seasons +26% to +43%).
Borrow hatchery's day and night GE, blended with wild's own night share: median +1% (-7% to +11%).
The pooled misses are biggest in weeks 16 and 18, where wild fish pass at night about twice as often as hatchery fish (17% vs 9%, 19% vs 9%). In week 21, where night shares match (12% vs 13%), pooled does fine.
Say: splitting separates guidance from timing. That also shows the bypass works at night, cleans up the spill effect, and lets daily GE follow daily timing. Borrowing from hatchery is the one we can put a number on.
For Q&amp;A: wild tags alone are nearly unbiased (median +2%) but wide (-10% to +22%). Borrowing with the split narrows that range by about 45% without adding bias. Script: day_night_split_sim.R.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17 regression now applies to day GE: logit ψ_day[r,s] = μ_strat[g(s)] + rear_r + β spill + β_flow outflow + ε.
Night is a shift on top: logit ψ_night = logit ψ_day + night shift, and weekly GE is the blend ψ = (1 - a) ψ_day + a ψ_night.
Cells with an LGR detection have a passage time, so c1, c2, c3, c4, and c6 each split into day and night. A c5 fish was never seen at LGR, so nobody knows when it passed; it stays pooled. That's 11 cells.
Say (not on the slide): untestable assumption, GRS detection is the same day and night.
Likelihood panel: the 11 pi_raw lines, p_seen, and pi_obs are from fit_ge_rear_daynight.R (consistent structure); the file adds a tiny eps to each cell for numerical safety, left out here. The dmulti line is simplified from n[lik_r[j],lik_s[j],1:11] ~ dmulti(pi_obs[...], N_seen[...]), which loops only over rear-weeks with at least one detected fish.
Say: dmulti is rolling an 11-sided die. Each detected fish is one roll; pi_obs is the chance of each face, and N_seen is how many rolls. The observed counts n are how many times each face came up.
On the assumption: the code has p_night, but its offset (p_night_offset) defaults to 0, so night GRS detection equals day detection unless set otherwise; it's there for sensitivity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tree: arrive day or night, then guided or not; guided fish are transported (c6) or returned and seen or not at GOJ (c2, c1); nonguided fish are read at GRS or missed, then seen or not at GOJ (c4, c3, c5, never detected).
Line width = share of the 10,189 tagged wild fish estimated to pass LGR in weeks 13 to 26, never-detected included. Rebuilding the counts from the PTAGIS file gives the same 10,189 as the artifact.
Both c5 paths merge into one pooled leaf. The grey leaf never reaches the data, which is why the model divides by the chance of being detected at all.
Stages 1 to 3 (slides 8, 11, 12) use the same layout and colors. Keep the live artifact open for Q&amp;A: https://claude.ai/artifact/QQoWNo76jzNZSWaqbb7ENK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histories, then the GE model in JAGS, then daily wild GE per posterior draw, then SCRAPI2.
Three uncertainty sources carried through: trap-sample bootstrap, GE posterior draws, genetic stock posterior draws (smoltEASE README).
Weekly fit to daily GE in one line each: passage-weighted spill and flow, spill decayed over the previous 7 days (0.5), each day's own night share pulled toward the week's with k = 25, and calibration that keeps the weekly day and night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equally likely GE draws, 0.04 and 0.08. 1/E[ψ] = 1/0.06 = 16.7, but E[1/ψ] = (25 + 12.5)/2 = 18.75.
Early SCRAPI2 used the first, and point estimates fell below their own bootstrap distribution. It has to be the second, and the gap grows as GE heads toward zero.
The fix (smoltEASE, September 2026): every bootstrap replicate carries its own GE draw, and the estimate is the mean of the replicates, so E[1/ψ] is built in.
What's still open: when GE is near zero in a high-volume week, the 1/GE tail is real. SCRAPI2 flags these weeks, and the results get a thorough review before estimates are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Kéry and Schaub (2012) is a primer for any ecologist fitting Bayesian models, and simulated data run through the whole book. Their reason (Section 1.5): "Truth is known, so we know what to expect from the analysis." Simulate from known truth, fit, compare.
250 simulated seasons: 50 per year, MY2021 to 2025, each drawing its own true parameters around that year's real fit (v13 recovery simulation, rear model).
The figure: for each wild parameter and year, the share of weekly 95% intervals that covered the true value. Every wild parameter, every year, is at or above 92%; weekly GE ψ is 94 to 95% every year.
Weekly wild GE accuracy: mean absolute error 0.014 to 0.029, mean error 0.001 to 0.009 (essentially unbiased).
Honest line: day and night GE run slightly under nominal (as low as 92.3% day in 2023, 92.2% night in 2024). Each dot is about 700 weekly intervals, so binomial noise alone is about plus or minus 0.8 points; weekly intervals within a seed aren't independent, so that's optimistic. Their intervals may run slightly narrow; with weeks correlated within a season, simulation noise can't be ruled out.
Day and night GE matter most here: they're what gets passed to the daily GE draws (each day's own night share), and weekly ψ is their blend.
What this test can't see: the simulated truth has daily variation from spill and flow, but not the unexplained day-to-day noise in the real data.
For Q&amp;A, the SCRAPI2 abundance recovery (moved off the slide): truth there is SCRAPI2 run at the true GE. Wild total mean error +0.4% (SE 0.5); half the seasons within 4.4%; 90% of seasons between -12% and +14%. 90% intervals covered in 236 of 250 seasons. 247 of 250 fits passed R-hat &lt; 1.01 and bulk ESS &gt; 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JAGS does the heavy lifting: free, open-source Bayesian MCMC. You write the model, and JAGS samples the posterior.
Hierarchical models connect observations to the answer: wild borrows from hatchery through shared strata, slopes, and week-level variation, and the posterior draws carry GE uncertainty all the way to the abundance estimate (slides 15, 17, and 23).
The logit link fits naturally with probability models: rear offsets, the spill and flow slopes, and the night shift all add on the logit scale, and GE stays between 0 and 1 (slide 16).
Know what your marked fish are: tags applied after the decision, and incomplete transport flags, both moved GE a lot.
Validate against simulated truth, not against another model.
For Q&amp;A (cut from the slide): identifiability lives in one cell. p rests on c5, and under high spill a fish missed at GRS likely spills again at Little Goose and never shows at GOJ, so c5 shrinks. Check with prior-posterior overlap and simulation (BPA 7.9). A random walk on logit GE wasn't identifiable with the nested structure (the intercept and the walk's first term were collinear and floated freely), so we kept iid weekly effects with nested shrinkage.
If asked how we know p is identified: BPA 7.9 separates intrinsic nonidentifiability ("a feature of a model") from extrinsic ("a feature of a data set"), and says the extrinsic kind "is best studied using simulation." In a Bayesian fit an unidentified parameter still gets a posterior; it just mirrors the prior, so check prior-posterior overlap (Gimenez et al. 2009b). Thin c5 under high spill is the extrinsic kind, and the recovery simulations on slide 25 are the check.
BPA 7.9 also notes that when year effects are random instead of fixed, "the problem of nonidentifiability disappears" because the full data set informs the poorly identified terms. That's part of the case for hierarchical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read more in Kéry and Schaub (2012):
Ch. 3: generalized linear models; 3.2.3 on link functions and 3.5 on the binomial GLM with the logit link.
Ch. 4.1.4: fixed vs random with few groups (rear offsets).
Ch. 5: state-space models (what IDFG now uses at screw traps).
Ch. 6: closed-population capture-recapture (Lincoln-Petersen's home, and the GRS row method).
Ch. 7: CJS, especially 7.4 and 7.6 (time and group effects) and 7.9 (identifiability).
Ch. 9: multistate models (the LGR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before presenting: confirm the thanks list (Tim Copeland, Jonathan Ebel, Luciano Chiaramonte, others). VERIFY: photo credit for the steelhead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30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05840"/>
            <a:ext cx="576072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1672" cy="65836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3.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_photo" descr="/home/claude/deck/assets/tag_field_dark.jpg">    </p:cNvPr>
          <p:cNvPicPr>
            <a:picLocks noChangeAspect="1"/>
          </p:cNvPicPr>
          <p:nvPr/>
        </p:nvPicPr>
        <p:blipFill>
          <a:blip r:embed="rId1"/>
          <a:stretch>
            <a:fillRect/>
          </a:stretch>
        </p:blipFill>
        <p:spPr>
          <a:xfrm>
            <a:off x="0" y="-914400"/>
            <a:ext cx="12191695" cy="9144000"/>
          </a:xfrm>
          <a:prstGeom prst="rect">
            <a:avLst/>
          </a:prstGeom>
        </p:spPr>
      </p:pic>
      <p:sp>
        <p:nvSpPr>
          <p:cNvPr id="3" name="Text 0"/>
          <p:cNvSpPr/>
          <p:nvPr>
            <p:ph idx="100" type="title" hasCustomPrompt="1"/>
          </p:nvPr>
        </p:nvSpPr>
        <p:spPr>
          <a:xfrm>
            <a:off x="640080" y="1005840"/>
            <a:ext cx="5760720" cy="1920240"/>
          </a:xfrm>
          <a:prstGeom prst="rect">
            <a:avLst/>
          </a:prstGeom>
          <a:noFill/>
          <a:ln/>
        </p:spPr>
        <p:txBody>
          <a:bodyPr wrap="square" lIns="0" tIns="0" rIns="0" bIns="0" rtlCol="0" anchor="b"/>
          <a:lstStyle/>
          <a:p>
            <a:pPr algn="l" indent="0" marL="0">
              <a:buNone/>
            </a:pPr>
            <a:r>
              <a:rPr lang="en-US" sz="4400" b="1" dirty="0">
                <a:solidFill>
                  <a:schemeClr val="bg1"/>
                </a:solidFill>
              </a:rPr>
              <a:t>How Many Fish Are There?</a:t>
            </a:r>
            <a:endParaRPr lang="en-US" sz="4400" dirty="0"/>
          </a:p>
        </p:txBody>
      </p:sp>
      <p:sp>
        <p:nvSpPr>
          <p:cNvPr id="4" name="Text 1"/>
          <p:cNvSpPr txBox="1"/>
          <p:nvPr/>
        </p:nvSpPr>
        <p:spPr>
          <a:xfrm>
            <a:off x="640080" y="3063240"/>
            <a:ext cx="6858000" cy="457200"/>
          </a:xfrm>
          <a:prstGeom prst="rect">
            <a:avLst/>
          </a:prstGeom>
          <a:noFill/>
          <a:ln/>
        </p:spPr>
        <p:txBody>
          <a:bodyPr wrap="square" lIns="0" tIns="0" rIns="0" bIns="0" rtlCol="0" anchor="t"/>
          <a:lstStyle/>
          <a:p>
            <a:pPr algn="l" indent="0" marL="0">
              <a:buNone/>
            </a:pPr>
            <a:r>
              <a:rPr lang="en-US" sz="2000" dirty="0">
                <a:solidFill>
                  <a:srgbClr val="CFE0E4"/>
                </a:solidFill>
              </a:rPr>
              <a:t>IDFG mark-recapture from screw traps to Lower Granite Dam</a:t>
            </a:r>
            <a:endParaRPr lang="en-US" sz="2000" dirty="0"/>
          </a:p>
        </p:txBody>
      </p:sp>
      <p:pic>
        <p:nvPicPr>
          <p:cNvPr id="5" name="idfg_logo" descr="/home/claude/deck/assets/idfg_logo.png">    </p:cNvPr>
          <p:cNvPicPr>
            <a:picLocks noChangeAspect="1"/>
          </p:cNvPicPr>
          <p:nvPr/>
        </p:nvPicPr>
        <p:blipFill>
          <a:blip r:embed="rId2"/>
          <a:stretch>
            <a:fillRect/>
          </a:stretch>
        </p:blipFill>
        <p:spPr>
          <a:xfrm>
            <a:off x="640080" y="3794760"/>
            <a:ext cx="768995" cy="868680"/>
          </a:xfrm>
          <a:prstGeom prst="rect">
            <a:avLst/>
          </a:prstGeom>
        </p:spPr>
      </p:pic>
      <p:sp>
        <p:nvSpPr>
          <p:cNvPr id="6" name="Text 2"/>
          <p:cNvSpPr txBox="1"/>
          <p:nvPr/>
        </p:nvSpPr>
        <p:spPr>
          <a:xfrm>
            <a:off x="1600200" y="3794760"/>
            <a:ext cx="5943600" cy="868680"/>
          </a:xfrm>
          <a:prstGeom prst="rect">
            <a:avLst/>
          </a:prstGeom>
          <a:noFill/>
          <a:ln/>
        </p:spPr>
        <p:txBody>
          <a:bodyPr wrap="square" lIns="0" tIns="0" rIns="0" bIns="0" rtlCol="0" anchor="ctr"/>
          <a:lstStyle/>
          <a:p>
            <a:pPr algn="l" indent="0" marL="0">
              <a:buNone/>
            </a:pPr>
            <a:r>
              <a:rPr lang="en-US" sz="1600" b="1" dirty="0">
                <a:solidFill>
                  <a:schemeClr val="bg1"/>
                </a:solidFill>
              </a:rPr>
              <a:t>Dave Smith</a:t>
            </a:r>
            <a:endParaRPr lang="en-US" sz="1500" dirty="0"/>
          </a:p>
          <a:p>
            <a:pPr algn="l" indent="0" marL="0">
              <a:buNone/>
            </a:pPr>
            <a:r>
              <a:rPr lang="en-US" sz="1300" dirty="0">
                <a:solidFill>
                  <a:srgbClr val="CFE0E4"/>
                </a:solidFill>
              </a:rPr>
              <a:t>Idaho Department of Fish and Game, Nampa Research</a:t>
            </a:r>
            <a:endParaRPr lang="en-US" sz="1500" dirty="0"/>
          </a:p>
        </p:txBody>
      </p:sp>
      <p:sp>
        <p:nvSpPr>
          <p:cNvPr id="7" name="Shape 3"/>
          <p:cNvSpPr/>
          <p:nvPr/>
        </p:nvSpPr>
        <p:spPr>
          <a:xfrm>
            <a:off x="822960" y="5532120"/>
            <a:ext cx="10515600" cy="0"/>
          </a:xfrm>
          <a:prstGeom prst="line">
            <a:avLst/>
          </a:prstGeom>
          <a:noFill/>
          <a:ln w="31750">
            <a:solidFill>
              <a:srgbClr val="7FA3AD"/>
            </a:solidFill>
            <a:prstDash val="dash"/>
            <a:tailEnd type="triangle"/>
          </a:ln>
        </p:spPr>
      </p:sp>
      <p:sp>
        <p:nvSpPr>
          <p:cNvPr id="8" name="Shape 4"/>
          <p:cNvSpPr/>
          <p:nvPr/>
        </p:nvSpPr>
        <p:spPr>
          <a:xfrm>
            <a:off x="841248" y="5413248"/>
            <a:ext cx="237744" cy="237744"/>
          </a:xfrm>
          <a:prstGeom prst="ellipse">
            <a:avLst/>
          </a:prstGeom>
          <a:solidFill>
            <a:srgbClr val="FFFFFF"/>
          </a:solidFill>
          <a:ln w="25400">
            <a:solidFill>
              <a:srgbClr val="12303C"/>
            </a:solidFill>
            <a:prstDash val="solid"/>
          </a:ln>
        </p:spPr>
      </p:sp>
      <p:sp>
        <p:nvSpPr>
          <p:cNvPr id="9" name="Text 5"/>
          <p:cNvSpPr txBox="1"/>
          <p:nvPr/>
        </p:nvSpPr>
        <p:spPr>
          <a:xfrm>
            <a:off x="45720" y="5733288"/>
            <a:ext cx="1828800" cy="548640"/>
          </a:xfrm>
          <a:prstGeom prst="rect">
            <a:avLst/>
          </a:prstGeom>
          <a:noFill/>
          <a:ln/>
        </p:spPr>
        <p:txBody>
          <a:bodyPr wrap="square" lIns="0" tIns="0" rIns="0" bIns="0" rtlCol="0" anchor="t"/>
          <a:lstStyle/>
          <a:p>
            <a:pPr algn="ctr" indent="0" marL="0">
              <a:buNone/>
            </a:pPr>
            <a:r>
              <a:rPr lang="en-US" sz="1250" b="1" dirty="0">
                <a:solidFill>
                  <a:schemeClr val="bg1"/>
                </a:solidFill>
              </a:rPr>
              <a:t>PIT tagged</a:t>
            </a:r>
            <a:endParaRPr lang="en-US" sz="1250" dirty="0"/>
          </a:p>
          <a:p>
            <a:pPr algn="ctr" indent="0" marL="0">
              <a:buNone/>
            </a:pPr>
            <a:r>
              <a:rPr lang="en-US" sz="1100" dirty="0">
                <a:solidFill>
                  <a:srgbClr val="9FC3CA"/>
                </a:solidFill>
              </a:rPr>
              <a:t>upstream</a:t>
            </a:r>
            <a:endParaRPr lang="en-US" sz="1250" dirty="0"/>
          </a:p>
        </p:txBody>
      </p:sp>
      <p:sp>
        <p:nvSpPr>
          <p:cNvPr id="10" name="Shape 6"/>
          <p:cNvSpPr/>
          <p:nvPr/>
        </p:nvSpPr>
        <p:spPr>
          <a:xfrm>
            <a:off x="4163568" y="5413248"/>
            <a:ext cx="237744" cy="237744"/>
          </a:xfrm>
          <a:prstGeom prst="ellipse">
            <a:avLst/>
          </a:prstGeom>
          <a:solidFill>
            <a:srgbClr val="A1A7AD"/>
          </a:solidFill>
          <a:ln w="25400">
            <a:solidFill>
              <a:srgbClr val="12303C"/>
            </a:solidFill>
            <a:prstDash val="solid"/>
          </a:ln>
        </p:spPr>
      </p:sp>
      <p:sp>
        <p:nvSpPr>
          <p:cNvPr id="11" name="Text 7"/>
          <p:cNvSpPr txBox="1"/>
          <p:nvPr/>
        </p:nvSpPr>
        <p:spPr>
          <a:xfrm>
            <a:off x="3368040" y="5733288"/>
            <a:ext cx="1828800" cy="548640"/>
          </a:xfrm>
          <a:prstGeom prst="rect">
            <a:avLst/>
          </a:prstGeom>
          <a:noFill/>
          <a:ln/>
        </p:spPr>
        <p:txBody>
          <a:bodyPr wrap="square" lIns="0" tIns="0" rIns="0" bIns="0" rtlCol="0" anchor="t"/>
          <a:lstStyle/>
          <a:p>
            <a:pPr algn="ctr" indent="0" marL="0">
              <a:buNone/>
            </a:pPr>
            <a:r>
              <a:rPr lang="en-US" sz="1250" b="1" dirty="0">
                <a:solidFill>
                  <a:schemeClr val="bg1"/>
                </a:solidFill>
              </a:rPr>
              <a:t>Screw trap</a:t>
            </a:r>
            <a:endParaRPr lang="en-US" sz="1250" dirty="0"/>
          </a:p>
          <a:p>
            <a:pPr algn="ctr" indent="0" marL="0">
              <a:buNone/>
            </a:pPr>
            <a:r>
              <a:rPr lang="en-US" sz="1100" dirty="0">
                <a:solidFill>
                  <a:srgbClr val="9FC3CA"/>
                </a:solidFill>
              </a:rPr>
              <a:t>recaptures</a:t>
            </a:r>
            <a:endParaRPr lang="en-US" sz="1250" dirty="0"/>
          </a:p>
        </p:txBody>
      </p:sp>
      <p:sp>
        <p:nvSpPr>
          <p:cNvPr id="12" name="Shape 8"/>
          <p:cNvSpPr/>
          <p:nvPr/>
        </p:nvSpPr>
        <p:spPr>
          <a:xfrm>
            <a:off x="7485888" y="5413248"/>
            <a:ext cx="237744" cy="237744"/>
          </a:xfrm>
          <a:prstGeom prst="ellipse">
            <a:avLst/>
          </a:prstGeom>
          <a:solidFill>
            <a:srgbClr val="2A78D6"/>
          </a:solidFill>
          <a:ln w="25400">
            <a:solidFill>
              <a:srgbClr val="12303C"/>
            </a:solidFill>
            <a:prstDash val="solid"/>
          </a:ln>
        </p:spPr>
      </p:sp>
      <p:sp>
        <p:nvSpPr>
          <p:cNvPr id="13" name="Text 9"/>
          <p:cNvSpPr txBox="1"/>
          <p:nvPr/>
        </p:nvSpPr>
        <p:spPr>
          <a:xfrm>
            <a:off x="6690360" y="5733288"/>
            <a:ext cx="1828800" cy="548640"/>
          </a:xfrm>
          <a:prstGeom prst="rect">
            <a:avLst/>
          </a:prstGeom>
          <a:noFill/>
          <a:ln/>
        </p:spPr>
        <p:txBody>
          <a:bodyPr wrap="square" lIns="0" tIns="0" rIns="0" bIns="0" rtlCol="0" anchor="t"/>
          <a:lstStyle/>
          <a:p>
            <a:pPr algn="ctr" indent="0" marL="0">
              <a:buNone/>
            </a:pPr>
            <a:r>
              <a:rPr lang="en-US" sz="1250" b="1" dirty="0">
                <a:solidFill>
                  <a:schemeClr val="bg1"/>
                </a:solidFill>
              </a:rPr>
              <a:t>Lower Granite</a:t>
            </a:r>
            <a:endParaRPr lang="en-US" sz="1250" dirty="0"/>
          </a:p>
          <a:p>
            <a:pPr algn="ctr" indent="0" marL="0">
              <a:buNone/>
            </a:pPr>
            <a:r>
              <a:rPr lang="en-US" sz="1100" dirty="0">
                <a:solidFill>
                  <a:srgbClr val="9FC3CA"/>
                </a:solidFill>
              </a:rPr>
              <a:t>GRJ and GRS</a:t>
            </a:r>
            <a:endParaRPr lang="en-US" sz="1250" dirty="0"/>
          </a:p>
        </p:txBody>
      </p:sp>
      <p:sp>
        <p:nvSpPr>
          <p:cNvPr id="14" name="Shape 10"/>
          <p:cNvSpPr/>
          <p:nvPr/>
        </p:nvSpPr>
        <p:spPr>
          <a:xfrm>
            <a:off x="10808208" y="5413248"/>
            <a:ext cx="237744" cy="237744"/>
          </a:xfrm>
          <a:prstGeom prst="ellipse">
            <a:avLst/>
          </a:prstGeom>
          <a:solidFill>
            <a:srgbClr val="CC4F3A"/>
          </a:solidFill>
          <a:ln w="25400">
            <a:solidFill>
              <a:srgbClr val="12303C"/>
            </a:solidFill>
            <a:prstDash val="solid"/>
          </a:ln>
        </p:spPr>
      </p:sp>
      <p:sp>
        <p:nvSpPr>
          <p:cNvPr id="15" name="Text 11"/>
          <p:cNvSpPr txBox="1"/>
          <p:nvPr/>
        </p:nvSpPr>
        <p:spPr>
          <a:xfrm>
            <a:off x="10012680" y="5733288"/>
            <a:ext cx="1828800" cy="548640"/>
          </a:xfrm>
          <a:prstGeom prst="rect">
            <a:avLst/>
          </a:prstGeom>
          <a:noFill/>
          <a:ln/>
        </p:spPr>
        <p:txBody>
          <a:bodyPr wrap="square" lIns="0" tIns="0" rIns="0" bIns="0" rtlCol="0" anchor="t"/>
          <a:lstStyle/>
          <a:p>
            <a:pPr algn="ctr" indent="0" marL="0">
              <a:buNone/>
            </a:pPr>
            <a:r>
              <a:rPr lang="en-US" sz="1250" b="1" dirty="0">
                <a:solidFill>
                  <a:schemeClr val="bg1"/>
                </a:solidFill>
              </a:rPr>
              <a:t>Little Goose</a:t>
            </a:r>
            <a:endParaRPr lang="en-US" sz="1250" dirty="0"/>
          </a:p>
          <a:p>
            <a:pPr algn="ctr" indent="0" marL="0">
              <a:buNone/>
            </a:pPr>
            <a:r>
              <a:rPr lang="en-US" sz="1100" dirty="0">
                <a:solidFill>
                  <a:srgbClr val="9FC3CA"/>
                </a:solidFill>
              </a:rPr>
              <a:t>GOJ</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THE PROBLEM</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System Changed</a:t>
            </a:r>
            <a:endParaRPr lang="en-US" sz="3200" dirty="0"/>
          </a:p>
        </p:txBody>
      </p:sp>
      <p:pic>
        <p:nvPicPr>
          <p:cNvPr id="5" name="lgr_aprmay_spill_1990_2026" descr="/home/claude/deck/assets/lgr_aprmay_spill_1990_2026.png">    </p:cNvPr>
          <p:cNvPicPr>
            <a:picLocks noChangeAspect="1"/>
          </p:cNvPicPr>
          <p:nvPr/>
        </p:nvPicPr>
        <p:blipFill>
          <a:blip r:embed="rId1"/>
          <a:stretch>
            <a:fillRect/>
          </a:stretch>
        </p:blipFill>
        <p:spPr>
          <a:xfrm>
            <a:off x="548640" y="1508760"/>
            <a:ext cx="7269480" cy="3295908"/>
          </a:xfrm>
          <a:prstGeom prst="rect">
            <a:avLst/>
          </a:prstGeom>
        </p:spPr>
      </p:pic>
      <p:sp>
        <p:nvSpPr>
          <p:cNvPr id="6" name="Text 2"/>
          <p:cNvSpPr txBox="1"/>
          <p:nvPr/>
        </p:nvSpPr>
        <p:spPr>
          <a:xfrm>
            <a:off x="548640" y="4864608"/>
            <a:ext cx="7269480" cy="274320"/>
          </a:xfrm>
          <a:prstGeom prst="rect">
            <a:avLst/>
          </a:prstGeom>
          <a:noFill/>
          <a:ln/>
        </p:spPr>
        <p:txBody>
          <a:bodyPr wrap="square" lIns="0" tIns="0" rIns="0" bIns="0" rtlCol="0" anchor="t"/>
          <a:lstStyle/>
          <a:p>
            <a:pPr algn="l" indent="0" marL="0">
              <a:buNone/>
            </a:pPr>
            <a:r>
              <a:rPr lang="en-US" sz="1100" dirty="0">
                <a:solidFill>
                  <a:srgbClr val="5B6B73"/>
                </a:solidFill>
              </a:rPr>
              <a:t>April 1 to May 31 each year. Dot: mean daily share of flow spilled. Bar: 95% CI of the mean (61 days).</a:t>
            </a:r>
            <a:endParaRPr lang="en-US" sz="1100" dirty="0"/>
          </a:p>
        </p:txBody>
      </p:sp>
      <p:sp>
        <p:nvSpPr>
          <p:cNvPr id="7" name="Shape 3"/>
          <p:cNvSpPr/>
          <p:nvPr/>
        </p:nvSpPr>
        <p:spPr>
          <a:xfrm>
            <a:off x="548640" y="5257800"/>
            <a:ext cx="7269480" cy="1097280"/>
          </a:xfrm>
          <a:prstGeom prst="roundRect">
            <a:avLst>
              <a:gd name="adj" fmla="val 6667"/>
            </a:avLst>
          </a:prstGeom>
          <a:solidFill>
            <a:schemeClr val="bg2"/>
          </a:solidFill>
          <a:ln w="9525">
            <a:solidFill>
              <a:srgbClr val="D3DEE1"/>
            </a:solidFill>
            <a:prstDash val="solid"/>
          </a:ln>
        </p:spPr>
      </p:sp>
      <p:sp>
        <p:nvSpPr>
          <p:cNvPr id="8" name="Text 4"/>
          <p:cNvSpPr txBox="1"/>
          <p:nvPr/>
        </p:nvSpPr>
        <p:spPr>
          <a:xfrm>
            <a:off x="731520" y="5349240"/>
            <a:ext cx="6903720" cy="914400"/>
          </a:xfrm>
          <a:prstGeom prst="rect">
            <a:avLst/>
          </a:prstGeom>
          <a:noFill/>
          <a:ln/>
        </p:spPr>
        <p:txBody>
          <a:bodyPr wrap="square" lIns="0" tIns="0" rIns="0" bIns="0" rtlCol="0" anchor="t"/>
          <a:lstStyle/>
          <a:p>
            <a:pPr algn="l" indent="0" marL="0">
              <a:buNone/>
            </a:pPr>
            <a:r>
              <a:rPr lang="en-US" sz="1600" b="1" dirty="0">
                <a:solidFill>
                  <a:schemeClr val="tx2"/>
                </a:solidFill>
              </a:rPr>
              <a:t>GE too high means abundance too low.</a:t>
            </a:r>
            <a:endParaRPr lang="en-US" sz="1500" dirty="0"/>
          </a:p>
          <a:p>
            <a:pPr algn="l" indent="0" marL="0">
              <a:buNone/>
            </a:pPr>
            <a:r>
              <a:rPr lang="en-US" sz="1300" i="1" dirty="0">
                <a:solidFill>
                  <a:schemeClr val="tx1"/>
                </a:solidFill>
              </a:rPr>
              <a:t>The MY2023 report: Sandford and Smith “could be substantially overestimating guidance efficiencies during higher spill, resulting in underestimations of abundance.”</a:t>
            </a:r>
            <a:endParaRPr lang="en-US" sz="1500" dirty="0"/>
          </a:p>
        </p:txBody>
      </p:sp>
      <p:sp>
        <p:nvSpPr>
          <p:cNvPr id="9" name="Shape 5"/>
          <p:cNvSpPr/>
          <p:nvPr/>
        </p:nvSpPr>
        <p:spPr>
          <a:xfrm>
            <a:off x="8183880" y="1508760"/>
            <a:ext cx="3456432" cy="1481328"/>
          </a:xfrm>
          <a:prstGeom prst="roundRect">
            <a:avLst>
              <a:gd name="adj" fmla="val 4938"/>
            </a:avLst>
          </a:prstGeom>
          <a:solidFill>
            <a:schemeClr val="bg2"/>
          </a:solidFill>
          <a:ln w="9525">
            <a:solidFill>
              <a:srgbClr val="D3DEE1"/>
            </a:solidFill>
            <a:prstDash val="solid"/>
          </a:ln>
        </p:spPr>
      </p:sp>
      <p:sp>
        <p:nvSpPr>
          <p:cNvPr id="10" name="Text 6"/>
          <p:cNvSpPr txBox="1"/>
          <p:nvPr/>
        </p:nvSpPr>
        <p:spPr>
          <a:xfrm>
            <a:off x="8366760" y="1636776"/>
            <a:ext cx="3090672" cy="566928"/>
          </a:xfrm>
          <a:prstGeom prst="rect">
            <a:avLst/>
          </a:prstGeom>
          <a:noFill/>
          <a:ln/>
        </p:spPr>
        <p:txBody>
          <a:bodyPr wrap="square" lIns="0" tIns="0" rIns="0" bIns="0" rtlCol="0" anchor="ctr"/>
          <a:lstStyle/>
          <a:p>
            <a:pPr algn="l" indent="0" marL="0">
              <a:buNone/>
            </a:pPr>
            <a:r>
              <a:rPr lang="en-US" sz="3200" b="1" dirty="0">
                <a:solidFill>
                  <a:schemeClr val="tx2"/>
                </a:solidFill>
              </a:rPr>
              <a:t>80%</a:t>
            </a:r>
            <a:endParaRPr lang="en-US" sz="3200" dirty="0"/>
          </a:p>
        </p:txBody>
      </p:sp>
      <p:sp>
        <p:nvSpPr>
          <p:cNvPr id="11" name="Text 7"/>
          <p:cNvSpPr txBox="1"/>
          <p:nvPr/>
        </p:nvSpPr>
        <p:spPr>
          <a:xfrm>
            <a:off x="8366760" y="2240280"/>
            <a:ext cx="3090672" cy="640080"/>
          </a:xfrm>
          <a:prstGeom prst="rect">
            <a:avLst/>
          </a:prstGeom>
          <a:noFill/>
          <a:ln/>
        </p:spPr>
        <p:txBody>
          <a:bodyPr wrap="square" lIns="0" tIns="0" rIns="0" bIns="0" rtlCol="0" anchor="t"/>
          <a:lstStyle/>
          <a:p>
            <a:pPr algn="l" indent="0" marL="0">
              <a:buNone/>
            </a:pPr>
            <a:r>
              <a:rPr lang="en-US" sz="1300" dirty="0">
                <a:solidFill>
                  <a:schemeClr val="tx1"/>
                </a:solidFill>
              </a:rPr>
              <a:t>mean daily share of April to May flow spilled at LGR in 2024 to 2026, up from 8 to 9% in 1993 and 1995</a:t>
            </a:r>
            <a:endParaRPr lang="en-US" sz="1300" dirty="0"/>
          </a:p>
        </p:txBody>
      </p:sp>
      <p:sp>
        <p:nvSpPr>
          <p:cNvPr id="12" name="Shape 8"/>
          <p:cNvSpPr/>
          <p:nvPr/>
        </p:nvSpPr>
        <p:spPr>
          <a:xfrm>
            <a:off x="8183880" y="3127248"/>
            <a:ext cx="3456432" cy="1481328"/>
          </a:xfrm>
          <a:prstGeom prst="roundRect">
            <a:avLst>
              <a:gd name="adj" fmla="val 4938"/>
            </a:avLst>
          </a:prstGeom>
          <a:solidFill>
            <a:schemeClr val="bg2"/>
          </a:solidFill>
          <a:ln w="9525">
            <a:solidFill>
              <a:srgbClr val="D3DEE1"/>
            </a:solidFill>
            <a:prstDash val="solid"/>
          </a:ln>
        </p:spPr>
      </p:sp>
      <p:sp>
        <p:nvSpPr>
          <p:cNvPr id="13" name="Text 9"/>
          <p:cNvSpPr txBox="1"/>
          <p:nvPr/>
        </p:nvSpPr>
        <p:spPr>
          <a:xfrm>
            <a:off x="8366760" y="3255264"/>
            <a:ext cx="3090672" cy="566928"/>
          </a:xfrm>
          <a:prstGeom prst="rect">
            <a:avLst/>
          </a:prstGeom>
          <a:noFill/>
          <a:ln/>
        </p:spPr>
        <p:txBody>
          <a:bodyPr wrap="square" lIns="0" tIns="0" rIns="0" bIns="0" rtlCol="0" anchor="ctr"/>
          <a:lstStyle/>
          <a:p>
            <a:pPr algn="l" indent="0" marL="0">
              <a:buNone/>
            </a:pPr>
            <a:r>
              <a:rPr lang="en-US" sz="3200" b="1" dirty="0">
                <a:solidFill>
                  <a:schemeClr val="tx2"/>
                </a:solidFill>
              </a:rPr>
              <a:t>70%</a:t>
            </a:r>
            <a:endParaRPr lang="en-US" sz="3200" dirty="0"/>
          </a:p>
        </p:txBody>
      </p:sp>
      <p:sp>
        <p:nvSpPr>
          <p:cNvPr id="14" name="Text 10"/>
          <p:cNvSpPr txBox="1"/>
          <p:nvPr/>
        </p:nvSpPr>
        <p:spPr>
          <a:xfrm>
            <a:off x="8366760" y="3858768"/>
            <a:ext cx="3090672" cy="640080"/>
          </a:xfrm>
          <a:prstGeom prst="rect">
            <a:avLst/>
          </a:prstGeom>
          <a:noFill/>
          <a:ln/>
        </p:spPr>
        <p:txBody>
          <a:bodyPr wrap="square" lIns="0" tIns="0" rIns="0" bIns="0" rtlCol="0" anchor="t"/>
          <a:lstStyle/>
          <a:p>
            <a:pPr algn="l" indent="0" marL="0">
              <a:buNone/>
            </a:pPr>
            <a:r>
              <a:rPr lang="en-US" sz="1300" dirty="0">
                <a:solidFill>
                  <a:schemeClr val="tx1"/>
                </a:solidFill>
              </a:rPr>
              <a:t>wild steelhead GE at LGR in low-spill 1993 and 1995, the era SCRAPI's GE comes from</a:t>
            </a:r>
            <a:endParaRPr lang="en-US" sz="1300" dirty="0"/>
          </a:p>
        </p:txBody>
      </p:sp>
      <p:sp>
        <p:nvSpPr>
          <p:cNvPr id="15" name="Shape 11"/>
          <p:cNvSpPr/>
          <p:nvPr/>
        </p:nvSpPr>
        <p:spPr>
          <a:xfrm>
            <a:off x="8183880" y="4745736"/>
            <a:ext cx="3456432" cy="1481328"/>
          </a:xfrm>
          <a:prstGeom prst="roundRect">
            <a:avLst>
              <a:gd name="adj" fmla="val 4938"/>
            </a:avLst>
          </a:prstGeom>
          <a:solidFill>
            <a:schemeClr val="bg2"/>
          </a:solidFill>
          <a:ln w="9525">
            <a:solidFill>
              <a:srgbClr val="D3DEE1"/>
            </a:solidFill>
            <a:prstDash val="solid"/>
          </a:ln>
        </p:spPr>
      </p:sp>
      <p:sp>
        <p:nvSpPr>
          <p:cNvPr id="16" name="Text 12"/>
          <p:cNvSpPr txBox="1"/>
          <p:nvPr/>
        </p:nvSpPr>
        <p:spPr>
          <a:xfrm>
            <a:off x="8366760" y="4873752"/>
            <a:ext cx="3090672" cy="566928"/>
          </a:xfrm>
          <a:prstGeom prst="rect">
            <a:avLst/>
          </a:prstGeom>
          <a:noFill/>
          <a:ln/>
        </p:spPr>
        <p:txBody>
          <a:bodyPr wrap="square" lIns="0" tIns="0" rIns="0" bIns="0" rtlCol="0" anchor="ctr"/>
          <a:lstStyle/>
          <a:p>
            <a:pPr algn="l" indent="0" marL="0">
              <a:buNone/>
            </a:pPr>
            <a:r>
              <a:rPr lang="en-US" sz="3200" b="1" dirty="0">
                <a:solidFill>
                  <a:schemeClr val="accent3"/>
                </a:solidFill>
              </a:rPr>
              <a:t>13% vs 5%</a:t>
            </a:r>
            <a:endParaRPr lang="en-US" sz="3200" dirty="0"/>
          </a:p>
        </p:txBody>
      </p:sp>
      <p:sp>
        <p:nvSpPr>
          <p:cNvPr id="17" name="Text 13"/>
          <p:cNvSpPr txBox="1"/>
          <p:nvPr/>
        </p:nvSpPr>
        <p:spPr>
          <a:xfrm>
            <a:off x="8366760" y="5477256"/>
            <a:ext cx="3090672" cy="640080"/>
          </a:xfrm>
          <a:prstGeom prst="rect">
            <a:avLst/>
          </a:prstGeom>
          <a:noFill/>
          <a:ln/>
        </p:spPr>
        <p:txBody>
          <a:bodyPr wrap="square" lIns="0" tIns="0" rIns="0" bIns="0" rtlCol="0" anchor="t"/>
          <a:lstStyle/>
          <a:p>
            <a:pPr algn="l" indent="0" marL="0">
              <a:buNone/>
            </a:pPr>
            <a:r>
              <a:rPr lang="en-US" sz="1300" dirty="0">
                <a:solidFill>
                  <a:schemeClr val="tx1"/>
                </a:solidFill>
              </a:rPr>
              <a:t>MY2025 wild steelhead, high-spill weeks: NOAA GE vs season GE from PIT counts (0.048)</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THE PROBLEM</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Why One Number Matters So Much</a:t>
            </a:r>
            <a:endParaRPr lang="en-US" sz="3200" dirty="0"/>
          </a:p>
        </p:txBody>
      </p:sp>
      <p:pic>
        <p:nvPicPr>
          <p:cNvPr id="5" name="eq_N" descr="/home/claude/deck/assets/eq_N.png">    </p:cNvPr>
          <p:cNvPicPr>
            <a:picLocks noChangeAspect="1"/>
          </p:cNvPicPr>
          <p:nvPr/>
        </p:nvPicPr>
        <p:blipFill>
          <a:blip r:embed="rId1"/>
          <a:stretch>
            <a:fillRect/>
          </a:stretch>
        </p:blipFill>
        <p:spPr>
          <a:xfrm>
            <a:off x="548640" y="1554480"/>
            <a:ext cx="1850136" cy="691896"/>
          </a:xfrm>
          <a:prstGeom prst="rect">
            <a:avLst/>
          </a:prstGeom>
        </p:spPr>
      </p:pic>
      <p:sp>
        <p:nvSpPr>
          <p:cNvPr id="6" name="Text 2"/>
          <p:cNvSpPr txBox="1"/>
          <p:nvPr/>
        </p:nvSpPr>
        <p:spPr>
          <a:xfrm>
            <a:off x="548640" y="2304288"/>
            <a:ext cx="4069080" cy="411480"/>
          </a:xfrm>
          <a:prstGeom prst="rect">
            <a:avLst/>
          </a:prstGeom>
          <a:noFill/>
          <a:ln/>
        </p:spPr>
        <p:txBody>
          <a:bodyPr wrap="square" lIns="0" tIns="0" rIns="0" bIns="0" rtlCol="0" anchor="t"/>
          <a:lstStyle/>
          <a:p>
            <a:pPr algn="l" indent="0" marL="0">
              <a:buNone/>
            </a:pPr>
            <a:r>
              <a:rPr lang="en-US" sz="1300" dirty="0">
                <a:solidFill>
                  <a:srgbClr val="5B6B73"/>
                </a:solidFill>
              </a:rPr>
              <a:t>c = trap catch, r = sample rate,</a:t>
            </a:r>
            <a:endParaRPr lang="en-US" sz="1300" dirty="0"/>
          </a:p>
          <a:p>
            <a:pPr algn="l" indent="0" marL="0">
              <a:buNone/>
            </a:pPr>
            <a:r>
              <a:rPr lang="en-US" sz="1300" dirty="0">
                <a:solidFill>
                  <a:srgbClr val="5B6B73"/>
                </a:solidFill>
              </a:rPr>
              <a:t>GE = guidance efficiency, d = day</a:t>
            </a:r>
            <a:endParaRPr lang="en-US" sz="1300" dirty="0"/>
          </a:p>
        </p:txBody>
      </p:sp>
      <p:sp>
        <p:nvSpPr>
          <p:cNvPr id="7" name="Shape 3"/>
          <p:cNvSpPr/>
          <p:nvPr/>
        </p:nvSpPr>
        <p:spPr>
          <a:xfrm>
            <a:off x="548640" y="2788920"/>
            <a:ext cx="4069080" cy="1234440"/>
          </a:xfrm>
          <a:prstGeom prst="roundRect">
            <a:avLst>
              <a:gd name="adj" fmla="val 5926"/>
            </a:avLst>
          </a:prstGeom>
          <a:solidFill>
            <a:schemeClr val="bg2"/>
          </a:solidFill>
          <a:ln w="9525">
            <a:solidFill>
              <a:srgbClr val="D3DEE1"/>
            </a:solidFill>
            <a:prstDash val="solid"/>
          </a:ln>
        </p:spPr>
      </p:sp>
      <p:sp>
        <p:nvSpPr>
          <p:cNvPr id="8" name="Text 4"/>
          <p:cNvSpPr txBox="1"/>
          <p:nvPr/>
        </p:nvSpPr>
        <p:spPr>
          <a:xfrm>
            <a:off x="731520" y="2880360"/>
            <a:ext cx="3703320" cy="1051560"/>
          </a:xfrm>
          <a:prstGeom prst="rect">
            <a:avLst/>
          </a:prstGeom>
          <a:noFill/>
          <a:ln/>
        </p:spPr>
        <p:txBody>
          <a:bodyPr wrap="square" lIns="0" tIns="0" rIns="0" bIns="0" rtlCol="0" anchor="t"/>
          <a:lstStyle/>
          <a:p>
            <a:pPr algn="l" indent="0" marL="0">
              <a:buNone/>
            </a:pPr>
            <a:r>
              <a:rPr lang="en-US" sz="2800" b="1" dirty="0">
                <a:solidFill>
                  <a:schemeClr val="tx2"/>
                </a:solidFill>
              </a:rPr>
              <a:t>4% vs 6% GE</a:t>
            </a:r>
            <a:endParaRPr lang="en-US" sz="1500" dirty="0"/>
          </a:p>
          <a:p>
            <a:pPr algn="l" indent="0" marL="0">
              <a:buNone/>
            </a:pPr>
            <a:r>
              <a:rPr lang="en-US" sz="1500" dirty="0">
                <a:solidFill>
                  <a:schemeClr val="tx1"/>
                </a:solidFill>
              </a:rPr>
              <a:t>is 25× vs 16.7× expansion: two points of GE, a 50% difference in abundance.</a:t>
            </a:r>
            <a:endParaRPr lang="en-US" sz="1500" dirty="0"/>
          </a:p>
        </p:txBody>
      </p:sp>
      <p:sp>
        <p:nvSpPr>
          <p:cNvPr id="9" name="Shape 5"/>
          <p:cNvSpPr/>
          <p:nvPr/>
        </p:nvSpPr>
        <p:spPr>
          <a:xfrm>
            <a:off x="548640" y="4160520"/>
            <a:ext cx="4069080" cy="914400"/>
          </a:xfrm>
          <a:prstGeom prst="roundRect">
            <a:avLst>
              <a:gd name="adj" fmla="val 8000"/>
            </a:avLst>
          </a:prstGeom>
          <a:solidFill>
            <a:schemeClr val="bg1"/>
          </a:solidFill>
          <a:ln w="9525">
            <a:solidFill>
              <a:srgbClr val="D3DEE1"/>
            </a:solidFill>
            <a:prstDash val="solid"/>
          </a:ln>
        </p:spPr>
      </p:sp>
      <p:sp>
        <p:nvSpPr>
          <p:cNvPr id="10" name="Text 6"/>
          <p:cNvSpPr txBox="1"/>
          <p:nvPr/>
        </p:nvSpPr>
        <p:spPr>
          <a:xfrm>
            <a:off x="731520" y="4224528"/>
            <a:ext cx="3703320" cy="786384"/>
          </a:xfrm>
          <a:prstGeom prst="rect">
            <a:avLst/>
          </a:prstGeom>
          <a:noFill/>
          <a:ln/>
        </p:spPr>
        <p:txBody>
          <a:bodyPr wrap="square" lIns="0" tIns="0" rIns="0" bIns="0" rtlCol="0" anchor="t"/>
          <a:lstStyle/>
          <a:p>
            <a:pPr algn="l" indent="0" marL="0">
              <a:buNone/>
            </a:pPr>
            <a:r>
              <a:rPr lang="en-US" sz="1400" b="1" dirty="0">
                <a:solidFill>
                  <a:schemeClr val="tx1"/>
                </a:solidFill>
              </a:rPr>
              <a:t>MY2021 wild steelhead, published 294,392</a:t>
            </a:r>
            <a:endParaRPr lang="en-US" sz="1400" dirty="0"/>
          </a:p>
          <a:p>
            <a:pPr algn="l" indent="0" marL="0">
              <a:buNone/>
            </a:pPr>
            <a:r>
              <a:rPr lang="en-US" sz="1400" dirty="0">
                <a:solidFill>
                  <a:schemeClr val="tx1"/>
                </a:solidFill>
              </a:rPr>
              <a:t>GE up 25%: about 238k</a:t>
            </a:r>
            <a:endParaRPr lang="en-US" sz="1400" dirty="0"/>
          </a:p>
          <a:p>
            <a:pPr algn="l" indent="0" marL="0">
              <a:buNone/>
            </a:pPr>
            <a:r>
              <a:rPr lang="en-US" sz="1400" dirty="0">
                <a:solidFill>
                  <a:schemeClr val="tx1"/>
                </a:solidFill>
              </a:rPr>
              <a:t>GE down 25%: about 400k</a:t>
            </a:r>
            <a:endParaRPr lang="en-US" sz="1400" dirty="0"/>
          </a:p>
        </p:txBody>
      </p:sp>
      <p:pic>
        <p:nvPicPr>
          <p:cNvPr id="11" name="inverse_ge_expansion" descr="/home/claude/deck/assets/inverse_ge_expansion.png">    </p:cNvPr>
          <p:cNvPicPr>
            <a:picLocks noChangeAspect="1"/>
          </p:cNvPicPr>
          <p:nvPr/>
        </p:nvPicPr>
        <p:blipFill>
          <a:blip r:embed="rId2"/>
          <a:stretch>
            <a:fillRect/>
          </a:stretch>
        </p:blipFill>
        <p:spPr>
          <a:xfrm>
            <a:off x="4846320" y="1508760"/>
            <a:ext cx="6793992" cy="2958906"/>
          </a:xfrm>
          <a:prstGeom prst="rect">
            <a:avLst/>
          </a:prstGeom>
        </p:spPr>
      </p:pic>
      <p:sp>
        <p:nvSpPr>
          <p:cNvPr id="12" name="Text 7"/>
          <p:cNvSpPr txBox="1"/>
          <p:nvPr/>
        </p:nvSpPr>
        <p:spPr>
          <a:xfrm>
            <a:off x="4846320" y="4540818"/>
            <a:ext cx="6793992" cy="457200"/>
          </a:xfrm>
          <a:prstGeom prst="rect">
            <a:avLst/>
          </a:prstGeom>
          <a:noFill/>
          <a:ln/>
        </p:spPr>
        <p:txBody>
          <a:bodyPr wrap="square" lIns="0" tIns="0" rIns="0" bIns="0" rtlCol="0" anchor="t"/>
          <a:lstStyle/>
          <a:p>
            <a:pPr algn="l" indent="0" marL="0">
              <a:buNone/>
            </a:pPr>
            <a:r>
              <a:rPr lang="en-US" sz="1100" dirty="0">
                <a:solidFill>
                  <a:srgbClr val="5B6B73"/>
                </a:solidFill>
              </a:rPr>
              <a:t>SCRAPI expands each guided fish by 1 / GE. Wild steelhead season GE was 3.7 to 4.8% in MY2021, 2024, and 2025.</a:t>
            </a:r>
            <a:endParaRPr lang="en-US" sz="1100" dirty="0"/>
          </a:p>
        </p:txBody>
      </p:sp>
      <p:sp>
        <p:nvSpPr>
          <p:cNvPr id="13" name="Text 8"/>
          <p:cNvSpPr/>
          <p:nvPr/>
        </p:nvSpPr>
        <p:spPr>
          <a:xfrm>
            <a:off x="548640" y="5349240"/>
            <a:ext cx="11091672" cy="822960"/>
          </a:xfrm>
          <a:prstGeom prst="roundRect">
            <a:avLst>
              <a:gd name="adj" fmla="val 8889"/>
            </a:avLst>
          </a:prstGeom>
          <a:solidFill>
            <a:schemeClr val="accent5"/>
          </a:solidFill>
          <a:ln/>
        </p:spPr>
        <p:txBody>
          <a:bodyPr wrap="square" lIns="177800" tIns="0" rIns="177800" bIns="0" rtlCol="0" anchor="ctr"/>
          <a:lstStyle/>
          <a:p>
            <a:pPr algn="l" indent="0" marL="0">
              <a:buNone/>
            </a:pPr>
            <a:r>
              <a:rPr lang="en-US" sz="1500" b="1" dirty="0">
                <a:solidFill>
                  <a:schemeClr val="bg1"/>
                </a:solidFill>
              </a:rPr>
              <a:t>How do we estimate GE better? With PIT tags.</a:t>
            </a:r>
            <a:endParaRPr lang="en-US" sz="1500" dirty="0"/>
          </a:p>
          <a:p>
            <a:pPr algn="l" indent="0" marL="0">
              <a:buNone/>
            </a:pPr>
            <a:r>
              <a:rPr lang="en-US" sz="1500" dirty="0">
                <a:solidFill>
                  <a:schemeClr val="bg1"/>
                </a:solidFill>
              </a:rPr>
              <a:t>Fish tagged upstream are detected passing LGR and again downstream. That is mark-recapture data.</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1 · STARTING WITH SCREW TRAPS</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We Control the Marks</a:t>
            </a:r>
            <a:endParaRPr lang="en-US" sz="3200" dirty="0"/>
          </a:p>
        </p:txBody>
      </p:sp>
      <p:pic>
        <p:nvPicPr>
          <p:cNvPr id="5" name="screwtrap_schematic" descr="/home/claude/deck/assets/screwtrap_schematic.png">    </p:cNvPr>
          <p:cNvPicPr>
            <a:picLocks noChangeAspect="1"/>
          </p:cNvPicPr>
          <p:nvPr/>
        </p:nvPicPr>
        <p:blipFill>
          <a:blip r:embed="rId1"/>
          <a:stretch>
            <a:fillRect/>
          </a:stretch>
        </p:blipFill>
        <p:spPr>
          <a:xfrm>
            <a:off x="548640" y="1508760"/>
            <a:ext cx="7040880" cy="3083750"/>
          </a:xfrm>
          <a:prstGeom prst="rect">
            <a:avLst/>
          </a:prstGeom>
        </p:spPr>
      </p:pic>
      <p:sp>
        <p:nvSpPr>
          <p:cNvPr id="6" name="Text 2"/>
          <p:cNvSpPr txBox="1"/>
          <p:nvPr/>
        </p:nvSpPr>
        <p:spPr>
          <a:xfrm>
            <a:off x="548640" y="4663440"/>
            <a:ext cx="7040880" cy="274320"/>
          </a:xfrm>
          <a:prstGeom prst="rect">
            <a:avLst/>
          </a:prstGeom>
          <a:noFill/>
          <a:ln/>
        </p:spPr>
        <p:txBody>
          <a:bodyPr wrap="square" lIns="0" tIns="0" rIns="0" bIns="0" rtlCol="0" anchor="t"/>
          <a:lstStyle/>
          <a:p>
            <a:pPr algn="l" indent="0" marL="0">
              <a:buNone/>
            </a:pPr>
            <a:r>
              <a:rPr lang="en-US" sz="1100" dirty="0">
                <a:solidFill>
                  <a:srgbClr val="5B6B73"/>
                </a:solidFill>
              </a:rPr>
              <a:t>Fish caught at the trap are tagged, carried upstream, and released to mix with unmarked fish.</a:t>
            </a:r>
            <a:endParaRPr lang="en-US" sz="1100" dirty="0"/>
          </a:p>
        </p:txBody>
      </p:sp>
      <p:sp>
        <p:nvSpPr>
          <p:cNvPr id="7" name="Shape 3"/>
          <p:cNvSpPr/>
          <p:nvPr/>
        </p:nvSpPr>
        <p:spPr>
          <a:xfrm>
            <a:off x="548640" y="5074920"/>
            <a:ext cx="7040880" cy="1234440"/>
          </a:xfrm>
          <a:prstGeom prst="roundRect">
            <a:avLst>
              <a:gd name="adj" fmla="val 5926"/>
            </a:avLst>
          </a:prstGeom>
          <a:solidFill>
            <a:schemeClr val="bg2"/>
          </a:solidFill>
          <a:ln w="9525">
            <a:solidFill>
              <a:srgbClr val="D3DEE1"/>
            </a:solidFill>
            <a:prstDash val="solid"/>
          </a:ln>
        </p:spPr>
      </p:sp>
      <p:sp>
        <p:nvSpPr>
          <p:cNvPr id="8" name="Text 4"/>
          <p:cNvSpPr txBox="1"/>
          <p:nvPr/>
        </p:nvSpPr>
        <p:spPr>
          <a:xfrm>
            <a:off x="731520" y="5193792"/>
            <a:ext cx="6675120" cy="1005840"/>
          </a:xfrm>
          <a:prstGeom prst="rect">
            <a:avLst/>
          </a:prstGeom>
          <a:noFill/>
          <a:ln/>
        </p:spPr>
        <p:txBody>
          <a:bodyPr wrap="square" lIns="0" tIns="0" rIns="0" bIns="0" rtlCol="0" anchor="t"/>
          <a:lstStyle/>
          <a:p>
            <a:pPr algn="l" indent="0" marL="0">
              <a:buNone/>
            </a:pPr>
            <a:r>
              <a:rPr lang="en-US" sz="1400" b="1" dirty="0">
                <a:solidFill>
                  <a:schemeClr val="tx2"/>
                </a:solidFill>
              </a:rPr>
              <a:t>IDFG now fits a daily state-space version of this. </a:t>
            </a:r>
            <a:pPr algn="l" indent="0" marL="0">
              <a:buNone/>
            </a:pPr>
            <a:r>
              <a:rPr lang="en-US" sz="1400" dirty="0">
                <a:solidFill>
                  <a:schemeClr val="tx1"/>
                </a:solidFill>
              </a:rPr>
              <a:t>It needs no hand-picked strata, still estimates through trap outages, and works where declining runs leave too few recaptures for the stratified estimator.</a:t>
            </a:r>
            <a:endParaRPr lang="en-US" sz="1400" dirty="0"/>
          </a:p>
        </p:txBody>
      </p:sp>
      <p:sp>
        <p:nvSpPr>
          <p:cNvPr id="9" name="Text 5"/>
          <p:cNvSpPr txBox="1"/>
          <p:nvPr/>
        </p:nvSpPr>
        <p:spPr>
          <a:xfrm>
            <a:off x="7863840" y="1508760"/>
            <a:ext cx="3776472" cy="274320"/>
          </a:xfrm>
          <a:prstGeom prst="rect">
            <a:avLst/>
          </a:prstGeom>
          <a:noFill/>
          <a:ln/>
        </p:spPr>
        <p:txBody>
          <a:bodyPr wrap="square" lIns="0" tIns="0" rIns="0" bIns="0" rtlCol="0" anchor="t"/>
          <a:lstStyle/>
          <a:p>
            <a:pPr algn="l" indent="0" marL="0">
              <a:buNone/>
            </a:pPr>
            <a:r>
              <a:rPr lang="en-US" sz="1300" dirty="0">
                <a:solidFill>
                  <a:srgbClr val="5B6B73"/>
                </a:solidFill>
              </a:rPr>
              <a:t>Stratified Lincoln-Petersen, Bailey's modification</a:t>
            </a:r>
            <a:endParaRPr lang="en-US" sz="1300" dirty="0"/>
          </a:p>
        </p:txBody>
      </p:sp>
      <p:pic>
        <p:nvPicPr>
          <p:cNvPr id="10" name="eq_bailey" descr="/home/claude/deck/assets/eq_bailey.png">    </p:cNvPr>
          <p:cNvPicPr>
            <a:picLocks noChangeAspect="1"/>
          </p:cNvPicPr>
          <p:nvPr/>
        </p:nvPicPr>
        <p:blipFill>
          <a:blip r:embed="rId2"/>
          <a:stretch>
            <a:fillRect/>
          </a:stretch>
        </p:blipFill>
        <p:spPr>
          <a:xfrm>
            <a:off x="7863840" y="1847088"/>
            <a:ext cx="1847088" cy="509016"/>
          </a:xfrm>
          <a:prstGeom prst="rect">
            <a:avLst/>
          </a:prstGeom>
        </p:spPr>
      </p:pic>
      <p:sp>
        <p:nvSpPr>
          <p:cNvPr id="11" name="Shape 6"/>
          <p:cNvSpPr/>
          <p:nvPr/>
        </p:nvSpPr>
        <p:spPr>
          <a:xfrm>
            <a:off x="7863840" y="2606040"/>
            <a:ext cx="3776472" cy="1234440"/>
          </a:xfrm>
          <a:prstGeom prst="roundRect">
            <a:avLst>
              <a:gd name="adj" fmla="val 5926"/>
            </a:avLst>
          </a:prstGeom>
          <a:solidFill>
            <a:schemeClr val="bg2"/>
          </a:solidFill>
          <a:ln w="9525">
            <a:solidFill>
              <a:srgbClr val="D3DEE1"/>
            </a:solidFill>
            <a:prstDash val="solid"/>
          </a:ln>
        </p:spPr>
      </p:sp>
      <p:sp>
        <p:nvSpPr>
          <p:cNvPr id="12" name="Text 7"/>
          <p:cNvSpPr txBox="1"/>
          <p:nvPr/>
        </p:nvSpPr>
        <p:spPr>
          <a:xfrm>
            <a:off x="8046720" y="2715768"/>
            <a:ext cx="3429000" cy="1051560"/>
          </a:xfrm>
          <a:prstGeom prst="rect">
            <a:avLst/>
          </a:prstGeom>
          <a:noFill/>
          <a:ln/>
        </p:spPr>
        <p:txBody>
          <a:bodyPr wrap="square" lIns="0" tIns="0" rIns="0" bIns="0" rtlCol="0" anchor="t"/>
          <a:lstStyle/>
          <a:p>
            <a:pPr algn="l" indent="0" marL="0">
              <a:buNone/>
            </a:pPr>
            <a:r>
              <a:rPr lang="en-US" sz="1100" b="1" spc="150" kern="0" dirty="0">
                <a:solidFill>
                  <a:schemeClr val="accent5"/>
                </a:solidFill>
              </a:rPr>
              <a:t>TOY NUMBERS</a:t>
            </a:r>
            <a:endParaRPr lang="en-US" sz="1500" dirty="0"/>
          </a:p>
          <a:p>
            <a:pPr algn="l" indent="0" marL="0">
              <a:buNone/>
            </a:pPr>
            <a:r>
              <a:rPr lang="en-US" sz="1400" dirty="0">
                <a:solidFill>
                  <a:schemeClr val="tx1"/>
                </a:solidFill>
              </a:rPr>
              <a:t>M = 200 marked, C = 1,000 caught, R = 20 recaptured</a:t>
            </a:r>
            <a:endParaRPr lang="en-US" sz="1500" dirty="0"/>
          </a:p>
          <a:p>
            <a:pPr algn="l" indent="0" marL="0">
              <a:buNone/>
            </a:pPr>
            <a:r>
              <a:rPr lang="en-US" sz="1400" b="1" dirty="0">
                <a:solidFill>
                  <a:schemeClr val="tx1"/>
                </a:solidFill>
              </a:rPr>
              <a:t>Estimate 9,533 (plain Petersen: 10,000)</a:t>
            </a:r>
            <a:endParaRPr lang="en-US" sz="1500" dirty="0"/>
          </a:p>
        </p:txBody>
      </p:sp>
      <p:sp>
        <p:nvSpPr>
          <p:cNvPr id="13" name="Text 8"/>
          <p:cNvSpPr txBox="1"/>
          <p:nvPr/>
        </p:nvSpPr>
        <p:spPr>
          <a:xfrm>
            <a:off x="7863840" y="4069080"/>
            <a:ext cx="3776472" cy="320040"/>
          </a:xfrm>
          <a:prstGeom prst="rect">
            <a:avLst/>
          </a:prstGeom>
          <a:noFill/>
          <a:ln/>
        </p:spPr>
        <p:txBody>
          <a:bodyPr wrap="square" lIns="0" tIns="0" rIns="0" bIns="0" rtlCol="0" anchor="t"/>
          <a:lstStyle/>
          <a:p>
            <a:pPr algn="l" indent="0" marL="0">
              <a:buNone/>
            </a:pPr>
            <a:r>
              <a:rPr lang="en-US" sz="1500" b="1" dirty="0">
                <a:solidFill>
                  <a:schemeClr val="tx2"/>
                </a:solidFill>
              </a:rPr>
              <a:t>Two problems</a:t>
            </a:r>
            <a:endParaRPr lang="en-US" sz="1500" dirty="0"/>
          </a:p>
        </p:txBody>
      </p:sp>
      <p:sp>
        <p:nvSpPr>
          <p:cNvPr id="14" name="Text 9"/>
          <p:cNvSpPr txBox="1"/>
          <p:nvPr/>
        </p:nvSpPr>
        <p:spPr>
          <a:xfrm>
            <a:off x="7863840" y="4434840"/>
            <a:ext cx="3776472" cy="118872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tx1"/>
                </a:solidFill>
              </a:rPr>
              <a:t>Days with zero recaptures force pooling into multi-day or multi-week strata</a:t>
            </a:r>
            <a:endParaRPr lang="en-US" sz="1400" dirty="0"/>
          </a:p>
          <a:p>
            <a:pPr algn="l" marL="342900" indent="-342900">
              <a:spcAft>
                <a:spcPts val="600"/>
              </a:spcAft>
              <a:buSzPct val="100000"/>
              <a:buChar char="•"/>
            </a:pPr>
            <a:r>
              <a:rPr lang="en-US" sz="1400" dirty="0">
                <a:solidFill>
                  <a:schemeClr val="tx1"/>
                </a:solidFill>
              </a:rPr>
              <a:t>Trap outages give no estimate at all</a:t>
            </a:r>
            <a:endParaRPr lang="en-US" sz="1400" dirty="0"/>
          </a:p>
        </p:txBody>
      </p:sp>
      <p:sp>
        <p:nvSpPr>
          <p:cNvPr id="15"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01_first_bayesian_model.R, 02_lincoln_petersen.R, 04_state_space_screwtrap.R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1 · STARTING WITH SCREW TRAPS</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Bridge: What Changes at LGR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743200"/>
                <a:gridCol w="4174236"/>
                <a:gridCol w="4174236"/>
              </a:tblGrid>
              <a:tr h="603504">
                <a:tc>
                  <a:txBody>
                    <a:bodyPr/>
                    <a:lstStyle/>
                    <a:p>
                      <a:pPr indent="0" marL="0">
                        <a:buNone/>
                      </a:pP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FFFFFF"/>
                    </a:solidFill>
                  </a:tcPr>
                </a:tc>
                <a:tc>
                  <a:txBody>
                    <a:bodyPr/>
                    <a:lstStyle/>
                    <a:p>
                      <a:pPr indent="0" marL="0">
                        <a:buNone/>
                      </a:pPr>
                      <a:r>
                        <a:rPr lang="en-US" sz="1800" b="1" dirty="0">
                          <a:solidFill>
                            <a:srgbClr val="FFFFFF"/>
                          </a:solidFill>
                        </a:rPr>
                        <a:t>Screw trap</a:t>
                      </a:r>
                      <a:endParaRPr lang="en-US" sz="18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F6F78"/>
                    </a:solidFill>
                  </a:tcPr>
                </a:tc>
                <a:tc>
                  <a:txBody>
                    <a:bodyPr/>
                    <a:lstStyle/>
                    <a:p>
                      <a:pPr indent="0" marL="0">
                        <a:buNone/>
                      </a:pPr>
                      <a:r>
                        <a:rPr lang="en-US" sz="1800" b="1" dirty="0">
                          <a:solidFill>
                            <a:srgbClr val="FFFFFF"/>
                          </a:solidFill>
                        </a:rPr>
                        <a:t>Lower Granite</a:t>
                      </a:r>
                      <a:endParaRPr lang="en-US" sz="18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r>
              <a:tr h="603504">
                <a:tc>
                  <a:txBody>
                    <a:bodyPr/>
                    <a:lstStyle/>
                    <a:p>
                      <a:pPr indent="0" marL="0">
                        <a:buNone/>
                      </a:pPr>
                      <a:r>
                        <a:rPr lang="en-US" sz="1700" b="1" dirty="0">
                          <a:solidFill>
                            <a:srgbClr val="12303C"/>
                          </a:solidFill>
                        </a:rPr>
                        <a:t>Who marks fish</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indent="0" marL="0">
                        <a:buNone/>
                      </a:pPr>
                      <a:r>
                        <a:rPr lang="en-US" sz="1700" dirty="0">
                          <a:solidFill>
                            <a:srgbClr val="1B2A33"/>
                          </a:solidFill>
                        </a:rPr>
                        <a:t>We do, at the trap</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700" dirty="0">
                          <a:solidFill>
                            <a:srgbClr val="1B2A33"/>
                          </a:solidFill>
                        </a:rPr>
                        <a:t>Others, upstream (traps, hatcheries)</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603504">
                <a:tc>
                  <a:txBody>
                    <a:bodyPr/>
                    <a:lstStyle/>
                    <a:p>
                      <a:pPr indent="0" marL="0">
                        <a:buNone/>
                      </a:pPr>
                      <a:r>
                        <a:rPr lang="en-US" sz="1700" b="1" dirty="0">
                          <a:solidFill>
                            <a:srgbClr val="12303C"/>
                          </a:solidFill>
                        </a:rPr>
                        <a:t>Marks released</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indent="0" marL="0">
                        <a:buNone/>
                      </a:pPr>
                      <a:r>
                        <a:rPr lang="en-US" sz="1700" dirty="0">
                          <a:solidFill>
                            <a:srgbClr val="1B2A33"/>
                          </a:solidFill>
                        </a:rPr>
                        <a:t>Known, by us</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700" dirty="0">
                          <a:solidFill>
                            <a:srgbClr val="1B2A33"/>
                          </a:solidFill>
                        </a:rPr>
                        <a:t>Not under our control</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603504">
                <a:tc>
                  <a:txBody>
                    <a:bodyPr/>
                    <a:lstStyle/>
                    <a:p>
                      <a:pPr indent="0" marL="0">
                        <a:buNone/>
                      </a:pPr>
                      <a:r>
                        <a:rPr lang="en-US" sz="1700" b="1" dirty="0">
                          <a:solidFill>
                            <a:srgbClr val="12303C"/>
                          </a:solidFill>
                        </a:rPr>
                        <a:t>Capture probability</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indent="0" marL="0">
                        <a:buNone/>
                      </a:pPr>
                      <a:r>
                        <a:rPr lang="en-US" sz="1700" dirty="0">
                          <a:solidFill>
                            <a:srgbClr val="1B2A33"/>
                          </a:solidFill>
                        </a:rPr>
                        <a:t>Recaptures / marks</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700" dirty="0">
                          <a:solidFill>
                            <a:srgbClr val="1B2A33"/>
                          </a:solidFill>
                        </a:rPr>
                        <a:t>Sample rate (known) × GE (unknown)</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603504">
                <a:tc>
                  <a:txBody>
                    <a:bodyPr/>
                    <a:lstStyle/>
                    <a:p>
                      <a:pPr indent="0" marL="0">
                        <a:buNone/>
                      </a:pPr>
                      <a:r>
                        <a:rPr lang="en-US" sz="1700" b="1" dirty="0">
                          <a:solidFill>
                            <a:srgbClr val="12303C"/>
                          </a:solidFill>
                        </a:rPr>
                        <a:t>What we never see</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indent="0" marL="0">
                        <a:buNone/>
                      </a:pPr>
                      <a:r>
                        <a:rPr lang="en-US" sz="1700" dirty="0">
                          <a:solidFill>
                            <a:srgbClr val="1B2A33"/>
                          </a:solidFill>
                        </a:rPr>
                        <a:t>Unmarked fish we miss</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700" dirty="0">
                          <a:solidFill>
                            <a:srgbClr val="1B2A33"/>
                          </a:solidFill>
                        </a:rPr>
                        <a:t>Every fish that skips the bypass</a:t>
                      </a:r>
                      <a:endParaRPr lang="en-US" sz="1700" dirty="0"/>
                    </a:p>
                  </a:txBody>
                  <a:tcPr marL="137160" marR="137160" marT="54864" marB="54864"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bl>
          </a:graphicData>
        </a:graphic>
      </p:graphicFrame>
      <p:sp>
        <p:nvSpPr>
          <p:cNvPr id="6" name="Shape 2"/>
          <p:cNvSpPr/>
          <p:nvPr/>
        </p:nvSpPr>
        <p:spPr>
          <a:xfrm>
            <a:off x="548640" y="4846320"/>
            <a:ext cx="11091672" cy="1280160"/>
          </a:xfrm>
          <a:prstGeom prst="roundRect">
            <a:avLst>
              <a:gd name="adj" fmla="val 5714"/>
            </a:avLst>
          </a:prstGeom>
          <a:solidFill>
            <a:schemeClr val="bg2"/>
          </a:solidFill>
          <a:ln w="9525">
            <a:solidFill>
              <a:srgbClr val="D3DEE1"/>
            </a:solidFill>
            <a:prstDash val="solid"/>
          </a:ln>
        </p:spPr>
      </p:sp>
      <p:sp>
        <p:nvSpPr>
          <p:cNvPr id="7" name="Text 3"/>
          <p:cNvSpPr txBox="1"/>
          <p:nvPr/>
        </p:nvSpPr>
        <p:spPr>
          <a:xfrm>
            <a:off x="822960" y="4846320"/>
            <a:ext cx="10607040" cy="1280160"/>
          </a:xfrm>
          <a:prstGeom prst="rect">
            <a:avLst/>
          </a:prstGeom>
          <a:noFill/>
          <a:ln/>
        </p:spPr>
        <p:txBody>
          <a:bodyPr wrap="square" lIns="0" tIns="0" rIns="0" bIns="0" rtlCol="0" anchor="ctr"/>
          <a:lstStyle/>
          <a:p>
            <a:pPr algn="l" indent="0" marL="0">
              <a:buNone/>
            </a:pPr>
            <a:r>
              <a:rPr lang="en-US" sz="2200" dirty="0">
                <a:solidFill>
                  <a:schemeClr val="tx1"/>
                </a:solidFill>
              </a:rPr>
              <a:t>At LGR we set the sample rate. </a:t>
            </a:r>
            <a:pPr algn="l" indent="0" marL="0">
              <a:buNone/>
            </a:pPr>
            <a:r>
              <a:rPr lang="en-US" sz="2200" b="1" dirty="0">
                <a:solidFill>
                  <a:schemeClr val="accent5"/>
                </a:solidFill>
              </a:rPr>
              <a:t>GE has to be inferred from tags nobody placed for this purpose.</a:t>
            </a:r>
            <a:endParaRPr lang="en-US" sz="2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How SCRAPI Works Now</a:t>
            </a:r>
            <a:endParaRPr lang="en-US" sz="3200" dirty="0"/>
          </a:p>
        </p:txBody>
      </p:sp>
      <p:sp>
        <p:nvSpPr>
          <p:cNvPr id="5" name="Text 2"/>
          <p:cNvSpPr txBox="1"/>
          <p:nvPr/>
        </p:nvSpPr>
        <p:spPr>
          <a:xfrm>
            <a:off x="548640" y="1463040"/>
            <a:ext cx="11091672" cy="411480"/>
          </a:xfrm>
          <a:prstGeom prst="rect">
            <a:avLst/>
          </a:prstGeom>
          <a:noFill/>
          <a:ln/>
        </p:spPr>
        <p:txBody>
          <a:bodyPr wrap="square" lIns="0" tIns="0" rIns="0" bIns="0" rtlCol="0" anchor="t"/>
          <a:lstStyle/>
          <a:p>
            <a:pPr algn="l" indent="0" marL="0">
              <a:buNone/>
            </a:pPr>
            <a:r>
              <a:rPr lang="en-US" sz="1800" dirty="0">
                <a:solidFill>
                  <a:schemeClr val="tx1"/>
                </a:solidFill>
              </a:rPr>
              <a:t>Two divisions. We set the first. The second arrives as a fixed number, with no uncertainty attached.</a:t>
            </a:r>
            <a:endParaRPr lang="en-US" sz="1800" dirty="0"/>
          </a:p>
        </p:txBody>
      </p:sp>
      <p:pic>
        <p:nvPicPr>
          <p:cNvPr id="6" name="scrapi_expansion" descr="/home/claude/deck/assets/scrapi_expansion.png">    </p:cNvPr>
          <p:cNvPicPr>
            <a:picLocks noChangeAspect="1"/>
          </p:cNvPicPr>
          <p:nvPr/>
        </p:nvPicPr>
        <p:blipFill>
          <a:blip r:embed="rId1"/>
          <a:stretch>
            <a:fillRect/>
          </a:stretch>
        </p:blipFill>
        <p:spPr>
          <a:xfrm>
            <a:off x="548640" y="2057400"/>
            <a:ext cx="11091672" cy="4158768"/>
          </a:xfrm>
          <a:prstGeom prst="rect">
            <a:avLst/>
          </a:prstGeom>
        </p:spPr>
      </p:pic>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Where SCRAPI's Interval Comes From</a:t>
            </a:r>
            <a:endParaRPr lang="en-US" sz="3200" dirty="0"/>
          </a:p>
        </p:txBody>
      </p:sp>
      <p:sp>
        <p:nvSpPr>
          <p:cNvPr id="5" name="Text 2"/>
          <p:cNvSpPr/>
          <p:nvPr/>
        </p:nvSpPr>
        <p:spPr>
          <a:xfrm>
            <a:off x="548640" y="1572768"/>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1097280" y="1554480"/>
            <a:ext cx="4206240" cy="365760"/>
          </a:xfrm>
          <a:prstGeom prst="rect">
            <a:avLst/>
          </a:prstGeom>
          <a:noFill/>
          <a:ln/>
        </p:spPr>
        <p:txBody>
          <a:bodyPr wrap="square" lIns="0" tIns="0" rIns="0" bIns="0" rtlCol="0" anchor="ctr"/>
          <a:lstStyle/>
          <a:p>
            <a:pPr algn="l" indent="0" marL="0">
              <a:buNone/>
            </a:pPr>
            <a:r>
              <a:rPr lang="en-US" sz="1600" b="1" dirty="0">
                <a:solidFill>
                  <a:schemeClr val="tx2"/>
                </a:solidFill>
              </a:rPr>
              <a:t>Redraw the catch</a:t>
            </a:r>
            <a:endParaRPr lang="en-US" sz="1600" dirty="0"/>
          </a:p>
        </p:txBody>
      </p:sp>
      <p:sp>
        <p:nvSpPr>
          <p:cNvPr id="7" name="Text 4"/>
          <p:cNvSpPr txBox="1"/>
          <p:nvPr/>
        </p:nvSpPr>
        <p:spPr>
          <a:xfrm>
            <a:off x="1097280" y="1938528"/>
            <a:ext cx="4206240" cy="777240"/>
          </a:xfrm>
          <a:prstGeom prst="rect">
            <a:avLst/>
          </a:prstGeom>
          <a:noFill/>
          <a:ln/>
        </p:spPr>
        <p:txBody>
          <a:bodyPr wrap="square" lIns="0" tIns="0" rIns="0" bIns="0" rtlCol="0" anchor="t"/>
          <a:lstStyle/>
          <a:p>
            <a:pPr algn="l" indent="0" marL="0">
              <a:buNone/>
            </a:pPr>
            <a:r>
              <a:rPr lang="en-US" sz="1350" dirty="0">
                <a:solidFill>
                  <a:schemeClr val="tx1"/>
                </a:solidFill>
              </a:rPr>
              <a:t>Same toy day: 4,000 fish pass, and each has a 0.25 × 0.05 = 0.0125 chance of being caught. New catches: 53, 51, 51, 56, 50, ...</a:t>
            </a:r>
            <a:endParaRPr lang="en-US" sz="1350" dirty="0"/>
          </a:p>
        </p:txBody>
      </p:sp>
      <p:sp>
        <p:nvSpPr>
          <p:cNvPr id="8" name="Text 5"/>
          <p:cNvSpPr/>
          <p:nvPr/>
        </p:nvSpPr>
        <p:spPr>
          <a:xfrm>
            <a:off x="548640" y="2779776"/>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6"/>
          <p:cNvSpPr txBox="1"/>
          <p:nvPr/>
        </p:nvSpPr>
        <p:spPr>
          <a:xfrm>
            <a:off x="1097280" y="2761488"/>
            <a:ext cx="4206240" cy="365760"/>
          </a:xfrm>
          <a:prstGeom prst="rect">
            <a:avLst/>
          </a:prstGeom>
          <a:noFill/>
          <a:ln/>
        </p:spPr>
        <p:txBody>
          <a:bodyPr wrap="square" lIns="0" tIns="0" rIns="0" bIns="0" rtlCol="0" anchor="ctr"/>
          <a:lstStyle/>
          <a:p>
            <a:pPr algn="l" indent="0" marL="0">
              <a:buNone/>
            </a:pPr>
            <a:r>
              <a:rPr lang="en-US" sz="1600" b="1" dirty="0">
                <a:solidFill>
                  <a:schemeClr val="tx2"/>
                </a:solidFill>
              </a:rPr>
              <a:t>Expand it</a:t>
            </a:r>
            <a:endParaRPr lang="en-US" sz="1600" dirty="0"/>
          </a:p>
        </p:txBody>
      </p:sp>
      <p:sp>
        <p:nvSpPr>
          <p:cNvPr id="10" name="Text 7"/>
          <p:cNvSpPr txBox="1"/>
          <p:nvPr/>
        </p:nvSpPr>
        <p:spPr>
          <a:xfrm>
            <a:off x="1097280" y="3145536"/>
            <a:ext cx="4206240" cy="777240"/>
          </a:xfrm>
          <a:prstGeom prst="rect">
            <a:avLst/>
          </a:prstGeom>
          <a:noFill/>
          <a:ln/>
        </p:spPr>
        <p:txBody>
          <a:bodyPr wrap="square" lIns="0" tIns="0" rIns="0" bIns="0" rtlCol="0" anchor="t"/>
          <a:lstStyle/>
          <a:p>
            <a:pPr algn="l" indent="0" marL="0">
              <a:buNone/>
            </a:pPr>
            <a:r>
              <a:rPr lang="en-US" sz="1350" dirty="0">
                <a:solidFill>
                  <a:schemeClr val="tx1"/>
                </a:solidFill>
              </a:rPr>
              <a:t>Each catch ÷ 0.0125: 4,240, 4,080, 4,080, ...</a:t>
            </a:r>
            <a:endParaRPr lang="en-US" sz="1350" dirty="0"/>
          </a:p>
        </p:txBody>
      </p:sp>
      <p:sp>
        <p:nvSpPr>
          <p:cNvPr id="11" name="Text 8"/>
          <p:cNvSpPr/>
          <p:nvPr/>
        </p:nvSpPr>
        <p:spPr>
          <a:xfrm>
            <a:off x="548640" y="3986784"/>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9"/>
          <p:cNvSpPr txBox="1"/>
          <p:nvPr/>
        </p:nvSpPr>
        <p:spPr>
          <a:xfrm>
            <a:off x="1097280" y="3968496"/>
            <a:ext cx="4206240" cy="365760"/>
          </a:xfrm>
          <a:prstGeom prst="rect">
            <a:avLst/>
          </a:prstGeom>
          <a:noFill/>
          <a:ln/>
        </p:spPr>
        <p:txBody>
          <a:bodyPr wrap="square" lIns="0" tIns="0" rIns="0" bIns="0" rtlCol="0" anchor="ctr"/>
          <a:lstStyle/>
          <a:p>
            <a:pPr algn="l" indent="0" marL="0">
              <a:buNone/>
            </a:pPr>
            <a:r>
              <a:rPr lang="en-US" sz="1600" b="1" dirty="0">
                <a:solidFill>
                  <a:schemeClr val="tx2"/>
                </a:solidFill>
              </a:rPr>
              <a:t>Repeat 2,000 times</a:t>
            </a:r>
            <a:endParaRPr lang="en-US" sz="1600" dirty="0"/>
          </a:p>
        </p:txBody>
      </p:sp>
      <p:sp>
        <p:nvSpPr>
          <p:cNvPr id="13" name="Text 10"/>
          <p:cNvSpPr txBox="1"/>
          <p:nvPr/>
        </p:nvSpPr>
        <p:spPr>
          <a:xfrm>
            <a:off x="1097280" y="4352544"/>
            <a:ext cx="4206240" cy="777240"/>
          </a:xfrm>
          <a:prstGeom prst="rect">
            <a:avLst/>
          </a:prstGeom>
          <a:noFill/>
          <a:ln/>
        </p:spPr>
        <p:txBody>
          <a:bodyPr wrap="square" lIns="0" tIns="0" rIns="0" bIns="0" rtlCol="0" anchor="t"/>
          <a:lstStyle/>
          <a:p>
            <a:pPr algn="l" indent="0" marL="0">
              <a:buNone/>
            </a:pPr>
            <a:r>
              <a:rPr lang="en-US" sz="1350" dirty="0">
                <a:solidFill>
                  <a:schemeClr val="tx1"/>
                </a:solidFill>
              </a:rPr>
              <a:t>The middle 90% of the totals is the interval: 3,120 to 4,960. The measured fish are resampled too, so the wild, stock, sex, and age splits get intervals as well.</a:t>
            </a:r>
            <a:endParaRPr lang="en-US" sz="1350" dirty="0"/>
          </a:p>
        </p:txBody>
      </p:sp>
      <p:graphicFrame>
        <p:nvGraphicFramePr>
          <p:cNvPr id="14" name="Chart 0" descr=""/>
          <p:cNvGraphicFramePr/>
          <p:nvPr/>
        </p:nvGraphicFramePr>
        <p:xfrm>
          <a:off x="5577840" y="1463040"/>
          <a:ext cx="6062472" cy="393192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5577840" y="5413248"/>
            <a:ext cx="6062472" cy="274320"/>
          </a:xfrm>
          <a:prstGeom prst="rect">
            <a:avLst/>
          </a:prstGeom>
          <a:noFill/>
          <a:ln/>
        </p:spPr>
        <p:txBody>
          <a:bodyPr wrap="square" lIns="0" tIns="0" rIns="0" bIns="0" rtlCol="0" anchor="t"/>
          <a:lstStyle/>
          <a:p>
            <a:pPr algn="l" indent="0" marL="0">
              <a:buNone/>
            </a:pPr>
            <a:r>
              <a:rPr lang="en-US" sz="1100" dirty="0">
                <a:solidFill>
                  <a:srgbClr val="5B6B73"/>
                </a:solidFill>
              </a:rPr>
              <a:t>Toy numbers, simulated from the slide 6 example.</a:t>
            </a:r>
            <a:endParaRPr lang="en-US" sz="1100" dirty="0"/>
          </a:p>
        </p:txBody>
      </p:sp>
      <p:sp>
        <p:nvSpPr>
          <p:cNvPr id="16" name="Text 12"/>
          <p:cNvSpPr/>
          <p:nvPr/>
        </p:nvSpPr>
        <p:spPr>
          <a:xfrm>
            <a:off x="548640" y="5715000"/>
            <a:ext cx="11091672" cy="640080"/>
          </a:xfrm>
          <a:prstGeom prst="roundRect">
            <a:avLst>
              <a:gd name="adj" fmla="val 11429"/>
            </a:avLst>
          </a:prstGeom>
          <a:solidFill>
            <a:schemeClr val="tx2"/>
          </a:solidFill>
          <a:ln/>
        </p:spPr>
        <p:txBody>
          <a:bodyPr wrap="square" lIns="228600" tIns="0" rIns="228600" bIns="0" rtlCol="0" anchor="ctr"/>
          <a:lstStyle/>
          <a:p>
            <a:pPr algn="l" indent="0" marL="0">
              <a:buNone/>
            </a:pPr>
            <a:r>
              <a:rPr lang="en-US" sz="1500" b="1" dirty="0">
                <a:solidFill>
                  <a:srgbClr val="F2C14E"/>
                </a:solidFill>
              </a:rPr>
              <a:t>GE is the same 0.05 in every round, </a:t>
            </a:r>
            <a:pPr algn="l" indent="0" marL="0">
              <a:buNone/>
            </a:pPr>
            <a:r>
              <a:rPr lang="en-US" sz="1500" dirty="0">
                <a:solidFill>
                  <a:schemeClr val="bg1"/>
                </a:solidFill>
              </a:rPr>
              <a:t>so the interval knows nothing about GE uncertainty. SCRAPI2 gives each round its own GE draw.</a:t>
            </a:r>
            <a:endParaRPr lang="en-US" sz="1500" dirty="0"/>
          </a:p>
        </p:txBody>
      </p:sp>
      <p:sp>
        <p:nvSpPr>
          <p:cNvPr id="17"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08_bootstrap.R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Step 1: Here Are Our PIT Counts</a:t>
            </a:r>
            <a:endParaRPr lang="en-US" sz="3200" dirty="0"/>
          </a:p>
        </p:txBody>
      </p:sp>
      <p:sp>
        <p:nvSpPr>
          <p:cNvPr id="5" name="ge_tracker"/>
          <p:cNvSpPr/>
          <p:nvPr/>
        </p:nvSpPr>
        <p:spPr>
          <a:xfrm>
            <a:off x="8531352" y="621792"/>
            <a:ext cx="3108960" cy="548640"/>
          </a:xfrm>
          <a:prstGeom prst="roundRect">
            <a:avLst>
              <a:gd name="adj" fmla="val 16667"/>
            </a:avLst>
          </a:prstGeom>
          <a:solidFill>
            <a:schemeClr val="tx2"/>
          </a:solidFill>
          <a:ln/>
        </p:spPr>
        <p:txBody>
          <a:bodyPr wrap="square" lIns="0" tIns="0" rIns="0" bIns="0" rtlCol="0" anchor="ctr"/>
          <a:lstStyle/>
          <a:p>
            <a:pPr algn="ctr" indent="0" marL="0">
              <a:buNone/>
            </a:pPr>
            <a:r>
              <a:rPr lang="en-US" sz="1000" b="1" spc="100" kern="0" dirty="0">
                <a:solidFill>
                  <a:srgbClr val="9FC3CA"/>
                </a:solidFill>
              </a:rPr>
              <a:t>RUNNING GE   </a:t>
            </a:r>
            <a:pPr algn="ctr" indent="0" marL="0">
              <a:buNone/>
            </a:pPr>
            <a:r>
              <a:rPr lang="en-US" sz="1800" b="1" dirty="0">
                <a:solidFill>
                  <a:srgbClr val="F2C14E"/>
                </a:solidFill>
              </a:rPr>
              <a:t>0.12</a:t>
            </a:r>
            <a:endParaRPr lang="en-US" sz="1000" dirty="0"/>
          </a:p>
        </p:txBody>
      </p:sp>
      <p:sp>
        <p:nvSpPr>
          <p:cNvPr id="6" name="Shape 3"/>
          <p:cNvSpPr/>
          <p:nvPr/>
        </p:nvSpPr>
        <p:spPr>
          <a:xfrm>
            <a:off x="548640" y="1554480"/>
            <a:ext cx="1984248" cy="1188720"/>
          </a:xfrm>
          <a:prstGeom prst="roundRect">
            <a:avLst>
              <a:gd name="adj" fmla="val 6154"/>
            </a:avLst>
          </a:prstGeom>
          <a:solidFill>
            <a:schemeClr val="bg2"/>
          </a:solidFill>
          <a:ln w="9525">
            <a:solidFill>
              <a:srgbClr val="D3DEE1"/>
            </a:solidFill>
            <a:prstDash val="solid"/>
          </a:ln>
        </p:spPr>
      </p:sp>
      <p:sp>
        <p:nvSpPr>
          <p:cNvPr id="7" name="Text 4"/>
          <p:cNvSpPr txBox="1"/>
          <p:nvPr/>
        </p:nvSpPr>
        <p:spPr>
          <a:xfrm>
            <a:off x="731520" y="1682496"/>
            <a:ext cx="1618488" cy="548640"/>
          </a:xfrm>
          <a:prstGeom prst="rect">
            <a:avLst/>
          </a:prstGeom>
          <a:noFill/>
          <a:ln/>
        </p:spPr>
        <p:txBody>
          <a:bodyPr wrap="square" lIns="0" tIns="0" rIns="0" bIns="0" rtlCol="0" anchor="ctr"/>
          <a:lstStyle/>
          <a:p>
            <a:pPr algn="l" indent="0" marL="0">
              <a:buNone/>
            </a:pPr>
            <a:r>
              <a:rPr lang="en-US" sz="3600" b="1" dirty="0">
                <a:solidFill>
                  <a:schemeClr val="accent1"/>
                </a:solidFill>
              </a:rPr>
              <a:t>511</a:t>
            </a:r>
            <a:endParaRPr lang="en-US" sz="3600" dirty="0"/>
          </a:p>
        </p:txBody>
      </p:sp>
      <p:sp>
        <p:nvSpPr>
          <p:cNvPr id="8" name="Text 5"/>
          <p:cNvSpPr txBox="1"/>
          <p:nvPr/>
        </p:nvSpPr>
        <p:spPr>
          <a:xfrm>
            <a:off x="731520" y="2267712"/>
            <a:ext cx="1618488" cy="365760"/>
          </a:xfrm>
          <a:prstGeom prst="rect">
            <a:avLst/>
          </a:prstGeom>
          <a:noFill/>
          <a:ln/>
        </p:spPr>
        <p:txBody>
          <a:bodyPr wrap="square" lIns="0" tIns="0" rIns="0" bIns="0" rtlCol="0" anchor="t"/>
          <a:lstStyle/>
          <a:p>
            <a:pPr algn="l" indent="0" marL="0">
              <a:buNone/>
            </a:pPr>
            <a:r>
              <a:rPr lang="en-US" sz="1300" dirty="0">
                <a:solidFill>
                  <a:schemeClr val="tx1"/>
                </a:solidFill>
              </a:rPr>
              <a:t>GRJ, the bypass</a:t>
            </a:r>
            <a:endParaRPr lang="en-US" sz="1300" dirty="0"/>
          </a:p>
        </p:txBody>
      </p:sp>
      <p:sp>
        <p:nvSpPr>
          <p:cNvPr id="9" name="Shape 6"/>
          <p:cNvSpPr/>
          <p:nvPr/>
        </p:nvSpPr>
        <p:spPr>
          <a:xfrm>
            <a:off x="2697480" y="1554480"/>
            <a:ext cx="1984248" cy="1188720"/>
          </a:xfrm>
          <a:prstGeom prst="roundRect">
            <a:avLst>
              <a:gd name="adj" fmla="val 6154"/>
            </a:avLst>
          </a:prstGeom>
          <a:solidFill>
            <a:schemeClr val="bg2"/>
          </a:solidFill>
          <a:ln w="9525">
            <a:solidFill>
              <a:srgbClr val="D3DEE1"/>
            </a:solidFill>
            <a:prstDash val="solid"/>
          </a:ln>
        </p:spPr>
      </p:sp>
      <p:sp>
        <p:nvSpPr>
          <p:cNvPr id="10" name="Text 7"/>
          <p:cNvSpPr txBox="1"/>
          <p:nvPr/>
        </p:nvSpPr>
        <p:spPr>
          <a:xfrm>
            <a:off x="2880360" y="1682496"/>
            <a:ext cx="1618488" cy="548640"/>
          </a:xfrm>
          <a:prstGeom prst="rect">
            <a:avLst/>
          </a:prstGeom>
          <a:noFill/>
          <a:ln/>
        </p:spPr>
        <p:txBody>
          <a:bodyPr wrap="square" lIns="0" tIns="0" rIns="0" bIns="0" rtlCol="0" anchor="ctr"/>
          <a:lstStyle/>
          <a:p>
            <a:pPr algn="l" indent="0" marL="0">
              <a:buNone/>
            </a:pPr>
            <a:r>
              <a:rPr lang="en-US" sz="3600" b="1" dirty="0">
                <a:solidFill>
                  <a:schemeClr val="accent2"/>
                </a:solidFill>
              </a:rPr>
              <a:t>3,785</a:t>
            </a:r>
            <a:endParaRPr lang="en-US" sz="3600" dirty="0"/>
          </a:p>
        </p:txBody>
      </p:sp>
      <p:sp>
        <p:nvSpPr>
          <p:cNvPr id="11" name="Text 8"/>
          <p:cNvSpPr txBox="1"/>
          <p:nvPr/>
        </p:nvSpPr>
        <p:spPr>
          <a:xfrm>
            <a:off x="2880360" y="2267712"/>
            <a:ext cx="1618488" cy="365760"/>
          </a:xfrm>
          <a:prstGeom prst="rect">
            <a:avLst/>
          </a:prstGeom>
          <a:noFill/>
          <a:ln/>
        </p:spPr>
        <p:txBody>
          <a:bodyPr wrap="square" lIns="0" tIns="0" rIns="0" bIns="0" rtlCol="0" anchor="t"/>
          <a:lstStyle/>
          <a:p>
            <a:pPr algn="l" indent="0" marL="0">
              <a:buNone/>
            </a:pPr>
            <a:r>
              <a:rPr lang="en-US" sz="1300" dirty="0">
                <a:solidFill>
                  <a:schemeClr val="tx1"/>
                </a:solidFill>
              </a:rPr>
              <a:t>GRS, spillbay 1</a:t>
            </a:r>
            <a:endParaRPr lang="en-US" sz="1300" dirty="0"/>
          </a:p>
        </p:txBody>
      </p:sp>
      <p:sp>
        <p:nvSpPr>
          <p:cNvPr id="12" name="Text 9"/>
          <p:cNvSpPr txBox="1"/>
          <p:nvPr/>
        </p:nvSpPr>
        <p:spPr>
          <a:xfrm>
            <a:off x="548640" y="2807208"/>
            <a:ext cx="4206240" cy="274320"/>
          </a:xfrm>
          <a:prstGeom prst="rect">
            <a:avLst/>
          </a:prstGeom>
          <a:noFill/>
          <a:ln/>
        </p:spPr>
        <p:txBody>
          <a:bodyPr wrap="square" lIns="0" tIns="0" rIns="0" bIns="0" rtlCol="0" anchor="t"/>
          <a:lstStyle/>
          <a:p>
            <a:pPr algn="l" indent="0" marL="0">
              <a:buNone/>
            </a:pPr>
            <a:r>
              <a:rPr lang="en-US" sz="1100" dirty="0">
                <a:solidFill>
                  <a:srgbClr val="5B6B73"/>
                </a:solidFill>
              </a:rPr>
              <a:t>MY2025 wild steelhead, first detections at LGR</a:t>
            </a:r>
            <a:endParaRPr lang="en-US" sz="1100" dirty="0"/>
          </a:p>
        </p:txBody>
      </p:sp>
      <p:pic>
        <p:nvPicPr>
          <p:cNvPr id="13" name="eq_naive" descr="/home/claude/deck/assets/eq_naive.png">    </p:cNvPr>
          <p:cNvPicPr>
            <a:picLocks noChangeAspect="1"/>
          </p:cNvPicPr>
          <p:nvPr/>
        </p:nvPicPr>
        <p:blipFill>
          <a:blip r:embed="rId1"/>
          <a:stretch>
            <a:fillRect/>
          </a:stretch>
        </p:blipFill>
        <p:spPr>
          <a:xfrm>
            <a:off x="548640" y="3200400"/>
            <a:ext cx="4215232" cy="437845"/>
          </a:xfrm>
          <a:prstGeom prst="rect">
            <a:avLst/>
          </a:prstGeom>
        </p:spPr>
      </p:pic>
      <p:sp>
        <p:nvSpPr>
          <p:cNvPr id="14" name="Text 10"/>
          <p:cNvSpPr txBox="1"/>
          <p:nvPr/>
        </p:nvSpPr>
        <p:spPr>
          <a:xfrm>
            <a:off x="548640" y="3840480"/>
            <a:ext cx="4206240" cy="685800"/>
          </a:xfrm>
          <a:prstGeom prst="rect">
            <a:avLst/>
          </a:prstGeom>
          <a:noFill/>
          <a:ln/>
        </p:spPr>
        <p:txBody>
          <a:bodyPr wrap="square" lIns="0" tIns="0" rIns="0" bIns="0" rtlCol="0" anchor="t"/>
          <a:lstStyle/>
          <a:p>
            <a:pPr algn="l" indent="0" marL="0">
              <a:buNone/>
            </a:pPr>
            <a:r>
              <a:rPr lang="en-US" sz="2000" b="1" dirty="0">
                <a:solidFill>
                  <a:schemeClr val="accent2"/>
                </a:solidFill>
              </a:rPr>
              <a:t>What's missing? </a:t>
            </a:r>
            <a:pPr algn="l" indent="0" marL="0">
              <a:buNone/>
            </a:pPr>
            <a:r>
              <a:rPr lang="en-US" sz="1700" dirty="0">
                <a:solidFill>
                  <a:schemeClr val="tx1"/>
                </a:solidFill>
              </a:rPr>
              <a:t>Detection probability for spilled fish.</a:t>
            </a:r>
            <a:endParaRPr lang="en-US" sz="1500" dirty="0"/>
          </a:p>
        </p:txBody>
      </p:sp>
      <p:pic>
        <p:nvPicPr>
          <p:cNvPr id="15" name="eq_corr" descr="/home/claude/deck/assets/eq_corr.png">    </p:cNvPr>
          <p:cNvPicPr>
            <a:picLocks noChangeAspect="1"/>
          </p:cNvPicPr>
          <p:nvPr/>
        </p:nvPicPr>
        <p:blipFill>
          <a:blip r:embed="rId2"/>
          <a:stretch>
            <a:fillRect/>
          </a:stretch>
        </p:blipFill>
        <p:spPr>
          <a:xfrm>
            <a:off x="548640" y="4617720"/>
            <a:ext cx="2371344" cy="542544"/>
          </a:xfrm>
          <a:prstGeom prst="rect">
            <a:avLst/>
          </a:prstGeom>
        </p:spPr>
      </p:pic>
      <p:pic>
        <p:nvPicPr>
          <p:cNvPr id="16" name="tree_stage1" descr="/home/claude/deck/assets/tree_stage1.png">    </p:cNvPr>
          <p:cNvPicPr>
            <a:picLocks noChangeAspect="1"/>
          </p:cNvPicPr>
          <p:nvPr/>
        </p:nvPicPr>
        <p:blipFill>
          <a:blip r:embed="rId3"/>
          <a:stretch>
            <a:fillRect/>
          </a:stretch>
        </p:blipFill>
        <p:spPr>
          <a:xfrm>
            <a:off x="5120640" y="1463040"/>
            <a:ext cx="6519672" cy="3532153"/>
          </a:xfrm>
          <a:prstGeom prst="rect">
            <a:avLst/>
          </a:prstGeom>
        </p:spPr>
      </p:pic>
      <p:sp>
        <p:nvSpPr>
          <p:cNvPr id="17" name="Text 11"/>
          <p:cNvSpPr txBox="1"/>
          <p:nvPr/>
        </p:nvSpPr>
        <p:spPr>
          <a:xfrm>
            <a:off x="548640" y="5943600"/>
            <a:ext cx="11091672" cy="320040"/>
          </a:xfrm>
          <a:prstGeom prst="rect">
            <a:avLst/>
          </a:prstGeom>
          <a:noFill/>
          <a:ln/>
        </p:spPr>
        <p:txBody>
          <a:bodyPr wrap="square" lIns="0" tIns="0" rIns="0" bIns="0" rtlCol="0" anchor="t"/>
          <a:lstStyle/>
          <a:p>
            <a:pPr algn="l" indent="0" marL="0">
              <a:buNone/>
            </a:pPr>
            <a:r>
              <a:rPr lang="en-US" sz="1200" dirty="0">
                <a:solidFill>
                  <a:srgbClr val="5B6B73"/>
                </a:solidFill>
              </a:rPr>
              <a:t>Season totals. Every GE on slides 8 to 11 is closed form from these counts, not model output.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Step 2: The Row Method</a:t>
            </a:r>
            <a:endParaRPr lang="en-US" sz="3200" dirty="0"/>
          </a:p>
        </p:txBody>
      </p:sp>
      <p:sp>
        <p:nvSpPr>
          <p:cNvPr id="5" name="ge_tracker"/>
          <p:cNvSpPr/>
          <p:nvPr/>
        </p:nvSpPr>
        <p:spPr>
          <a:xfrm>
            <a:off x="8531352" y="621792"/>
            <a:ext cx="3108960" cy="548640"/>
          </a:xfrm>
          <a:prstGeom prst="roundRect">
            <a:avLst>
              <a:gd name="adj" fmla="val 16667"/>
            </a:avLst>
          </a:prstGeom>
          <a:solidFill>
            <a:schemeClr val="tx2"/>
          </a:solidFill>
          <a:ln/>
        </p:spPr>
        <p:txBody>
          <a:bodyPr wrap="square" lIns="0" tIns="0" rIns="0" bIns="0" rtlCol="0" anchor="ctr"/>
          <a:lstStyle/>
          <a:p>
            <a:pPr algn="ctr" indent="0" marL="0">
              <a:buNone/>
            </a:pPr>
            <a:r>
              <a:rPr lang="en-US" sz="1000" b="1" spc="100" kern="0" dirty="0">
                <a:solidFill>
                  <a:srgbClr val="9FC3CA"/>
                </a:solidFill>
              </a:rPr>
              <a:t>RUNNING GE   </a:t>
            </a:r>
            <a:pPr algn="ctr" indent="0" marL="0">
              <a:buNone/>
            </a:pPr>
            <a:r>
              <a:rPr lang="en-US" sz="1800" b="1" dirty="0">
                <a:solidFill>
                  <a:srgbClr val="CFE0E4"/>
                </a:solidFill>
              </a:rPr>
              <a:t>0.12</a:t>
            </a:r>
            <a:pPr algn="ctr" indent="0" marL="0">
              <a:buNone/>
            </a:pPr>
            <a:r>
              <a:rPr lang="en-US" sz="1400" dirty="0">
                <a:solidFill>
                  <a:srgbClr val="9FC3CA"/>
                </a:solidFill>
              </a:rPr>
              <a:t>  →  </a:t>
            </a:r>
            <a:pPr algn="ctr" indent="0" marL="0">
              <a:buNone/>
            </a:pPr>
            <a:r>
              <a:rPr lang="en-US" sz="1800" b="1" dirty="0">
                <a:solidFill>
                  <a:srgbClr val="F2C14E"/>
                </a:solidFill>
              </a:rPr>
              <a:t>0.11</a:t>
            </a:r>
            <a:endParaRPr lang="en-US" sz="1000" dirty="0"/>
          </a:p>
        </p:txBody>
      </p:sp>
      <p:pic>
        <p:nvPicPr>
          <p:cNvPr id="6" name="ptagis_antennas" descr="/home/claude/deck/assets/ptagis_antennas.png">    </p:cNvPr>
          <p:cNvPicPr>
            <a:picLocks noChangeAspect="1"/>
          </p:cNvPicPr>
          <p:nvPr/>
        </p:nvPicPr>
        <p:blipFill>
          <a:blip r:embed="rId1"/>
          <a:stretch>
            <a:fillRect/>
          </a:stretch>
        </p:blipFill>
        <p:spPr>
          <a:xfrm>
            <a:off x="548640" y="1463040"/>
            <a:ext cx="2710180" cy="4434840"/>
          </a:xfrm>
          <a:prstGeom prst="rect">
            <a:avLst/>
          </a:prstGeom>
        </p:spPr>
      </p:pic>
      <p:sp>
        <p:nvSpPr>
          <p:cNvPr id="7" name="Text 3"/>
          <p:cNvSpPr txBox="1"/>
          <p:nvPr/>
        </p:nvSpPr>
        <p:spPr>
          <a:xfrm>
            <a:off x="548640" y="5971032"/>
            <a:ext cx="3108960" cy="411480"/>
          </a:xfrm>
          <a:prstGeom prst="rect">
            <a:avLst/>
          </a:prstGeom>
          <a:noFill/>
          <a:ln/>
        </p:spPr>
        <p:txBody>
          <a:bodyPr wrap="square" lIns="0" tIns="0" rIns="0" bIns="0" rtlCol="0" anchor="t"/>
          <a:lstStyle/>
          <a:p>
            <a:pPr algn="l" indent="0" marL="0">
              <a:buNone/>
            </a:pPr>
            <a:r>
              <a:rPr lang="en-US" sz="1000" dirty="0">
                <a:solidFill>
                  <a:srgbClr val="5B6B73"/>
                </a:solidFill>
              </a:rPr>
              <a:t>PTAGIS: Lower Granite Dam Spillway (GRS), Interrogation Site Configuration 100, Drawing Rev 0</a:t>
            </a:r>
            <a:endParaRPr lang="en-US" sz="1000" dirty="0"/>
          </a:p>
        </p:txBody>
      </p:sp>
      <p:sp>
        <p:nvSpPr>
          <p:cNvPr id="8" name="Text 4"/>
          <p:cNvSpPr txBox="1"/>
          <p:nvPr/>
        </p:nvSpPr>
        <p:spPr>
          <a:xfrm>
            <a:off x="3657600" y="1508760"/>
            <a:ext cx="7982712" cy="685800"/>
          </a:xfrm>
          <a:prstGeom prst="rect">
            <a:avLst/>
          </a:prstGeom>
          <a:noFill/>
          <a:ln/>
        </p:spPr>
        <p:txBody>
          <a:bodyPr wrap="square" lIns="0" tIns="0" rIns="0" bIns="0" rtlCol="0" anchor="t"/>
          <a:lstStyle/>
          <a:p>
            <a:pPr algn="l" indent="0" marL="0">
              <a:buNone/>
            </a:pPr>
            <a:r>
              <a:rPr lang="en-US" sz="1500" dirty="0">
                <a:solidFill>
                  <a:schemeClr val="tx1"/>
                </a:solidFill>
              </a:rPr>
              <a:t>11 flatplate antennas sit in three rows across spillway 1: 01 to 04, then 05 to 07, then 08 to 0B. A spilled fish crosses all three rows.</a:t>
            </a:r>
            <a:endParaRPr lang="en-US" sz="1500" dirty="0"/>
          </a:p>
        </p:txBody>
      </p:sp>
      <p:sp>
        <p:nvSpPr>
          <p:cNvPr id="9" name="Text 5"/>
          <p:cNvSpPr/>
          <p:nvPr/>
        </p:nvSpPr>
        <p:spPr>
          <a:xfrm>
            <a:off x="365760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111</a:t>
            </a:r>
            <a:endParaRPr lang="en-US" sz="1600" dirty="0"/>
          </a:p>
        </p:txBody>
      </p:sp>
      <p:sp>
        <p:nvSpPr>
          <p:cNvPr id="10" name="Text 6"/>
          <p:cNvSpPr/>
          <p:nvPr/>
        </p:nvSpPr>
        <p:spPr>
          <a:xfrm>
            <a:off x="461772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110</a:t>
            </a:r>
            <a:endParaRPr lang="en-US" sz="1600" dirty="0"/>
          </a:p>
        </p:txBody>
      </p:sp>
      <p:sp>
        <p:nvSpPr>
          <p:cNvPr id="11" name="Text 7"/>
          <p:cNvSpPr/>
          <p:nvPr/>
        </p:nvSpPr>
        <p:spPr>
          <a:xfrm>
            <a:off x="557784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101</a:t>
            </a:r>
            <a:endParaRPr lang="en-US" sz="1600" dirty="0"/>
          </a:p>
        </p:txBody>
      </p:sp>
      <p:sp>
        <p:nvSpPr>
          <p:cNvPr id="12" name="Text 8"/>
          <p:cNvSpPr/>
          <p:nvPr/>
        </p:nvSpPr>
        <p:spPr>
          <a:xfrm>
            <a:off x="653796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011</a:t>
            </a:r>
            <a:endParaRPr lang="en-US" sz="1600" dirty="0"/>
          </a:p>
        </p:txBody>
      </p:sp>
      <p:sp>
        <p:nvSpPr>
          <p:cNvPr id="13" name="Text 9"/>
          <p:cNvSpPr/>
          <p:nvPr/>
        </p:nvSpPr>
        <p:spPr>
          <a:xfrm>
            <a:off x="749808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100</a:t>
            </a:r>
            <a:endParaRPr lang="en-US" sz="1600" dirty="0"/>
          </a:p>
        </p:txBody>
      </p:sp>
      <p:sp>
        <p:nvSpPr>
          <p:cNvPr id="14" name="Text 10"/>
          <p:cNvSpPr/>
          <p:nvPr/>
        </p:nvSpPr>
        <p:spPr>
          <a:xfrm>
            <a:off x="845820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010</a:t>
            </a:r>
            <a:endParaRPr lang="en-US" sz="1600" dirty="0"/>
          </a:p>
        </p:txBody>
      </p:sp>
      <p:sp>
        <p:nvSpPr>
          <p:cNvPr id="15" name="Text 11"/>
          <p:cNvSpPr/>
          <p:nvPr/>
        </p:nvSpPr>
        <p:spPr>
          <a:xfrm>
            <a:off x="9418320" y="2176272"/>
            <a:ext cx="822960" cy="438912"/>
          </a:xfrm>
          <a:prstGeom prst="roundRect">
            <a:avLst>
              <a:gd name="adj" fmla="val 12500"/>
            </a:avLst>
          </a:prstGeom>
          <a:solidFill>
            <a:srgbClr val="FFFFFF"/>
          </a:solidFill>
          <a:ln w="15875">
            <a:solidFill>
              <a:schemeClr val="accent2"/>
            </a:solidFill>
          </a:ln>
        </p:spPr>
        <p:txBody>
          <a:bodyPr wrap="square" lIns="0" tIns="0" rIns="0" bIns="0" rtlCol="0" anchor="ctr"/>
          <a:lstStyle/>
          <a:p>
            <a:pPr algn="ctr" indent="0" marL="0">
              <a:buNone/>
            </a:pPr>
            <a:r>
              <a:rPr lang="en-US" sz="1600" b="1" dirty="0">
                <a:solidFill>
                  <a:schemeClr val="tx2"/>
                </a:solidFill>
              </a:rPr>
              <a:t>001</a:t>
            </a:r>
            <a:endParaRPr lang="en-US" sz="1600" dirty="0"/>
          </a:p>
        </p:txBody>
      </p:sp>
      <p:sp>
        <p:nvSpPr>
          <p:cNvPr id="16" name="Text 12"/>
          <p:cNvSpPr txBox="1"/>
          <p:nvPr/>
        </p:nvSpPr>
        <p:spPr>
          <a:xfrm>
            <a:off x="3657600" y="2670048"/>
            <a:ext cx="7982712" cy="274320"/>
          </a:xfrm>
          <a:prstGeom prst="rect">
            <a:avLst/>
          </a:prstGeom>
          <a:noFill/>
          <a:ln/>
        </p:spPr>
        <p:txBody>
          <a:bodyPr wrap="square" lIns="0" tIns="0" rIns="0" bIns="0" rtlCol="0" anchor="t"/>
          <a:lstStyle/>
          <a:p>
            <a:pPr algn="l" indent="0" marL="0">
              <a:buNone/>
            </a:pPr>
            <a:r>
              <a:rPr lang="en-US" sz="1200" dirty="0">
                <a:solidFill>
                  <a:srgbClr val="5B6B73"/>
                </a:solidFill>
              </a:rPr>
              <a:t>Every fish GRS reads carries one of these row histories. MY2025: 72,791 histories, 3,785 of them wild.</a:t>
            </a:r>
            <a:endParaRPr lang="en-US" sz="1200" dirty="0"/>
          </a:p>
        </p:txBody>
      </p:sp>
      <p:sp>
        <p:nvSpPr>
          <p:cNvPr id="17" name="Text 13"/>
          <p:cNvSpPr txBox="1"/>
          <p:nvPr/>
        </p:nvSpPr>
        <p:spPr>
          <a:xfrm>
            <a:off x="3657600" y="3017520"/>
            <a:ext cx="7982712" cy="731520"/>
          </a:xfrm>
          <a:prstGeom prst="rect">
            <a:avLst/>
          </a:prstGeom>
          <a:noFill/>
          <a:ln/>
        </p:spPr>
        <p:txBody>
          <a:bodyPr wrap="square" lIns="0" tIns="0" rIns="0" bIns="0" rtlCol="0" anchor="t"/>
          <a:lstStyle/>
          <a:p>
            <a:pPr algn="l" indent="0" marL="0">
              <a:buNone/>
            </a:pPr>
            <a:r>
              <a:rPr lang="en-US" sz="1400" dirty="0">
                <a:solidFill>
                  <a:schemeClr val="tx1"/>
                </a:solidFill>
              </a:rPr>
              <a:t>Same logic as Lincoln-Petersen: of the fish row 2 read, the share row 1 also read estimates row 1's detection (BPA Ch. 6, Model Mt). </a:t>
            </a:r>
            <a:pPr algn="l" indent="0" marL="0">
              <a:buNone/>
            </a:pPr>
            <a:r>
              <a:rPr lang="en-US" sz="1400" dirty="0">
                <a:solidFill>
                  <a:srgbClr val="5B6B73"/>
                </a:solidFill>
              </a:rPr>
              <a:t>It assumes every fish is equally readable. Fish one row struggles with are probably hard for all three, which would make the array look better than it is.</a:t>
            </a:r>
            <a:endParaRPr lang="en-US" sz="1400" dirty="0"/>
          </a:p>
        </p:txBody>
      </p:sp>
      <p:sp>
        <p:nvSpPr>
          <p:cNvPr id="18" name="Text 14"/>
          <p:cNvSpPr txBox="1"/>
          <p:nvPr/>
        </p:nvSpPr>
        <p:spPr>
          <a:xfrm>
            <a:off x="5257800" y="3767328"/>
            <a:ext cx="3657600" cy="228600"/>
          </a:xfrm>
          <a:prstGeom prst="rect">
            <a:avLst/>
          </a:prstGeom>
          <a:noFill/>
          <a:ln/>
        </p:spPr>
        <p:txBody>
          <a:bodyPr wrap="square" lIns="0" tIns="0" rIns="0" bIns="0" rtlCol="0" anchor="t"/>
          <a:lstStyle/>
          <a:p>
            <a:pPr algn="l" indent="0" marL="0">
              <a:buNone/>
            </a:pPr>
            <a:r>
              <a:rPr lang="en-US" sz="1000" b="1" spc="100" kern="0" dirty="0">
                <a:solidFill>
                  <a:srgbClr val="5B6B73"/>
                </a:solidFill>
              </a:rPr>
              <a:t>SHARE OF WILD FISH READ</a:t>
            </a:r>
            <a:endParaRPr lang="en-US" sz="1000" dirty="0"/>
          </a:p>
        </p:txBody>
      </p:sp>
      <p:sp>
        <p:nvSpPr>
          <p:cNvPr id="19" name="Text 15"/>
          <p:cNvSpPr txBox="1"/>
          <p:nvPr/>
        </p:nvSpPr>
        <p:spPr>
          <a:xfrm>
            <a:off x="9692640" y="3767328"/>
            <a:ext cx="1947672" cy="228600"/>
          </a:xfrm>
          <a:prstGeom prst="rect">
            <a:avLst/>
          </a:prstGeom>
          <a:noFill/>
          <a:ln/>
        </p:spPr>
        <p:txBody>
          <a:bodyPr wrap="square" lIns="0" tIns="0" rIns="0" bIns="0" rtlCol="0" anchor="t"/>
          <a:lstStyle/>
          <a:p>
            <a:pPr algn="l" indent="0" marL="0">
              <a:buNone/>
            </a:pPr>
            <a:r>
              <a:rPr lang="en-US" sz="1000" b="1" spc="100" kern="0" dirty="0">
                <a:solidFill>
                  <a:srgbClr val="5B6B73"/>
                </a:solidFill>
              </a:rPr>
              <a:t>MISSED BY EVERY ROW SO FAR</a:t>
            </a:r>
            <a:endParaRPr lang="en-US" sz="1000" dirty="0"/>
          </a:p>
        </p:txBody>
      </p:sp>
      <p:sp>
        <p:nvSpPr>
          <p:cNvPr id="20" name="Text 16"/>
          <p:cNvSpPr txBox="1"/>
          <p:nvPr/>
        </p:nvSpPr>
        <p:spPr>
          <a:xfrm>
            <a:off x="3657600" y="4041648"/>
            <a:ext cx="1554480" cy="347472"/>
          </a:xfrm>
          <a:prstGeom prst="rect">
            <a:avLst/>
          </a:prstGeom>
          <a:noFill/>
          <a:ln/>
        </p:spPr>
        <p:txBody>
          <a:bodyPr wrap="square" lIns="0" tIns="0" rIns="0" bIns="0" rtlCol="0" anchor="ctr"/>
          <a:lstStyle/>
          <a:p>
            <a:pPr algn="l" indent="0" marL="0">
              <a:buNone/>
            </a:pPr>
            <a:r>
              <a:rPr lang="en-US" sz="1300" b="1" dirty="0">
                <a:solidFill>
                  <a:schemeClr val="tx2"/>
                </a:solidFill>
              </a:rPr>
              <a:t>Row 1</a:t>
            </a:r>
            <a:endParaRPr lang="en-US" sz="1300" dirty="0"/>
          </a:p>
        </p:txBody>
      </p:sp>
      <p:sp>
        <p:nvSpPr>
          <p:cNvPr id="21" name="Shape 17"/>
          <p:cNvSpPr/>
          <p:nvPr/>
        </p:nvSpPr>
        <p:spPr>
          <a:xfrm>
            <a:off x="5257800" y="4096512"/>
            <a:ext cx="3566160" cy="237744"/>
          </a:xfrm>
          <a:prstGeom prst="rect">
            <a:avLst/>
          </a:prstGeom>
          <a:solidFill>
            <a:srgbClr val="EEF0F1"/>
          </a:solidFill>
          <a:ln/>
        </p:spPr>
      </p:sp>
      <p:sp>
        <p:nvSpPr>
          <p:cNvPr id="22" name="Shape 18"/>
          <p:cNvSpPr/>
          <p:nvPr/>
        </p:nvSpPr>
        <p:spPr>
          <a:xfrm>
            <a:off x="5257800" y="4096512"/>
            <a:ext cx="2289475" cy="237744"/>
          </a:xfrm>
          <a:prstGeom prst="rect">
            <a:avLst/>
          </a:prstGeom>
          <a:solidFill>
            <a:schemeClr val="accent2"/>
          </a:solidFill>
          <a:ln/>
        </p:spPr>
      </p:sp>
      <p:sp>
        <p:nvSpPr>
          <p:cNvPr id="23" name="Text 19"/>
          <p:cNvSpPr txBox="1"/>
          <p:nvPr/>
        </p:nvSpPr>
        <p:spPr>
          <a:xfrm>
            <a:off x="8915400" y="4041648"/>
            <a:ext cx="731520" cy="347472"/>
          </a:xfrm>
          <a:prstGeom prst="rect">
            <a:avLst/>
          </a:prstGeom>
          <a:noFill/>
          <a:ln/>
        </p:spPr>
        <p:txBody>
          <a:bodyPr wrap="square" lIns="0" tIns="0" rIns="0" bIns="0" rtlCol="0" anchor="ctr"/>
          <a:lstStyle/>
          <a:p>
            <a:pPr algn="l" indent="0" marL="0">
              <a:buNone/>
            </a:pPr>
            <a:r>
              <a:rPr lang="en-US" sz="1500" b="1" dirty="0">
                <a:solidFill>
                  <a:schemeClr val="accent2"/>
                </a:solidFill>
              </a:rPr>
              <a:t>64%</a:t>
            </a:r>
            <a:endParaRPr lang="en-US" sz="1500" dirty="0"/>
          </a:p>
        </p:txBody>
      </p:sp>
      <p:sp>
        <p:nvSpPr>
          <p:cNvPr id="24" name="Text 20"/>
          <p:cNvSpPr txBox="1"/>
          <p:nvPr/>
        </p:nvSpPr>
        <p:spPr>
          <a:xfrm>
            <a:off x="9692640" y="4041648"/>
            <a:ext cx="1947672" cy="347472"/>
          </a:xfrm>
          <a:prstGeom prst="rect">
            <a:avLst/>
          </a:prstGeom>
          <a:noFill/>
          <a:ln/>
        </p:spPr>
        <p:txBody>
          <a:bodyPr wrap="square" lIns="0" tIns="0" rIns="0" bIns="0" rtlCol="0" anchor="ctr"/>
          <a:lstStyle/>
          <a:p>
            <a:pPr algn="l" indent="0" marL="0">
              <a:buNone/>
            </a:pPr>
            <a:r>
              <a:rPr lang="en-US" sz="1250" dirty="0">
                <a:solidFill>
                  <a:schemeClr val="tx1"/>
                </a:solidFill>
              </a:rPr>
              <a:t>36%</a:t>
            </a:r>
            <a:endParaRPr lang="en-US" sz="1250" dirty="0"/>
          </a:p>
        </p:txBody>
      </p:sp>
      <p:sp>
        <p:nvSpPr>
          <p:cNvPr id="25" name="Text 21"/>
          <p:cNvSpPr txBox="1"/>
          <p:nvPr/>
        </p:nvSpPr>
        <p:spPr>
          <a:xfrm>
            <a:off x="3657600" y="4498848"/>
            <a:ext cx="1554480" cy="347472"/>
          </a:xfrm>
          <a:prstGeom prst="rect">
            <a:avLst/>
          </a:prstGeom>
          <a:noFill/>
          <a:ln/>
        </p:spPr>
        <p:txBody>
          <a:bodyPr wrap="square" lIns="0" tIns="0" rIns="0" bIns="0" rtlCol="0" anchor="ctr"/>
          <a:lstStyle/>
          <a:p>
            <a:pPr algn="l" indent="0" marL="0">
              <a:buNone/>
            </a:pPr>
            <a:r>
              <a:rPr lang="en-US" sz="1300" b="1" dirty="0">
                <a:solidFill>
                  <a:schemeClr val="tx2"/>
                </a:solidFill>
              </a:rPr>
              <a:t>Rows 1 and 2</a:t>
            </a:r>
            <a:endParaRPr lang="en-US" sz="1300" dirty="0"/>
          </a:p>
        </p:txBody>
      </p:sp>
      <p:sp>
        <p:nvSpPr>
          <p:cNvPr id="26" name="Shape 22"/>
          <p:cNvSpPr/>
          <p:nvPr/>
        </p:nvSpPr>
        <p:spPr>
          <a:xfrm>
            <a:off x="5257800" y="4553712"/>
            <a:ext cx="3566160" cy="237744"/>
          </a:xfrm>
          <a:prstGeom prst="rect">
            <a:avLst/>
          </a:prstGeom>
          <a:solidFill>
            <a:srgbClr val="EEF0F1"/>
          </a:solidFill>
          <a:ln/>
        </p:spPr>
      </p:sp>
      <p:sp>
        <p:nvSpPr>
          <p:cNvPr id="27" name="Shape 23"/>
          <p:cNvSpPr/>
          <p:nvPr/>
        </p:nvSpPr>
        <p:spPr>
          <a:xfrm>
            <a:off x="5257800" y="4553712"/>
            <a:ext cx="3066898" cy="237744"/>
          </a:xfrm>
          <a:prstGeom prst="rect">
            <a:avLst/>
          </a:prstGeom>
          <a:solidFill>
            <a:schemeClr val="accent2"/>
          </a:solidFill>
          <a:ln/>
        </p:spPr>
      </p:sp>
      <p:sp>
        <p:nvSpPr>
          <p:cNvPr id="28" name="Text 24"/>
          <p:cNvSpPr txBox="1"/>
          <p:nvPr/>
        </p:nvSpPr>
        <p:spPr>
          <a:xfrm>
            <a:off x="8915400" y="4498848"/>
            <a:ext cx="731520" cy="347472"/>
          </a:xfrm>
          <a:prstGeom prst="rect">
            <a:avLst/>
          </a:prstGeom>
          <a:noFill/>
          <a:ln/>
        </p:spPr>
        <p:txBody>
          <a:bodyPr wrap="square" lIns="0" tIns="0" rIns="0" bIns="0" rtlCol="0" anchor="ctr"/>
          <a:lstStyle/>
          <a:p>
            <a:pPr algn="l" indent="0" marL="0">
              <a:buNone/>
            </a:pPr>
            <a:r>
              <a:rPr lang="en-US" sz="1500" b="1" dirty="0">
                <a:solidFill>
                  <a:schemeClr val="accent2"/>
                </a:solidFill>
              </a:rPr>
              <a:t>86%</a:t>
            </a:r>
            <a:endParaRPr lang="en-US" sz="1500" dirty="0"/>
          </a:p>
        </p:txBody>
      </p:sp>
      <p:sp>
        <p:nvSpPr>
          <p:cNvPr id="29" name="Text 25"/>
          <p:cNvSpPr txBox="1"/>
          <p:nvPr/>
        </p:nvSpPr>
        <p:spPr>
          <a:xfrm>
            <a:off x="9692640" y="4498848"/>
            <a:ext cx="1947672" cy="347472"/>
          </a:xfrm>
          <a:prstGeom prst="rect">
            <a:avLst/>
          </a:prstGeom>
          <a:noFill/>
          <a:ln/>
        </p:spPr>
        <p:txBody>
          <a:bodyPr wrap="square" lIns="0" tIns="0" rIns="0" bIns="0" rtlCol="0" anchor="ctr"/>
          <a:lstStyle/>
          <a:p>
            <a:pPr algn="l" indent="0" marL="0">
              <a:buNone/>
            </a:pPr>
            <a:r>
              <a:rPr lang="en-US" sz="1250" dirty="0">
                <a:solidFill>
                  <a:schemeClr val="tx1"/>
                </a:solidFill>
              </a:rPr>
              <a:t>36% × 39% = 14%</a:t>
            </a:r>
            <a:endParaRPr lang="en-US" sz="1250" dirty="0"/>
          </a:p>
        </p:txBody>
      </p:sp>
      <p:sp>
        <p:nvSpPr>
          <p:cNvPr id="30" name="Text 26"/>
          <p:cNvSpPr txBox="1"/>
          <p:nvPr/>
        </p:nvSpPr>
        <p:spPr>
          <a:xfrm>
            <a:off x="3657600" y="4956048"/>
            <a:ext cx="1554480" cy="347472"/>
          </a:xfrm>
          <a:prstGeom prst="rect">
            <a:avLst/>
          </a:prstGeom>
          <a:noFill/>
          <a:ln/>
        </p:spPr>
        <p:txBody>
          <a:bodyPr wrap="square" lIns="0" tIns="0" rIns="0" bIns="0" rtlCol="0" anchor="ctr"/>
          <a:lstStyle/>
          <a:p>
            <a:pPr algn="l" indent="0" marL="0">
              <a:buNone/>
            </a:pPr>
            <a:r>
              <a:rPr lang="en-US" sz="1300" b="1" dirty="0">
                <a:solidFill>
                  <a:schemeClr val="tx2"/>
                </a:solidFill>
              </a:rPr>
              <a:t>All three rows</a:t>
            </a:r>
            <a:endParaRPr lang="en-US" sz="1300" dirty="0"/>
          </a:p>
        </p:txBody>
      </p:sp>
      <p:sp>
        <p:nvSpPr>
          <p:cNvPr id="31" name="Shape 27"/>
          <p:cNvSpPr/>
          <p:nvPr/>
        </p:nvSpPr>
        <p:spPr>
          <a:xfrm>
            <a:off x="5257800" y="5010912"/>
            <a:ext cx="3566160" cy="237744"/>
          </a:xfrm>
          <a:prstGeom prst="rect">
            <a:avLst/>
          </a:prstGeom>
          <a:solidFill>
            <a:srgbClr val="EEF0F1"/>
          </a:solidFill>
          <a:ln/>
        </p:spPr>
      </p:sp>
      <p:sp>
        <p:nvSpPr>
          <p:cNvPr id="32" name="Shape 28"/>
          <p:cNvSpPr/>
          <p:nvPr/>
        </p:nvSpPr>
        <p:spPr>
          <a:xfrm>
            <a:off x="5257800" y="5010912"/>
            <a:ext cx="3330793" cy="237744"/>
          </a:xfrm>
          <a:prstGeom prst="rect">
            <a:avLst/>
          </a:prstGeom>
          <a:solidFill>
            <a:schemeClr val="accent2"/>
          </a:solidFill>
          <a:ln/>
        </p:spPr>
      </p:sp>
      <p:sp>
        <p:nvSpPr>
          <p:cNvPr id="33" name="Text 29"/>
          <p:cNvSpPr txBox="1"/>
          <p:nvPr/>
        </p:nvSpPr>
        <p:spPr>
          <a:xfrm>
            <a:off x="8915400" y="4956048"/>
            <a:ext cx="731520" cy="347472"/>
          </a:xfrm>
          <a:prstGeom prst="rect">
            <a:avLst/>
          </a:prstGeom>
          <a:noFill/>
          <a:ln/>
        </p:spPr>
        <p:txBody>
          <a:bodyPr wrap="square" lIns="0" tIns="0" rIns="0" bIns="0" rtlCol="0" anchor="ctr"/>
          <a:lstStyle/>
          <a:p>
            <a:pPr algn="l" indent="0" marL="0">
              <a:buNone/>
            </a:pPr>
            <a:r>
              <a:rPr lang="en-US" sz="1500" b="1" dirty="0">
                <a:solidFill>
                  <a:schemeClr val="accent2"/>
                </a:solidFill>
              </a:rPr>
              <a:t>93%</a:t>
            </a:r>
            <a:endParaRPr lang="en-US" sz="1500" dirty="0"/>
          </a:p>
        </p:txBody>
      </p:sp>
      <p:sp>
        <p:nvSpPr>
          <p:cNvPr id="34" name="Text 30"/>
          <p:cNvSpPr txBox="1"/>
          <p:nvPr/>
        </p:nvSpPr>
        <p:spPr>
          <a:xfrm>
            <a:off x="9692640" y="4956048"/>
            <a:ext cx="1947672" cy="347472"/>
          </a:xfrm>
          <a:prstGeom prst="rect">
            <a:avLst/>
          </a:prstGeom>
          <a:noFill/>
          <a:ln/>
        </p:spPr>
        <p:txBody>
          <a:bodyPr wrap="square" lIns="0" tIns="0" rIns="0" bIns="0" rtlCol="0" anchor="ctr"/>
          <a:lstStyle/>
          <a:p>
            <a:pPr algn="l" indent="0" marL="0">
              <a:buNone/>
            </a:pPr>
            <a:r>
              <a:rPr lang="en-US" sz="1250" dirty="0">
                <a:solidFill>
                  <a:schemeClr val="tx1"/>
                </a:solidFill>
              </a:rPr>
              <a:t>14% × 47% = 6.6%</a:t>
            </a:r>
            <a:endParaRPr lang="en-US" sz="1250" dirty="0"/>
          </a:p>
        </p:txBody>
      </p:sp>
      <p:sp>
        <p:nvSpPr>
          <p:cNvPr id="35" name="Text 31"/>
          <p:cNvSpPr txBox="1"/>
          <p:nvPr/>
        </p:nvSpPr>
        <p:spPr>
          <a:xfrm>
            <a:off x="3657600" y="5413248"/>
            <a:ext cx="7982712" cy="292608"/>
          </a:xfrm>
          <a:prstGeom prst="rect">
            <a:avLst/>
          </a:prstGeom>
          <a:noFill/>
          <a:ln/>
        </p:spPr>
        <p:txBody>
          <a:bodyPr wrap="square" lIns="0" tIns="0" rIns="0" bIns="0" rtlCol="0" anchor="t"/>
          <a:lstStyle/>
          <a:p>
            <a:pPr algn="l" indent="0" marL="0">
              <a:buNone/>
            </a:pPr>
            <a:r>
              <a:rPr lang="en-US" sz="1250" dirty="0">
                <a:solidFill>
                  <a:srgbClr val="5B6B73"/>
                </a:solidFill>
              </a:rPr>
              <a:t>d = 1 - (1 - 0.64)(1 - 0.61)(1 - 0.53) = 0.93. The array misses a fish only if every row misses it.</a:t>
            </a:r>
            <a:endParaRPr lang="en-US" sz="1250" dirty="0"/>
          </a:p>
        </p:txBody>
      </p:sp>
      <p:pic>
        <p:nvPicPr>
          <p:cNvPr id="36" name="eq_ge_rows" descr="/home/claude/deck/assets/eq_ge_rows.png">    </p:cNvPr>
          <p:cNvPicPr>
            <a:picLocks noChangeAspect="1"/>
          </p:cNvPicPr>
          <p:nvPr/>
        </p:nvPicPr>
        <p:blipFill>
          <a:blip r:embed="rId2"/>
          <a:stretch>
            <a:fillRect/>
          </a:stretch>
        </p:blipFill>
        <p:spPr>
          <a:xfrm>
            <a:off x="3657600" y="5760720"/>
            <a:ext cx="2830982" cy="434035"/>
          </a:xfrm>
          <a:prstGeom prst="rect">
            <a:avLst/>
          </a:prstGeom>
        </p:spPr>
      </p:pic>
      <p:sp>
        <p:nvSpPr>
          <p:cNvPr id="37" name="Text 32"/>
          <p:cNvSpPr txBox="1"/>
          <p:nvPr/>
        </p:nvSpPr>
        <p:spPr>
          <a:xfrm>
            <a:off x="6766560" y="5742432"/>
            <a:ext cx="3657600" cy="457200"/>
          </a:xfrm>
          <a:prstGeom prst="rect">
            <a:avLst/>
          </a:prstGeom>
          <a:noFill/>
          <a:ln/>
        </p:spPr>
        <p:txBody>
          <a:bodyPr wrap="square" lIns="0" tIns="0" rIns="0" bIns="0" rtlCol="0" anchor="ctr"/>
          <a:lstStyle/>
          <a:p>
            <a:pPr algn="l" indent="0" marL="0">
              <a:buNone/>
            </a:pPr>
            <a:r>
              <a:rPr lang="en-US" sz="2200" b="1" dirty="0">
                <a:solidFill>
                  <a:schemeClr val="accent2"/>
                </a:solidFill>
              </a:rPr>
              <a:t>Barely moved.</a:t>
            </a:r>
            <a:endParaRPr lang="en-US" sz="2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More Paths: Three Places a Fish Can Be Detected</a:t>
            </a:r>
            <a:endParaRPr lang="en-US" sz="3200" dirty="0"/>
          </a:p>
        </p:txBody>
      </p:sp>
      <p:pic>
        <p:nvPicPr>
          <p:cNvPr id="5" name="lgr_detection_sites" descr="/home/claude/deck/assets/lgr_detection_sites.png">    </p:cNvPr>
          <p:cNvPicPr>
            <a:picLocks noChangeAspect="1"/>
          </p:cNvPicPr>
          <p:nvPr/>
        </p:nvPicPr>
        <p:blipFill>
          <a:blip r:embed="rId1"/>
          <a:stretch>
            <a:fillRect/>
          </a:stretch>
        </p:blipFill>
        <p:spPr>
          <a:xfrm>
            <a:off x="548640" y="1463040"/>
            <a:ext cx="7269480" cy="3677916"/>
          </a:xfrm>
          <a:prstGeom prst="rect">
            <a:avLst/>
          </a:prstGeom>
        </p:spPr>
      </p:pic>
      <p:sp>
        <p:nvSpPr>
          <p:cNvPr id="6" name="Shape 2"/>
          <p:cNvSpPr/>
          <p:nvPr/>
        </p:nvSpPr>
        <p:spPr>
          <a:xfrm>
            <a:off x="8092440" y="1463040"/>
            <a:ext cx="3547872" cy="1051560"/>
          </a:xfrm>
          <a:prstGeom prst="roundRect">
            <a:avLst>
              <a:gd name="adj" fmla="val 6957"/>
            </a:avLst>
          </a:prstGeom>
          <a:solidFill>
            <a:schemeClr val="bg2"/>
          </a:solidFill>
          <a:ln w="9525">
            <a:solidFill>
              <a:srgbClr val="D3DEE1"/>
            </a:solidFill>
            <a:prstDash val="solid"/>
          </a:ln>
        </p:spPr>
      </p:sp>
      <p:sp>
        <p:nvSpPr>
          <p:cNvPr id="7" name="Shape 3"/>
          <p:cNvSpPr/>
          <p:nvPr/>
        </p:nvSpPr>
        <p:spPr>
          <a:xfrm>
            <a:off x="8257032" y="1645920"/>
            <a:ext cx="219456" cy="219456"/>
          </a:xfrm>
          <a:prstGeom prst="ellipse">
            <a:avLst/>
          </a:prstGeom>
          <a:solidFill>
            <a:schemeClr val="accent1"/>
          </a:solidFill>
          <a:ln/>
        </p:spPr>
      </p:sp>
      <p:sp>
        <p:nvSpPr>
          <p:cNvPr id="8" name="Text 4"/>
          <p:cNvSpPr txBox="1"/>
          <p:nvPr/>
        </p:nvSpPr>
        <p:spPr>
          <a:xfrm>
            <a:off x="8595360" y="1554480"/>
            <a:ext cx="2926080" cy="365760"/>
          </a:xfrm>
          <a:prstGeom prst="rect">
            <a:avLst/>
          </a:prstGeom>
          <a:noFill/>
          <a:ln/>
        </p:spPr>
        <p:txBody>
          <a:bodyPr wrap="square" lIns="0" tIns="0" rIns="0" bIns="0" rtlCol="0" anchor="ctr"/>
          <a:lstStyle/>
          <a:p>
            <a:pPr algn="l" indent="0" marL="0">
              <a:buNone/>
            </a:pPr>
            <a:r>
              <a:rPr lang="en-US" sz="1700" b="1" dirty="0">
                <a:solidFill>
                  <a:schemeClr val="accent1"/>
                </a:solidFill>
              </a:rPr>
              <a:t>GRJ</a:t>
            </a:r>
            <a:endParaRPr lang="en-US" sz="1700" dirty="0"/>
          </a:p>
        </p:txBody>
      </p:sp>
      <p:sp>
        <p:nvSpPr>
          <p:cNvPr id="9" name="Text 5"/>
          <p:cNvSpPr txBox="1"/>
          <p:nvPr/>
        </p:nvSpPr>
        <p:spPr>
          <a:xfrm>
            <a:off x="8595360" y="1920240"/>
            <a:ext cx="2926080" cy="548640"/>
          </a:xfrm>
          <a:prstGeom prst="rect">
            <a:avLst/>
          </a:prstGeom>
          <a:noFill/>
          <a:ln/>
        </p:spPr>
        <p:txBody>
          <a:bodyPr wrap="square" lIns="0" tIns="0" rIns="0" bIns="0" rtlCol="0" anchor="t"/>
          <a:lstStyle/>
          <a:p>
            <a:pPr algn="l" indent="0" marL="0">
              <a:buNone/>
            </a:pPr>
            <a:r>
              <a:rPr lang="en-US" sz="1200" dirty="0">
                <a:solidFill>
                  <a:schemeClr val="tx1"/>
                </a:solidFill>
              </a:rPr>
              <a:t>Juvenile bypass, running since 1988. The model assumes every guided fish is seen here.</a:t>
            </a:r>
            <a:endParaRPr lang="en-US" sz="1200" dirty="0"/>
          </a:p>
        </p:txBody>
      </p:sp>
      <p:sp>
        <p:nvSpPr>
          <p:cNvPr id="10" name="Shape 6"/>
          <p:cNvSpPr/>
          <p:nvPr/>
        </p:nvSpPr>
        <p:spPr>
          <a:xfrm>
            <a:off x="8092440" y="2651760"/>
            <a:ext cx="3547872" cy="1051560"/>
          </a:xfrm>
          <a:prstGeom prst="roundRect">
            <a:avLst>
              <a:gd name="adj" fmla="val 6957"/>
            </a:avLst>
          </a:prstGeom>
          <a:solidFill>
            <a:schemeClr val="bg2"/>
          </a:solidFill>
          <a:ln w="9525">
            <a:solidFill>
              <a:srgbClr val="D3DEE1"/>
            </a:solidFill>
            <a:prstDash val="solid"/>
          </a:ln>
        </p:spPr>
      </p:sp>
      <p:sp>
        <p:nvSpPr>
          <p:cNvPr id="11" name="Shape 7"/>
          <p:cNvSpPr/>
          <p:nvPr/>
        </p:nvSpPr>
        <p:spPr>
          <a:xfrm>
            <a:off x="8257032" y="2834640"/>
            <a:ext cx="219456" cy="219456"/>
          </a:xfrm>
          <a:prstGeom prst="ellipse">
            <a:avLst/>
          </a:prstGeom>
          <a:solidFill>
            <a:schemeClr val="accent2"/>
          </a:solidFill>
          <a:ln/>
        </p:spPr>
      </p:sp>
      <p:sp>
        <p:nvSpPr>
          <p:cNvPr id="12" name="Text 8"/>
          <p:cNvSpPr txBox="1"/>
          <p:nvPr/>
        </p:nvSpPr>
        <p:spPr>
          <a:xfrm>
            <a:off x="8595360" y="2743200"/>
            <a:ext cx="2926080" cy="365760"/>
          </a:xfrm>
          <a:prstGeom prst="rect">
            <a:avLst/>
          </a:prstGeom>
          <a:noFill/>
          <a:ln/>
        </p:spPr>
        <p:txBody>
          <a:bodyPr wrap="square" lIns="0" tIns="0" rIns="0" bIns="0" rtlCol="0" anchor="ctr"/>
          <a:lstStyle/>
          <a:p>
            <a:pPr algn="l" indent="0" marL="0">
              <a:buNone/>
            </a:pPr>
            <a:r>
              <a:rPr lang="en-US" sz="1700" b="1" dirty="0">
                <a:solidFill>
                  <a:schemeClr val="accent2"/>
                </a:solidFill>
              </a:rPr>
              <a:t>GRS</a:t>
            </a:r>
            <a:endParaRPr lang="en-US" sz="1700" dirty="0"/>
          </a:p>
        </p:txBody>
      </p:sp>
      <p:sp>
        <p:nvSpPr>
          <p:cNvPr id="13" name="Text 9"/>
          <p:cNvSpPr txBox="1"/>
          <p:nvPr/>
        </p:nvSpPr>
        <p:spPr>
          <a:xfrm>
            <a:off x="8595360" y="3108960"/>
            <a:ext cx="2926080" cy="548640"/>
          </a:xfrm>
          <a:prstGeom prst="rect">
            <a:avLst/>
          </a:prstGeom>
          <a:noFill/>
          <a:ln/>
        </p:spPr>
        <p:txBody>
          <a:bodyPr wrap="square" lIns="0" tIns="0" rIns="0" bIns="0" rtlCol="0" anchor="t"/>
          <a:lstStyle/>
          <a:p>
            <a:pPr algn="l" indent="0" marL="0">
              <a:buNone/>
            </a:pPr>
            <a:r>
              <a:rPr lang="en-US" sz="1200" dirty="0">
                <a:solidFill>
                  <a:schemeClr val="tx1"/>
                </a:solidFill>
              </a:rPr>
              <a:t>Spillbay 1 only, since April 2020. The RSW guides surface-oriented spilled fish to bay 1.</a:t>
            </a:r>
            <a:endParaRPr lang="en-US" sz="1200" dirty="0"/>
          </a:p>
        </p:txBody>
      </p:sp>
      <p:sp>
        <p:nvSpPr>
          <p:cNvPr id="14" name="Shape 10"/>
          <p:cNvSpPr/>
          <p:nvPr/>
        </p:nvSpPr>
        <p:spPr>
          <a:xfrm>
            <a:off x="8092440" y="3840480"/>
            <a:ext cx="3547872" cy="1051560"/>
          </a:xfrm>
          <a:prstGeom prst="roundRect">
            <a:avLst>
              <a:gd name="adj" fmla="val 6957"/>
            </a:avLst>
          </a:prstGeom>
          <a:solidFill>
            <a:schemeClr val="bg2"/>
          </a:solidFill>
          <a:ln w="9525">
            <a:solidFill>
              <a:srgbClr val="D3DEE1"/>
            </a:solidFill>
            <a:prstDash val="solid"/>
          </a:ln>
        </p:spPr>
      </p:sp>
      <p:sp>
        <p:nvSpPr>
          <p:cNvPr id="15" name="Shape 11"/>
          <p:cNvSpPr/>
          <p:nvPr/>
        </p:nvSpPr>
        <p:spPr>
          <a:xfrm>
            <a:off x="8257032" y="4023360"/>
            <a:ext cx="219456" cy="219456"/>
          </a:xfrm>
          <a:prstGeom prst="ellipse">
            <a:avLst/>
          </a:prstGeom>
          <a:solidFill>
            <a:schemeClr val="accent3"/>
          </a:solidFill>
          <a:ln/>
        </p:spPr>
      </p:sp>
      <p:sp>
        <p:nvSpPr>
          <p:cNvPr id="16" name="Text 12"/>
          <p:cNvSpPr txBox="1"/>
          <p:nvPr/>
        </p:nvSpPr>
        <p:spPr>
          <a:xfrm>
            <a:off x="8595360" y="3931920"/>
            <a:ext cx="2926080" cy="365760"/>
          </a:xfrm>
          <a:prstGeom prst="rect">
            <a:avLst/>
          </a:prstGeom>
          <a:noFill/>
          <a:ln/>
        </p:spPr>
        <p:txBody>
          <a:bodyPr wrap="square" lIns="0" tIns="0" rIns="0" bIns="0" rtlCol="0" anchor="ctr"/>
          <a:lstStyle/>
          <a:p>
            <a:pPr algn="l" indent="0" marL="0">
              <a:buNone/>
            </a:pPr>
            <a:r>
              <a:rPr lang="en-US" sz="1700" b="1" dirty="0">
                <a:solidFill>
                  <a:schemeClr val="accent3"/>
                </a:solidFill>
              </a:rPr>
              <a:t>GOJ</a:t>
            </a:r>
            <a:endParaRPr lang="en-US" sz="1700" dirty="0"/>
          </a:p>
        </p:txBody>
      </p:sp>
      <p:sp>
        <p:nvSpPr>
          <p:cNvPr id="17" name="Text 13"/>
          <p:cNvSpPr txBox="1"/>
          <p:nvPr/>
        </p:nvSpPr>
        <p:spPr>
          <a:xfrm>
            <a:off x="8595360" y="4297680"/>
            <a:ext cx="2926080" cy="548640"/>
          </a:xfrm>
          <a:prstGeom prst="rect">
            <a:avLst/>
          </a:prstGeom>
          <a:noFill/>
          <a:ln/>
        </p:spPr>
        <p:txBody>
          <a:bodyPr wrap="square" lIns="0" tIns="0" rIns="0" bIns="0" rtlCol="0" anchor="t"/>
          <a:lstStyle/>
          <a:p>
            <a:pPr algn="l" indent="0" marL="0">
              <a:buNone/>
            </a:pPr>
            <a:r>
              <a:rPr lang="en-US" sz="1200" dirty="0">
                <a:solidFill>
                  <a:schemeClr val="tx1"/>
                </a:solidFill>
              </a:rPr>
              <a:t>Little Goose bypass, the next dam down. A second look at every route.</a:t>
            </a:r>
            <a:endParaRPr lang="en-US" sz="1200" dirty="0"/>
          </a:p>
        </p:txBody>
      </p:sp>
      <p:sp>
        <p:nvSpPr>
          <p:cNvPr id="18" name="Shape 14"/>
          <p:cNvSpPr/>
          <p:nvPr/>
        </p:nvSpPr>
        <p:spPr>
          <a:xfrm>
            <a:off x="548640" y="5394960"/>
            <a:ext cx="11091672" cy="914400"/>
          </a:xfrm>
          <a:prstGeom prst="roundRect">
            <a:avLst>
              <a:gd name="adj" fmla="val 8000"/>
            </a:avLst>
          </a:prstGeom>
          <a:solidFill>
            <a:schemeClr val="bg2"/>
          </a:solidFill>
          <a:ln w="9525">
            <a:solidFill>
              <a:srgbClr val="D3DEE1"/>
            </a:solidFill>
            <a:prstDash val="solid"/>
          </a:ln>
        </p:spPr>
      </p:sp>
      <p:pic>
        <p:nvPicPr>
          <p:cNvPr id="19" name="eq_pdq" descr="/home/claude/deck/assets/eq_pdq.png">    </p:cNvPr>
          <p:cNvPicPr>
            <a:picLocks noChangeAspect="1"/>
          </p:cNvPicPr>
          <p:nvPr/>
        </p:nvPicPr>
        <p:blipFill>
          <a:blip r:embed="rId2"/>
          <a:stretch>
            <a:fillRect/>
          </a:stretch>
        </p:blipFill>
        <p:spPr>
          <a:xfrm>
            <a:off x="777240" y="5641848"/>
            <a:ext cx="1069848" cy="420624"/>
          </a:xfrm>
          <a:prstGeom prst="rect">
            <a:avLst/>
          </a:prstGeom>
        </p:spPr>
      </p:pic>
      <p:sp>
        <p:nvSpPr>
          <p:cNvPr id="20" name="Text 15"/>
          <p:cNvSpPr txBox="1"/>
          <p:nvPr/>
        </p:nvSpPr>
        <p:spPr>
          <a:xfrm>
            <a:off x="2148840" y="5394960"/>
            <a:ext cx="9281160" cy="914400"/>
          </a:xfrm>
          <a:prstGeom prst="rect">
            <a:avLst/>
          </a:prstGeom>
          <a:noFill/>
          <a:ln/>
        </p:spPr>
        <p:txBody>
          <a:bodyPr wrap="square" lIns="0" tIns="0" rIns="0" bIns="0" rtlCol="0" anchor="ctr"/>
          <a:lstStyle/>
          <a:p>
            <a:pPr algn="l" indent="0" marL="0">
              <a:buNone/>
            </a:pPr>
            <a:r>
              <a:rPr lang="en-US" sz="1400" dirty="0">
                <a:solidFill>
                  <a:schemeClr val="tx1"/>
                </a:solidFill>
              </a:rPr>
              <a:t>GRS detection is two things: d, how well the array reads a fish in bay 1 (0.93, from the rows), and q, the share of nonguided fish that pass through bay 1, turbines included. The rows can't tell us q. A second look downstream can.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Step 3: Add a Downstream Site</a:t>
            </a:r>
            <a:endParaRPr lang="en-US" sz="3200" dirty="0"/>
          </a:p>
        </p:txBody>
      </p:sp>
      <p:sp>
        <p:nvSpPr>
          <p:cNvPr id="5" name="ge_tracker"/>
          <p:cNvSpPr/>
          <p:nvPr/>
        </p:nvSpPr>
        <p:spPr>
          <a:xfrm>
            <a:off x="8531352" y="621792"/>
            <a:ext cx="3108960" cy="548640"/>
          </a:xfrm>
          <a:prstGeom prst="roundRect">
            <a:avLst>
              <a:gd name="adj" fmla="val 16667"/>
            </a:avLst>
          </a:prstGeom>
          <a:solidFill>
            <a:schemeClr val="tx2"/>
          </a:solidFill>
          <a:ln/>
        </p:spPr>
        <p:txBody>
          <a:bodyPr wrap="square" lIns="0" tIns="0" rIns="0" bIns="0" rtlCol="0" anchor="ctr"/>
          <a:lstStyle/>
          <a:p>
            <a:pPr algn="ctr" indent="0" marL="0">
              <a:buNone/>
            </a:pPr>
            <a:r>
              <a:rPr lang="en-US" sz="1000" b="1" spc="100" kern="0" dirty="0">
                <a:solidFill>
                  <a:srgbClr val="9FC3CA"/>
                </a:solidFill>
              </a:rPr>
              <a:t>RUNNING GE   </a:t>
            </a:r>
            <a:pPr algn="ctr" indent="0" marL="0">
              <a:buNone/>
            </a:pPr>
            <a:r>
              <a:rPr lang="en-US" sz="1800" b="1" dirty="0">
                <a:solidFill>
                  <a:srgbClr val="CFE0E4"/>
                </a:solidFill>
              </a:rPr>
              <a:t>0.12</a:t>
            </a:r>
            <a:pPr algn="ctr" indent="0" marL="0">
              <a:buNone/>
            </a:pPr>
            <a:r>
              <a:rPr lang="en-US" sz="1400" dirty="0">
                <a:solidFill>
                  <a:srgbClr val="9FC3CA"/>
                </a:solidFill>
              </a:rPr>
              <a:t>  →  </a:t>
            </a:r>
            <a:pPr algn="ctr" indent="0" marL="0">
              <a:buNone/>
            </a:pPr>
            <a:r>
              <a:rPr lang="en-US" sz="1800" b="1" dirty="0">
                <a:solidFill>
                  <a:srgbClr val="CFE0E4"/>
                </a:solidFill>
              </a:rPr>
              <a:t>0.11</a:t>
            </a:r>
            <a:pPr algn="ctr" indent="0" marL="0">
              <a:buNone/>
            </a:pPr>
            <a:r>
              <a:rPr lang="en-US" sz="1400" dirty="0">
                <a:solidFill>
                  <a:srgbClr val="9FC3CA"/>
                </a:solidFill>
              </a:rPr>
              <a:t>  →  </a:t>
            </a:r>
            <a:pPr algn="ctr" indent="0" marL="0">
              <a:buNone/>
            </a:pPr>
            <a:r>
              <a:rPr lang="en-US" sz="1800" b="1" dirty="0">
                <a:solidFill>
                  <a:srgbClr val="F2C14E"/>
                </a:solidFill>
              </a:rPr>
              <a:t>0.05</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86400" cy="914400"/>
        </p:xfrm>
        <a:graphic>
          <a:graphicData uri="http://schemas.openxmlformats.org/drawingml/2006/table">
            <a:tbl>
              <a:tblPr/>
              <a:tblGrid>
                <a:gridCol w="777240"/>
                <a:gridCol w="1691640"/>
                <a:gridCol w="3017520"/>
              </a:tblGrid>
              <a:tr h="365760">
                <a:tc>
                  <a:txBody>
                    <a:bodyPr/>
                    <a:lstStyle/>
                    <a:p>
                      <a:pPr indent="0" marL="0">
                        <a:buNone/>
                      </a:pPr>
                      <a:r>
                        <a:rPr lang="en-US" sz="1400" b="1" dirty="0">
                          <a:solidFill>
                            <a:srgbClr val="FFFFFF"/>
                          </a:solidFill>
                        </a:rPr>
                        <a:t>Cell</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indent="0" marL="0">
                        <a:buNone/>
                      </a:pPr>
                      <a:r>
                        <a:rPr lang="en-US" sz="1400" b="1" dirty="0">
                          <a:solidFill>
                            <a:srgbClr val="FFFFFF"/>
                          </a:solidFill>
                        </a:rPr>
                        <a:t>Detected at</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indent="0" marL="0">
                        <a:buNone/>
                      </a:pPr>
                      <a:r>
                        <a:rPr lang="en-US" sz="1400" b="1" dirty="0">
                          <a:solidFill>
                            <a:srgbClr val="FFFFFF"/>
                          </a:solidFill>
                        </a:rPr>
                        <a:t>Probability</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r>
              <a:tr h="365760">
                <a:tc>
                  <a:txBody>
                    <a:bodyPr/>
                    <a:lstStyle/>
                    <a:p>
                      <a:pPr indent="0" marL="0">
                        <a:buNone/>
                      </a:pPr>
                      <a:r>
                        <a:rPr lang="en-US" sz="1400" b="1" dirty="0">
                          <a:solidFill>
                            <a:srgbClr val="2A78D6"/>
                          </a:solidFill>
                        </a:rPr>
                        <a:t>c1</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GRJ only</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ψ(1 - 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65760">
                <a:tc>
                  <a:txBody>
                    <a:bodyPr/>
                    <a:lstStyle/>
                    <a:p>
                      <a:pPr indent="0" marL="0">
                        <a:buNone/>
                      </a:pPr>
                      <a:r>
                        <a:rPr lang="en-US" sz="1400" b="1" dirty="0">
                          <a:solidFill>
                            <a:srgbClr val="2A78D6"/>
                          </a:solidFill>
                        </a:rPr>
                        <a:t>c2</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GRJ and GOJ</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ψφ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65760">
                <a:tc>
                  <a:txBody>
                    <a:bodyPr/>
                    <a:lstStyle/>
                    <a:p>
                      <a:pPr indent="0" marL="0">
                        <a:buNone/>
                      </a:pPr>
                      <a:r>
                        <a:rPr lang="en-US" sz="1400" b="1" dirty="0">
                          <a:solidFill>
                            <a:srgbClr val="B97D08"/>
                          </a:solidFill>
                        </a:rPr>
                        <a:t>c3</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GRS only</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(1 - ψ) p (1 - 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65760">
                <a:tc>
                  <a:txBody>
                    <a:bodyPr/>
                    <a:lstStyle/>
                    <a:p>
                      <a:pPr indent="0" marL="0">
                        <a:buNone/>
                      </a:pPr>
                      <a:r>
                        <a:rPr lang="en-US" sz="1400" b="1" dirty="0">
                          <a:solidFill>
                            <a:srgbClr val="B97D08"/>
                          </a:solidFill>
                        </a:rPr>
                        <a:t>c4</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GRS and GOJ</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(1 - ψ) p 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65760">
                <a:tc>
                  <a:txBody>
                    <a:bodyPr/>
                    <a:lstStyle/>
                    <a:p>
                      <a:pPr indent="0" marL="0">
                        <a:buNone/>
                      </a:pPr>
                      <a:r>
                        <a:rPr lang="en-US" sz="1400" b="1" dirty="0">
                          <a:solidFill>
                            <a:srgbClr val="CC4F3A"/>
                          </a:solidFill>
                        </a:rPr>
                        <a:t>c5</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GOJ only</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(1 - ψ)(1 - p) 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65760">
                <a:tc>
                  <a:txBody>
                    <a:bodyPr/>
                    <a:lstStyle/>
                    <a:p>
                      <a:pPr indent="0" marL="0">
                        <a:buNone/>
                      </a:pPr>
                      <a:r>
                        <a:rPr lang="en-US" sz="1400" b="1" dirty="0">
                          <a:solidFill>
                            <a:srgbClr val="8A949A"/>
                          </a:solidFill>
                        </a:rPr>
                        <a:t>none</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dirty="0">
                          <a:solidFill>
                            <a:srgbClr val="1B2A33"/>
                          </a:solidFill>
                        </a:rPr>
                        <a:t>Nowhere</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400" i="1" dirty="0">
                          <a:solidFill>
                            <a:srgbClr val="1B2A33"/>
                          </a:solidFill>
                        </a:rPr>
                        <a:t>(1 - ψ)(1 - p)(1 - φ)</a:t>
                      </a:r>
                      <a:endParaRPr lang="en-US" sz="1400" dirty="0"/>
                    </a:p>
                  </a:txBody>
                  <a:tcPr marL="109728" marR="109728"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bl>
          </a:graphicData>
        </a:graphic>
      </p:graphicFrame>
      <p:sp>
        <p:nvSpPr>
          <p:cNvPr id="7" name="Shape 3"/>
          <p:cNvSpPr/>
          <p:nvPr/>
        </p:nvSpPr>
        <p:spPr>
          <a:xfrm>
            <a:off x="6355080" y="4041648"/>
            <a:ext cx="5285232" cy="603504"/>
          </a:xfrm>
          <a:prstGeom prst="roundRect">
            <a:avLst>
              <a:gd name="adj" fmla="val 12121"/>
            </a:avLst>
          </a:prstGeom>
          <a:solidFill>
            <a:srgbClr val="F4F6F7"/>
          </a:solidFill>
          <a:ln w="9525">
            <a:solidFill>
              <a:srgbClr val="D3DEE1"/>
            </a:solidFill>
            <a:prstDash val="solid"/>
          </a:ln>
        </p:spPr>
      </p:sp>
      <p:sp>
        <p:nvSpPr>
          <p:cNvPr id="8" name="jags_condition"/>
          <p:cNvSpPr txBox="1"/>
          <p:nvPr/>
        </p:nvSpPr>
        <p:spPr>
          <a:xfrm>
            <a:off x="6446520" y="4087368"/>
            <a:ext cx="5120640" cy="512064"/>
          </a:xfrm>
          <a:prstGeom prst="rect">
            <a:avLst/>
          </a:prstGeom>
          <a:noFill/>
          <a:ln/>
        </p:spPr>
        <p:txBody>
          <a:bodyPr wrap="square" lIns="0" tIns="0" rIns="0" bIns="0" rtlCol="0" anchor="ctr"/>
          <a:lstStyle/>
          <a:p>
            <a:pPr indent="0" marL="0">
              <a:buNone/>
            </a:pPr>
            <a:r>
              <a:rPr lang="en-US" sz="950" i="1" dirty="0">
                <a:solidFill>
                  <a:srgbClr val="1F6F78"/>
                </a:solidFill>
                <a:latin typeface="Courier New" pitchFamily="34" charset="0"/>
                <a:ea typeface="Courier New" pitchFamily="34" charset="-122"/>
                <a:cs typeface="Courier New" pitchFamily="34" charset="-120"/>
              </a:rPr>
              <a:t># condition on being detected: only fish we can see</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p_seen[r,s] &lt;- sum(pi_raw[r,s,1:5])</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for (cc in 1:5) { pi_obs[r,s,cc] &lt;- pi_raw[r,s,cc] / p_seen[r,s] }</a:t>
            </a:r>
            <a:endParaRPr lang="en-US" sz="950" dirty="0"/>
          </a:p>
        </p:txBody>
      </p:sp>
      <p:sp>
        <p:nvSpPr>
          <p:cNvPr id="9" name="Text 5"/>
          <p:cNvSpPr txBox="1"/>
          <p:nvPr/>
        </p:nvSpPr>
        <p:spPr>
          <a:xfrm>
            <a:off x="6355080" y="4681728"/>
            <a:ext cx="5285232" cy="274320"/>
          </a:xfrm>
          <a:prstGeom prst="rect">
            <a:avLst/>
          </a:prstGeom>
          <a:noFill/>
          <a:ln/>
        </p:spPr>
        <p:txBody>
          <a:bodyPr wrap="square" lIns="0" tIns="0" rIns="0" bIns="0" rtlCol="0" anchor="t"/>
          <a:lstStyle/>
          <a:p>
            <a:pPr algn="l" indent="0" marL="0">
              <a:buNone/>
            </a:pPr>
            <a:r>
              <a:rPr lang="en-US" sz="1250" b="1" dirty="0">
                <a:solidFill>
                  <a:schemeClr val="tx2"/>
                </a:solidFill>
              </a:rPr>
              <a:t>The likelihood only deals with fish we can detect; never-detected fish drop out.</a:t>
            </a:r>
            <a:endParaRPr lang="en-US" sz="1250" dirty="0"/>
          </a:p>
        </p:txBody>
      </p:sp>
      <p:sp>
        <p:nvSpPr>
          <p:cNvPr id="10" name="Text 6"/>
          <p:cNvSpPr txBox="1"/>
          <p:nvPr/>
        </p:nvSpPr>
        <p:spPr>
          <a:xfrm>
            <a:off x="548640" y="4251960"/>
            <a:ext cx="5486400" cy="457200"/>
          </a:xfrm>
          <a:prstGeom prst="rect">
            <a:avLst/>
          </a:prstGeom>
          <a:noFill/>
          <a:ln/>
        </p:spPr>
        <p:txBody>
          <a:bodyPr wrap="square" lIns="0" tIns="0" rIns="0" bIns="0" rtlCol="0" anchor="t"/>
          <a:lstStyle/>
          <a:p>
            <a:pPr algn="l" indent="0" marL="0">
              <a:buNone/>
            </a:pPr>
            <a:r>
              <a:rPr lang="en-US" sz="1400" dirty="0">
                <a:solidFill>
                  <a:schemeClr val="tx1"/>
                </a:solidFill>
              </a:rPr>
              <a:t>c4 and c5 skipped the bypass and were both detected at GOJ. They differ only in whether GRS read them, so GOJ recovery cancels:</a:t>
            </a:r>
            <a:endParaRPr lang="en-US" sz="1400" dirty="0"/>
          </a:p>
        </p:txBody>
      </p:sp>
      <p:pic>
        <p:nvPicPr>
          <p:cNvPr id="11" name="eq_phat" descr="/home/claude/deck/assets/eq_phat.png">    </p:cNvPr>
          <p:cNvPicPr>
            <a:picLocks noChangeAspect="1"/>
          </p:cNvPicPr>
          <p:nvPr/>
        </p:nvPicPr>
        <p:blipFill>
          <a:blip r:embed="rId1"/>
          <a:stretch>
            <a:fillRect/>
          </a:stretch>
        </p:blipFill>
        <p:spPr>
          <a:xfrm>
            <a:off x="548640" y="4846320"/>
            <a:ext cx="3234385" cy="437236"/>
          </a:xfrm>
          <a:prstGeom prst="rect">
            <a:avLst/>
          </a:prstGeom>
        </p:spPr>
      </p:pic>
      <p:sp>
        <p:nvSpPr>
          <p:cNvPr id="12" name="Text 7"/>
          <p:cNvSpPr txBox="1"/>
          <p:nvPr/>
        </p:nvSpPr>
        <p:spPr>
          <a:xfrm>
            <a:off x="548640" y="5532120"/>
            <a:ext cx="5486400" cy="594360"/>
          </a:xfrm>
          <a:prstGeom prst="rect">
            <a:avLst/>
          </a:prstGeom>
          <a:noFill/>
          <a:ln/>
        </p:spPr>
        <p:txBody>
          <a:bodyPr wrap="square" lIns="0" tIns="0" rIns="0" bIns="0" rtlCol="0" anchor="t"/>
          <a:lstStyle/>
          <a:p>
            <a:pPr algn="l" indent="0" marL="0">
              <a:buNone/>
            </a:pPr>
            <a:r>
              <a:rPr lang="en-US" sz="1400" b="1" dirty="0">
                <a:solidFill>
                  <a:schemeClr val="accent5"/>
                </a:solidFill>
              </a:rPr>
              <a:t>Lincoln-Petersen logic: GOJ is a second sample.</a:t>
            </a:r>
            <a:endParaRPr lang="en-US" sz="1400" dirty="0"/>
          </a:p>
          <a:p>
            <a:pPr algn="l" indent="0" marL="0">
              <a:buNone/>
            </a:pPr>
            <a:r>
              <a:rPr lang="en-US" sz="1400" dirty="0">
                <a:solidFill>
                  <a:schemeClr val="tx1"/>
                </a:solidFill>
              </a:rPr>
              <a:t>It assumes GRS-read and GRS-missed fish survive to and are detected at GOJ at the same rate.</a:t>
            </a:r>
            <a:endParaRPr lang="en-US" sz="1400" dirty="0"/>
          </a:p>
        </p:txBody>
      </p:sp>
      <p:pic>
        <p:nvPicPr>
          <p:cNvPr id="13" name="tree_stage2" descr="/home/claude/deck/assets/tree_stage2.png">    </p:cNvPr>
          <p:cNvPicPr>
            <a:picLocks noChangeAspect="1"/>
          </p:cNvPicPr>
          <p:nvPr/>
        </p:nvPicPr>
        <p:blipFill>
          <a:blip r:embed="rId2"/>
          <a:stretch>
            <a:fillRect/>
          </a:stretch>
        </p:blipFill>
        <p:spPr>
          <a:xfrm>
            <a:off x="6840028" y="1463040"/>
            <a:ext cx="4315336" cy="2468880"/>
          </a:xfrm>
          <a:prstGeom prst="rect">
            <a:avLst/>
          </a:prstGeom>
        </p:spPr>
      </p:pic>
      <p:pic>
        <p:nvPicPr>
          <p:cNvPr id="14" name="eq_ge_goj" descr="/home/claude/deck/assets/eq_ge_goj.png">    </p:cNvPr>
          <p:cNvPicPr>
            <a:picLocks noChangeAspect="1"/>
          </p:cNvPicPr>
          <p:nvPr/>
        </p:nvPicPr>
        <p:blipFill>
          <a:blip r:embed="rId3"/>
          <a:stretch>
            <a:fillRect/>
          </a:stretch>
        </p:blipFill>
        <p:spPr>
          <a:xfrm>
            <a:off x="6355080" y="5138928"/>
            <a:ext cx="2917241" cy="461162"/>
          </a:xfrm>
          <a:prstGeom prst="rect">
            <a:avLst/>
          </a:prstGeom>
        </p:spPr>
      </p:pic>
      <p:sp>
        <p:nvSpPr>
          <p:cNvPr id="15" name="Text 8"/>
          <p:cNvSpPr txBox="1"/>
          <p:nvPr/>
        </p:nvSpPr>
        <p:spPr>
          <a:xfrm>
            <a:off x="6355080" y="5669280"/>
            <a:ext cx="5285232" cy="822960"/>
          </a:xfrm>
          <a:prstGeom prst="rect">
            <a:avLst/>
          </a:prstGeom>
          <a:noFill/>
          <a:ln/>
        </p:spPr>
        <p:txBody>
          <a:bodyPr wrap="square" lIns="0" tIns="0" rIns="0" bIns="0" rtlCol="0" anchor="t"/>
          <a:lstStyle/>
          <a:p>
            <a:pPr algn="l" indent="0" marL="0">
              <a:buNone/>
            </a:pPr>
            <a:r>
              <a:rPr lang="en-US" sz="1300" dirty="0">
                <a:solidFill>
                  <a:srgbClr val="5B6B73"/>
                </a:solidFill>
              </a:rPr>
              <a:t>MY2025 wild. With d = 0.93 from the rows, q = p / d ≈ 0.41. Route at LGR is the hidden state: a multistate model (BPA Ch. 9).</a:t>
            </a:r>
            <a:endParaRPr lang="en-US" sz="1300" dirty="0"/>
          </a:p>
        </p:txBody>
      </p:sp>
      <p:sp>
        <p:nvSpPr>
          <p:cNvPr id="16"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05_six_cell.R (section 8: what happens without GOJ)</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Step 4: Two Complications</a:t>
            </a:r>
            <a:endParaRPr lang="en-US" sz="3200" dirty="0"/>
          </a:p>
        </p:txBody>
      </p:sp>
      <p:sp>
        <p:nvSpPr>
          <p:cNvPr id="5" name="Shape 2"/>
          <p:cNvSpPr/>
          <p:nvPr/>
        </p:nvSpPr>
        <p:spPr>
          <a:xfrm>
            <a:off x="548640" y="1508760"/>
            <a:ext cx="4526280" cy="1600200"/>
          </a:xfrm>
          <a:prstGeom prst="roundRect">
            <a:avLst>
              <a:gd name="adj" fmla="val 4571"/>
            </a:avLst>
          </a:prstGeom>
          <a:solidFill>
            <a:schemeClr val="bg2"/>
          </a:solidFill>
          <a:ln w="9525">
            <a:solidFill>
              <a:srgbClr val="D3DEE1"/>
            </a:solidFill>
            <a:prstDash val="solid"/>
          </a:ln>
        </p:spPr>
      </p:sp>
      <p:sp>
        <p:nvSpPr>
          <p:cNvPr id="6" name="Text 3"/>
          <p:cNvSpPr/>
          <p:nvPr/>
        </p:nvSpPr>
        <p:spPr>
          <a:xfrm>
            <a:off x="731520" y="1664208"/>
            <a:ext cx="411480" cy="41148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280160" y="1664208"/>
            <a:ext cx="3657600" cy="411480"/>
          </a:xfrm>
          <a:prstGeom prst="rect">
            <a:avLst/>
          </a:prstGeom>
          <a:noFill/>
          <a:ln/>
        </p:spPr>
        <p:txBody>
          <a:bodyPr wrap="square" lIns="0" tIns="0" rIns="0" bIns="0" rtlCol="0" anchor="ctr"/>
          <a:lstStyle/>
          <a:p>
            <a:pPr algn="l" indent="0" marL="0">
              <a:buNone/>
            </a:pPr>
            <a:r>
              <a:rPr lang="en-US" sz="1600" b="1" dirty="0">
                <a:solidFill>
                  <a:schemeClr val="tx2"/>
                </a:solidFill>
              </a:rPr>
              <a:t>Recovery differs by route</a:t>
            </a:r>
            <a:endParaRPr lang="en-US" sz="1600" dirty="0"/>
          </a:p>
        </p:txBody>
      </p:sp>
      <p:pic>
        <p:nvPicPr>
          <p:cNvPr id="8" name="eq_phi" descr="/home/claude/deck/assets/eq_phi.png">    </p:cNvPr>
          <p:cNvPicPr>
            <a:picLocks noChangeAspect="1"/>
          </p:cNvPicPr>
          <p:nvPr/>
        </p:nvPicPr>
        <p:blipFill>
          <a:blip r:embed="rId1"/>
          <a:stretch>
            <a:fillRect/>
          </a:stretch>
        </p:blipFill>
        <p:spPr>
          <a:xfrm>
            <a:off x="1280160" y="2194560"/>
            <a:ext cx="2306726" cy="336499"/>
          </a:xfrm>
          <a:prstGeom prst="rect">
            <a:avLst/>
          </a:prstGeom>
        </p:spPr>
      </p:pic>
      <p:sp>
        <p:nvSpPr>
          <p:cNvPr id="9" name="Text 5"/>
          <p:cNvSpPr txBox="1"/>
          <p:nvPr/>
        </p:nvSpPr>
        <p:spPr>
          <a:xfrm>
            <a:off x="1280160" y="2633472"/>
            <a:ext cx="3657600" cy="411480"/>
          </a:xfrm>
          <a:prstGeom prst="rect">
            <a:avLst/>
          </a:prstGeom>
          <a:noFill/>
          <a:ln/>
        </p:spPr>
        <p:txBody>
          <a:bodyPr wrap="square" lIns="0" tIns="0" rIns="0" bIns="0" rtlCol="0" anchor="t"/>
          <a:lstStyle/>
          <a:p>
            <a:pPr algn="l" indent="0" marL="0">
              <a:buNone/>
            </a:pPr>
            <a:r>
              <a:rPr lang="en-US" sz="1250" dirty="0">
                <a:solidFill>
                  <a:srgbClr val="5B6B73"/>
                </a:solidFill>
              </a:rPr>
              <a:t>Recovery = survive to GOJ and be detected there. It differs for bypassed and spilled fish.</a:t>
            </a:r>
            <a:endParaRPr lang="en-US" sz="1250" dirty="0"/>
          </a:p>
        </p:txBody>
      </p:sp>
      <p:sp>
        <p:nvSpPr>
          <p:cNvPr id="10" name="Shape 6"/>
          <p:cNvSpPr/>
          <p:nvPr/>
        </p:nvSpPr>
        <p:spPr>
          <a:xfrm>
            <a:off x="548640" y="3291840"/>
            <a:ext cx="4526280" cy="1600200"/>
          </a:xfrm>
          <a:prstGeom prst="roundRect">
            <a:avLst>
              <a:gd name="adj" fmla="val 4571"/>
            </a:avLst>
          </a:prstGeom>
          <a:solidFill>
            <a:schemeClr val="bg2"/>
          </a:solidFill>
          <a:ln w="9525">
            <a:solidFill>
              <a:srgbClr val="D3DEE1"/>
            </a:solidFill>
            <a:prstDash val="solid"/>
          </a:ln>
        </p:spPr>
      </p:sp>
      <p:sp>
        <p:nvSpPr>
          <p:cNvPr id="11" name="Text 7"/>
          <p:cNvSpPr/>
          <p:nvPr/>
        </p:nvSpPr>
        <p:spPr>
          <a:xfrm>
            <a:off x="731520" y="3447288"/>
            <a:ext cx="411480" cy="41148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8"/>
          <p:cNvSpPr txBox="1"/>
          <p:nvPr/>
        </p:nvSpPr>
        <p:spPr>
          <a:xfrm>
            <a:off x="1280160" y="3447288"/>
            <a:ext cx="3703320" cy="411480"/>
          </a:xfrm>
          <a:prstGeom prst="rect">
            <a:avLst/>
          </a:prstGeom>
          <a:noFill/>
          <a:ln/>
        </p:spPr>
        <p:txBody>
          <a:bodyPr wrap="square" lIns="0" tIns="0" rIns="0" bIns="0" rtlCol="0" anchor="ctr"/>
          <a:lstStyle/>
          <a:p>
            <a:pPr algn="l" indent="0" marL="0">
              <a:buNone/>
            </a:pPr>
            <a:r>
              <a:rPr lang="en-US" sz="1600" b="1" dirty="0">
                <a:solidFill>
                  <a:schemeClr val="tx2"/>
                </a:solidFill>
              </a:rPr>
              <a:t>Transport: barged fish never reach GOJ</a:t>
            </a:r>
            <a:endParaRPr lang="en-US" sz="1600" dirty="0"/>
          </a:p>
        </p:txBody>
      </p:sp>
      <p:pic>
        <p:nvPicPr>
          <p:cNvPr id="13" name="eq_c6" descr="/home/claude/deck/assets/eq_c6.png">    </p:cNvPr>
          <p:cNvPicPr>
            <a:picLocks noChangeAspect="1"/>
          </p:cNvPicPr>
          <p:nvPr/>
        </p:nvPicPr>
        <p:blipFill>
          <a:blip r:embed="rId2"/>
          <a:stretch>
            <a:fillRect/>
          </a:stretch>
        </p:blipFill>
        <p:spPr>
          <a:xfrm>
            <a:off x="1280160" y="3977640"/>
            <a:ext cx="1187501" cy="338938"/>
          </a:xfrm>
          <a:prstGeom prst="rect">
            <a:avLst/>
          </a:prstGeom>
        </p:spPr>
      </p:pic>
      <p:sp>
        <p:nvSpPr>
          <p:cNvPr id="14" name="Text 9"/>
          <p:cNvSpPr txBox="1"/>
          <p:nvPr/>
        </p:nvSpPr>
        <p:spPr>
          <a:xfrm>
            <a:off x="1280160" y="4416552"/>
            <a:ext cx="3657600" cy="365760"/>
          </a:xfrm>
          <a:prstGeom prst="rect">
            <a:avLst/>
          </a:prstGeom>
          <a:noFill/>
          <a:ln/>
        </p:spPr>
        <p:txBody>
          <a:bodyPr wrap="square" lIns="0" tIns="0" rIns="0" bIns="0" rtlCol="0" anchor="t"/>
          <a:lstStyle/>
          <a:p>
            <a:pPr algn="l" indent="0" marL="0">
              <a:buNone/>
            </a:pPr>
            <a:r>
              <a:rPr lang="en-US" sz="1250" dirty="0">
                <a:solidFill>
                  <a:srgbClr val="5B6B73"/>
                </a:solidFill>
              </a:rPr>
              <a:t>A sixth cell, c6.</a:t>
            </a:r>
            <a:endParaRPr lang="en-US" sz="1250" dirty="0"/>
          </a:p>
        </p:txBody>
      </p:sp>
      <p:sp>
        <p:nvSpPr>
          <p:cNvPr id="15" name="Shape 10"/>
          <p:cNvSpPr/>
          <p:nvPr/>
        </p:nvSpPr>
        <p:spPr>
          <a:xfrm>
            <a:off x="548640" y="5074920"/>
            <a:ext cx="4526280" cy="1280160"/>
          </a:xfrm>
          <a:prstGeom prst="roundRect">
            <a:avLst>
              <a:gd name="adj" fmla="val 5714"/>
            </a:avLst>
          </a:prstGeom>
          <a:solidFill>
            <a:srgbClr val="EAE3F4"/>
          </a:solidFill>
          <a:ln/>
        </p:spPr>
      </p:sp>
      <p:sp>
        <p:nvSpPr>
          <p:cNvPr id="16" name="Text 11"/>
          <p:cNvSpPr txBox="1"/>
          <p:nvPr/>
        </p:nvSpPr>
        <p:spPr>
          <a:xfrm>
            <a:off x="731520" y="5074920"/>
            <a:ext cx="4206240" cy="1280160"/>
          </a:xfrm>
          <a:prstGeom prst="rect">
            <a:avLst/>
          </a:prstGeom>
          <a:noFill/>
          <a:ln/>
        </p:spPr>
        <p:txBody>
          <a:bodyPr wrap="square" lIns="0" tIns="0" rIns="0" bIns="0" rtlCol="0" anchor="ctr"/>
          <a:lstStyle/>
          <a:p>
            <a:pPr algn="l" indent="0" marL="0">
              <a:buNone/>
            </a:pPr>
            <a:r>
              <a:rPr lang="en-US" sz="1300" dirty="0">
                <a:solidFill>
                  <a:schemeClr val="tx1"/>
                </a:solidFill>
              </a:rPr>
              <a:t>Find barged fish by the GRJ barge-load antennas (61 and 62), not the LGRRBR release flag. The flag missed 1,738 barged fish, 156 of them wild, and pulled φB down by about a third.</a:t>
            </a:r>
            <a:endParaRPr lang="en-US" sz="1300" dirty="0"/>
          </a:p>
        </p:txBody>
      </p:sp>
      <p:pic>
        <p:nvPicPr>
          <p:cNvPr id="17" name="tree_stage3" descr="/home/claude/deck/assets/tree_stage3.png">    </p:cNvPr>
          <p:cNvPicPr>
            <a:picLocks noChangeAspect="1"/>
          </p:cNvPicPr>
          <p:nvPr/>
        </p:nvPicPr>
        <p:blipFill>
          <a:blip r:embed="rId3"/>
          <a:stretch>
            <a:fillRect/>
          </a:stretch>
        </p:blipFill>
        <p:spPr>
          <a:xfrm>
            <a:off x="6084184" y="1463040"/>
            <a:ext cx="4821185" cy="2880360"/>
          </a:xfrm>
          <a:prstGeom prst="rect">
            <a:avLst/>
          </a:prstGeom>
        </p:spPr>
      </p:pic>
      <p:sp>
        <p:nvSpPr>
          <p:cNvPr id="18" name="Shape 12"/>
          <p:cNvSpPr/>
          <p:nvPr/>
        </p:nvSpPr>
        <p:spPr>
          <a:xfrm>
            <a:off x="5349240" y="4480560"/>
            <a:ext cx="6291072" cy="1572768"/>
          </a:xfrm>
          <a:prstGeom prst="roundRect">
            <a:avLst>
              <a:gd name="adj" fmla="val 4651"/>
            </a:avLst>
          </a:prstGeom>
          <a:solidFill>
            <a:srgbClr val="F4F6F7"/>
          </a:solidFill>
          <a:ln w="9525">
            <a:solidFill>
              <a:srgbClr val="D3DEE1"/>
            </a:solidFill>
            <a:prstDash val="solid"/>
          </a:ln>
        </p:spPr>
      </p:sp>
      <p:sp>
        <p:nvSpPr>
          <p:cNvPr id="19" name="jags_recovery_transport"/>
          <p:cNvSpPr txBox="1"/>
          <p:nvPr/>
        </p:nvSpPr>
        <p:spPr>
          <a:xfrm>
            <a:off x="5468112" y="4544568"/>
            <a:ext cx="6080760" cy="1444752"/>
          </a:xfrm>
          <a:prstGeom prst="rect">
            <a:avLst/>
          </a:prstGeom>
          <a:noFill/>
          <a:ln/>
        </p:spPr>
        <p:txBody>
          <a:bodyPr wrap="square" lIns="0" tIns="0" rIns="0" bIns="0" rtlCol="0" anchor="ctr"/>
          <a:lstStyle/>
          <a:p>
            <a:pPr indent="0" marL="0">
              <a:buNone/>
            </a:pPr>
            <a:r>
              <a:rPr lang="en-US" sz="950" i="1" dirty="0">
                <a:solidFill>
                  <a:srgbClr val="1F6F78"/>
                </a:solidFill>
                <a:latin typeface="Courier New" pitchFamily="34" charset="0"/>
                <a:ea typeface="Courier New" pitchFamily="34" charset="-122"/>
                <a:cs typeface="Courier New" pitchFamily="34" charset="-120"/>
              </a:rPr>
              <a:t># recovery: spilled fish on the logit scale; bypassed fish shifted by delta</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phi_S[r,s] &lt;- ilogit(logit_phi_S[r,s])</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phi_B[r,s] &lt;- ilogit(logit_phi_S[r,s] - delta[r,s])</a:t>
            </a:r>
            <a:endParaRPr lang="en-US" sz="950" dirty="0"/>
          </a:p>
          <a:p>
            <a:pPr indent="0" marL="0">
              <a:buNone/>
            </a:pPr>
            <a:r>
              <a:rPr lang="en-US" sz="950" i="1" dirty="0">
                <a:solidFill>
                  <a:srgbClr val="1F6F78"/>
                </a:solidFill>
                <a:latin typeface="Courier New" pitchFamily="34" charset="0"/>
                <a:ea typeface="Courier New" pitchFamily="34" charset="-122"/>
                <a:cs typeface="Courier New" pitchFamily="34" charset="-120"/>
              </a:rPr>
              <a:t># transport: flat prior on the probability scale</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trans[r,s] ~ dbeta(1, 1)</a:t>
            </a:r>
            <a:endParaRPr lang="en-US" sz="950" dirty="0"/>
          </a:p>
          <a:p>
            <a:pPr indent="0" marL="0">
              <a:buNone/>
            </a:pPr>
            <a:r>
              <a:rPr lang="en-US" sz="950" i="1" dirty="0">
                <a:solidFill>
                  <a:srgbClr val="1F6F78"/>
                </a:solidFill>
                <a:latin typeface="Courier New" pitchFamily="34" charset="0"/>
                <a:ea typeface="Courier New" pitchFamily="34" charset="-122"/>
                <a:cs typeface="Courier New" pitchFamily="34" charset="-120"/>
              </a:rPr>
              <a:t># guided fish now split three ways</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pi_raw[r,s,1] &lt;- psi[r,s] * (1-trans[r,s]) * (1-phi_B[r,s])  </a:t>
            </a:r>
            <a:pPr indent="0" marL="0">
              <a:buNone/>
            </a:pPr>
            <a:r>
              <a:rPr lang="en-US" sz="950" i="1" dirty="0">
                <a:solidFill>
                  <a:srgbClr val="1F6F78"/>
                </a:solidFill>
                <a:latin typeface="Courier New" pitchFamily="34" charset="0"/>
                <a:ea typeface="Courier New" pitchFamily="34" charset="-122"/>
                <a:cs typeface="Courier New" pitchFamily="34" charset="-120"/>
              </a:rPr>
              <a:t># c1: GRJ only</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pi_raw[r,s,2] &lt;- psi[r,s] * (1-trans[r,s]) * phi_B[r,s]      </a:t>
            </a:r>
            <a:pPr indent="0" marL="0">
              <a:buNone/>
            </a:pPr>
            <a:r>
              <a:rPr lang="en-US" sz="950" i="1" dirty="0">
                <a:solidFill>
                  <a:srgbClr val="1F6F78"/>
                </a:solidFill>
                <a:latin typeface="Courier New" pitchFamily="34" charset="0"/>
                <a:ea typeface="Courier New" pitchFamily="34" charset="-122"/>
                <a:cs typeface="Courier New" pitchFamily="34" charset="-120"/>
              </a:rPr>
              <a:t># c2: GRJ and GOJ</a:t>
            </a:r>
            <a:endParaRPr lang="en-US" sz="950" dirty="0"/>
          </a:p>
          <a:p>
            <a:pPr indent="0" marL="0">
              <a:buNone/>
            </a:pPr>
            <a:r>
              <a:rPr lang="en-US" sz="950" dirty="0">
                <a:solidFill>
                  <a:srgbClr val="1B2A33"/>
                </a:solidFill>
                <a:latin typeface="Courier New" pitchFamily="34" charset="0"/>
                <a:ea typeface="Courier New" pitchFamily="34" charset="-122"/>
                <a:cs typeface="Courier New" pitchFamily="34" charset="-120"/>
              </a:rPr>
              <a:t>pi_raw[r,s,6] &lt;- psi[r,s] * trans[r,s]                       </a:t>
            </a:r>
            <a:pPr indent="0" marL="0">
              <a:buNone/>
            </a:pPr>
            <a:r>
              <a:rPr lang="en-US" sz="950" i="1" dirty="0">
                <a:solidFill>
                  <a:srgbClr val="1F6F78"/>
                </a:solidFill>
                <a:latin typeface="Courier New" pitchFamily="34" charset="0"/>
                <a:ea typeface="Courier New" pitchFamily="34" charset="-122"/>
                <a:cs typeface="Courier New" pitchFamily="34" charset="-120"/>
              </a:rPr>
              <a:t># c6: transported</a:t>
            </a:r>
            <a:endParaRPr lang="en-US" sz="950" dirty="0"/>
          </a:p>
        </p:txBody>
      </p:sp>
      <p:sp>
        <p:nvSpPr>
          <p:cNvPr id="20" name="Text 14"/>
          <p:cNvSpPr txBox="1"/>
          <p:nvPr/>
        </p:nvSpPr>
        <p:spPr>
          <a:xfrm>
            <a:off x="5349240" y="6089904"/>
            <a:ext cx="6291072" cy="228600"/>
          </a:xfrm>
          <a:prstGeom prst="rect">
            <a:avLst/>
          </a:prstGeom>
          <a:noFill/>
          <a:ln/>
        </p:spPr>
        <p:txBody>
          <a:bodyPr wrap="square" lIns="0" tIns="0" rIns="0" bIns="0" rtlCol="0" anchor="t"/>
          <a:lstStyle/>
          <a:p>
            <a:pPr algn="l" indent="0" marL="0">
              <a:buNone/>
            </a:pPr>
            <a:r>
              <a:rPr lang="en-US" sz="1000" dirty="0">
                <a:solidFill>
                  <a:srgbClr val="5B6B73"/>
                </a:solidFill>
              </a:rPr>
              <a:t>JAGS from smoltEASE, simplified to this slide's six cells; comments added.</a:t>
            </a:r>
            <a:endParaRPr lang="en-US" sz="1000" dirty="0"/>
          </a:p>
        </p:txBody>
      </p:sp>
      <p:sp>
        <p:nvSpPr>
          <p:cNvPr id="21"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05_six_cell.R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2 · LOWER GRANITE, ONE PIECE AT A TIME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Gotcha: Fish Tagged After the Decision</a:t>
            </a:r>
            <a:endParaRPr lang="en-US" sz="3200" dirty="0"/>
          </a:p>
        </p:txBody>
      </p:sp>
      <p:sp>
        <p:nvSpPr>
          <p:cNvPr id="5" name="Text 2"/>
          <p:cNvSpPr txBox="1"/>
          <p:nvPr/>
        </p:nvSpPr>
        <p:spPr>
          <a:xfrm>
            <a:off x="548640" y="1508760"/>
            <a:ext cx="4846320" cy="1005840"/>
          </a:xfrm>
          <a:prstGeom prst="rect">
            <a:avLst/>
          </a:prstGeom>
          <a:noFill/>
          <a:ln/>
        </p:spPr>
        <p:txBody>
          <a:bodyPr wrap="square" lIns="0" tIns="0" rIns="0" bIns="0" rtlCol="0" anchor="t"/>
          <a:lstStyle/>
          <a:p>
            <a:pPr algn="l" indent="0" marL="0">
              <a:buNone/>
            </a:pPr>
            <a:r>
              <a:rPr lang="en-US" sz="1500" dirty="0">
                <a:solidFill>
                  <a:schemeClr val="tx1"/>
                </a:solidFill>
              </a:rPr>
              <a:t>Fish tagged and released inside the LGR facility (LGRRBR, LGRRRR, LGRTAL) are in the data only because they were already guided. Most land in c6.</a:t>
            </a:r>
            <a:endParaRPr lang="en-US" sz="1500" dirty="0"/>
          </a:p>
        </p:txBody>
      </p:sp>
      <p:sp>
        <p:nvSpPr>
          <p:cNvPr id="6" name="Text 3"/>
          <p:cNvSpPr txBox="1"/>
          <p:nvPr/>
        </p:nvSpPr>
        <p:spPr>
          <a:xfrm>
            <a:off x="548640" y="2606040"/>
            <a:ext cx="4846320" cy="868680"/>
          </a:xfrm>
          <a:prstGeom prst="rect">
            <a:avLst/>
          </a:prstGeom>
          <a:noFill/>
          <a:ln/>
        </p:spPr>
        <p:txBody>
          <a:bodyPr wrap="square" lIns="0" tIns="0" rIns="0" bIns="0" rtlCol="0" anchor="ctr"/>
          <a:lstStyle/>
          <a:p>
            <a:pPr algn="l" indent="0" marL="0">
              <a:buNone/>
            </a:pPr>
            <a:r>
              <a:rPr lang="en-US" sz="6000" b="1" dirty="0">
                <a:solidFill>
                  <a:schemeClr val="accent5"/>
                </a:solidFill>
              </a:rPr>
              <a:t>45%</a:t>
            </a:r>
            <a:endParaRPr lang="en-US" sz="6000" dirty="0"/>
          </a:p>
        </p:txBody>
      </p:sp>
      <p:sp>
        <p:nvSpPr>
          <p:cNvPr id="7" name="Text 4"/>
          <p:cNvSpPr txBox="1"/>
          <p:nvPr/>
        </p:nvSpPr>
        <p:spPr>
          <a:xfrm>
            <a:off x="548640" y="3520440"/>
            <a:ext cx="4846320" cy="640080"/>
          </a:xfrm>
          <a:prstGeom prst="rect">
            <a:avLst/>
          </a:prstGeom>
          <a:noFill/>
          <a:ln/>
        </p:spPr>
        <p:txBody>
          <a:bodyPr wrap="square" lIns="0" tIns="0" rIns="0" bIns="0" rtlCol="0" anchor="t"/>
          <a:lstStyle/>
          <a:p>
            <a:pPr algn="l" indent="0" marL="0">
              <a:buNone/>
            </a:pPr>
            <a:r>
              <a:rPr lang="en-US" sz="1400" dirty="0">
                <a:solidFill>
                  <a:schemeClr val="tx1"/>
                </a:solidFill>
              </a:rPr>
              <a:t>of MY2025 wild histories (3,689 of 8,219). Dropping them moved season wild GE from 0.186 to 0.048.</a:t>
            </a:r>
            <a:endParaRPr lang="en-US" sz="1400" dirty="0"/>
          </a:p>
        </p:txBody>
      </p:sp>
      <p:sp>
        <p:nvSpPr>
          <p:cNvPr id="8" name="Shape 5"/>
          <p:cNvSpPr/>
          <p:nvPr/>
        </p:nvSpPr>
        <p:spPr>
          <a:xfrm>
            <a:off x="548640" y="4389120"/>
            <a:ext cx="4846320" cy="1325880"/>
          </a:xfrm>
          <a:prstGeom prst="roundRect">
            <a:avLst>
              <a:gd name="adj" fmla="val 5517"/>
            </a:avLst>
          </a:prstGeom>
          <a:solidFill>
            <a:schemeClr val="bg2"/>
          </a:solidFill>
          <a:ln w="9525">
            <a:solidFill>
              <a:srgbClr val="D3DEE1"/>
            </a:solidFill>
            <a:prstDash val="solid"/>
          </a:ln>
        </p:spPr>
      </p:sp>
      <p:sp>
        <p:nvSpPr>
          <p:cNvPr id="9" name="Text 6"/>
          <p:cNvSpPr txBox="1"/>
          <p:nvPr/>
        </p:nvSpPr>
        <p:spPr>
          <a:xfrm>
            <a:off x="731520" y="4389120"/>
            <a:ext cx="4480560" cy="1325880"/>
          </a:xfrm>
          <a:prstGeom prst="rect">
            <a:avLst/>
          </a:prstGeom>
          <a:noFill/>
          <a:ln/>
        </p:spPr>
        <p:txBody>
          <a:bodyPr wrap="square" lIns="0" tIns="0" rIns="0" bIns="0" rtlCol="0" anchor="ctr"/>
          <a:lstStyle/>
          <a:p>
            <a:pPr algn="l" indent="0" marL="0">
              <a:buNone/>
            </a:pPr>
            <a:r>
              <a:rPr lang="en-US" sz="1500" b="1" dirty="0">
                <a:solidFill>
                  <a:schemeClr val="tx2"/>
                </a:solidFill>
              </a:rPr>
              <a:t>Same lesson as the screw trap: </a:t>
            </a:r>
            <a:pPr algn="l" indent="0" marL="0">
              <a:buNone/>
            </a:pPr>
            <a:r>
              <a:rPr lang="en-US" sz="1500" dirty="0">
                <a:solidFill>
                  <a:schemeClr val="tx1"/>
                </a:solidFill>
              </a:rPr>
              <a:t>marks have to go on before the process you're estimating, or they aren't a sample of it.</a:t>
            </a:r>
            <a:endParaRPr lang="en-US" sz="1500" dirty="0"/>
          </a:p>
        </p:txBody>
      </p:sp>
      <p:graphicFrame>
        <p:nvGraphicFramePr>
          <p:cNvPr id="10" name="Chart 0" descr=""/>
          <p:cNvGraphicFramePr/>
          <p:nvPr/>
        </p:nvGraphicFramePr>
        <p:xfrm>
          <a:off x="5715000" y="1463040"/>
          <a:ext cx="5925312" cy="4343400"/>
        </p:xfrm>
        <a:graphic xmlns:a="http://schemas.openxmlformats.org/drawingml/2006/main">
          <a:graphicData uri="http://schemas.openxmlformats.org/drawingml/2006/chart">
            <c:chart xmlns:c="http://schemas.openxmlformats.org/drawingml/2006/chart" r:id="rId1"/>
          </a:graphicData>
        </a:graphic>
      </p:graphicFrame>
      <p:sp>
        <p:nvSpPr>
          <p:cNvPr id="11" name="Text 7"/>
          <p:cNvSpPr txBox="1"/>
          <p:nvPr/>
        </p:nvSpPr>
        <p:spPr>
          <a:xfrm>
            <a:off x="5715000" y="5897880"/>
            <a:ext cx="5925312" cy="320040"/>
          </a:xfrm>
          <a:prstGeom prst="rect">
            <a:avLst/>
          </a:prstGeom>
          <a:noFill/>
          <a:ln/>
        </p:spPr>
        <p:txBody>
          <a:bodyPr wrap="square" lIns="0" tIns="0" rIns="0" bIns="0" rtlCol="0" anchor="t"/>
          <a:lstStyle/>
          <a:p>
            <a:pPr algn="l" indent="0" marL="0">
              <a:buNone/>
            </a:pPr>
            <a:r>
              <a:rPr lang="en-US" sz="1100" dirty="0">
                <a:solidFill>
                  <a:srgbClr val="5B6B73"/>
                </a:solidFill>
              </a:rPr>
              <a:t>Closed-form season GE from PIT counts, not model output.</a:t>
            </a:r>
            <a:endParaRPr lang="en-US" sz="1100" dirty="0"/>
          </a:p>
        </p:txBody>
      </p:sp>
      <p:sp>
        <p:nvSpPr>
          <p:cNvPr id="12"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05_six_cell.R, section 7</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3 · WILD FISH IN A HATCHERY RIVER</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Most of the PIT Fish Are Hatchery</a:t>
            </a:r>
            <a:endParaRPr lang="en-US" sz="3200" dirty="0"/>
          </a:p>
        </p:txBody>
      </p:sp>
      <p:sp>
        <p:nvSpPr>
          <p:cNvPr id="5" name="Text 2"/>
          <p:cNvSpPr txBox="1"/>
          <p:nvPr/>
        </p:nvSpPr>
        <p:spPr>
          <a:xfrm>
            <a:off x="548640" y="1554480"/>
            <a:ext cx="3502152" cy="868680"/>
          </a:xfrm>
          <a:prstGeom prst="rect">
            <a:avLst/>
          </a:prstGeom>
          <a:noFill/>
          <a:ln/>
        </p:spPr>
        <p:txBody>
          <a:bodyPr wrap="square" lIns="0" tIns="0" rIns="0" bIns="0" rtlCol="0" anchor="ctr"/>
          <a:lstStyle/>
          <a:p>
            <a:pPr algn="l" indent="0" marL="0">
              <a:buNone/>
            </a:pPr>
            <a:r>
              <a:rPr lang="en-US" sz="5000" b="1" dirty="0">
                <a:solidFill>
                  <a:srgbClr val="6B7780"/>
                </a:solidFill>
              </a:rPr>
              <a:t>77,581</a:t>
            </a:r>
            <a:endParaRPr lang="en-US" sz="5000" dirty="0"/>
          </a:p>
        </p:txBody>
      </p:sp>
      <p:sp>
        <p:nvSpPr>
          <p:cNvPr id="6" name="Text 3"/>
          <p:cNvSpPr txBox="1"/>
          <p:nvPr/>
        </p:nvSpPr>
        <p:spPr>
          <a:xfrm>
            <a:off x="548640" y="2423160"/>
            <a:ext cx="3502152" cy="365760"/>
          </a:xfrm>
          <a:prstGeom prst="rect">
            <a:avLst/>
          </a:prstGeom>
          <a:noFill/>
          <a:ln/>
        </p:spPr>
        <p:txBody>
          <a:bodyPr wrap="square" lIns="0" tIns="0" rIns="0" bIns="0" rtlCol="0" anchor="t"/>
          <a:lstStyle/>
          <a:p>
            <a:pPr algn="l" indent="0" marL="0">
              <a:buNone/>
            </a:pPr>
            <a:r>
              <a:rPr lang="en-US" sz="1400" dirty="0">
                <a:solidFill>
                  <a:srgbClr val="5B6B73"/>
                </a:solidFill>
              </a:rPr>
              <a:t>hatchery detection histories, MY2025</a:t>
            </a:r>
            <a:endParaRPr lang="en-US" sz="1400" dirty="0"/>
          </a:p>
        </p:txBody>
      </p:sp>
      <p:sp>
        <p:nvSpPr>
          <p:cNvPr id="7" name="Text 4"/>
          <p:cNvSpPr txBox="1"/>
          <p:nvPr/>
        </p:nvSpPr>
        <p:spPr>
          <a:xfrm>
            <a:off x="4343400" y="1554480"/>
            <a:ext cx="3502152" cy="868680"/>
          </a:xfrm>
          <a:prstGeom prst="rect">
            <a:avLst/>
          </a:prstGeom>
          <a:noFill/>
          <a:ln/>
        </p:spPr>
        <p:txBody>
          <a:bodyPr wrap="square" lIns="0" tIns="0" rIns="0" bIns="0" rtlCol="0" anchor="ctr"/>
          <a:lstStyle/>
          <a:p>
            <a:pPr algn="l" indent="0" marL="0">
              <a:buNone/>
            </a:pPr>
            <a:r>
              <a:rPr lang="en-US" sz="5000" b="1" dirty="0">
                <a:solidFill>
                  <a:schemeClr val="accent5"/>
                </a:solidFill>
              </a:rPr>
              <a:t>4,491</a:t>
            </a:r>
            <a:endParaRPr lang="en-US" sz="5000" dirty="0"/>
          </a:p>
        </p:txBody>
      </p:sp>
      <p:sp>
        <p:nvSpPr>
          <p:cNvPr id="8" name="Text 5"/>
          <p:cNvSpPr txBox="1"/>
          <p:nvPr/>
        </p:nvSpPr>
        <p:spPr>
          <a:xfrm>
            <a:off x="4343400" y="2423160"/>
            <a:ext cx="3502152" cy="365760"/>
          </a:xfrm>
          <a:prstGeom prst="rect">
            <a:avLst/>
          </a:prstGeom>
          <a:noFill/>
          <a:ln/>
        </p:spPr>
        <p:txBody>
          <a:bodyPr wrap="square" lIns="0" tIns="0" rIns="0" bIns="0" rtlCol="0" anchor="t"/>
          <a:lstStyle/>
          <a:p>
            <a:pPr algn="l" indent="0" marL="0">
              <a:buNone/>
            </a:pPr>
            <a:r>
              <a:rPr lang="en-US" sz="1400" dirty="0">
                <a:solidFill>
                  <a:srgbClr val="5B6B73"/>
                </a:solidFill>
              </a:rPr>
              <a:t>wild detection histories, MY2025</a:t>
            </a:r>
            <a:endParaRPr lang="en-US" sz="1400" dirty="0"/>
          </a:p>
        </p:txBody>
      </p:sp>
      <p:sp>
        <p:nvSpPr>
          <p:cNvPr id="9" name="Text 6"/>
          <p:cNvSpPr txBox="1"/>
          <p:nvPr/>
        </p:nvSpPr>
        <p:spPr>
          <a:xfrm>
            <a:off x="8138160" y="1554480"/>
            <a:ext cx="3502152" cy="868680"/>
          </a:xfrm>
          <a:prstGeom prst="rect">
            <a:avLst/>
          </a:prstGeom>
          <a:noFill/>
          <a:ln/>
        </p:spPr>
        <p:txBody>
          <a:bodyPr wrap="square" lIns="0" tIns="0" rIns="0" bIns="0" rtlCol="0" anchor="ctr"/>
          <a:lstStyle/>
          <a:p>
            <a:pPr algn="l" indent="0" marL="0">
              <a:buNone/>
            </a:pPr>
            <a:r>
              <a:rPr lang="en-US" sz="5000" b="1" dirty="0">
                <a:solidFill>
                  <a:schemeClr val="tx2"/>
                </a:solidFill>
              </a:rPr>
              <a:t>17 to 1</a:t>
            </a:r>
            <a:endParaRPr lang="en-US" sz="5000" dirty="0"/>
          </a:p>
        </p:txBody>
      </p:sp>
      <p:sp>
        <p:nvSpPr>
          <p:cNvPr id="10" name="Text 7"/>
          <p:cNvSpPr txBox="1"/>
          <p:nvPr/>
        </p:nvSpPr>
        <p:spPr>
          <a:xfrm>
            <a:off x="8138160" y="2423160"/>
            <a:ext cx="3502152" cy="365760"/>
          </a:xfrm>
          <a:prstGeom prst="rect">
            <a:avLst/>
          </a:prstGeom>
          <a:noFill/>
          <a:ln/>
        </p:spPr>
        <p:txBody>
          <a:bodyPr wrap="square" lIns="0" tIns="0" rIns="0" bIns="0" rtlCol="0" anchor="t"/>
          <a:lstStyle/>
          <a:p>
            <a:pPr algn="l" indent="0" marL="0">
              <a:buNone/>
            </a:pPr>
            <a:r>
              <a:rPr lang="en-US" sz="1400" dirty="0">
                <a:solidFill>
                  <a:srgbClr val="5B6B73"/>
                </a:solidFill>
              </a:rPr>
              <a:t>hatchery tags for every wild tag</a:t>
            </a:r>
            <a:endParaRPr lang="en-US" sz="1400" dirty="0"/>
          </a:p>
        </p:txBody>
      </p:sp>
      <p:sp>
        <p:nvSpPr>
          <p:cNvPr id="11" name="Shape 8"/>
          <p:cNvSpPr/>
          <p:nvPr/>
        </p:nvSpPr>
        <p:spPr>
          <a:xfrm>
            <a:off x="548640" y="3063240"/>
            <a:ext cx="10484733" cy="411480"/>
          </a:xfrm>
          <a:prstGeom prst="rect">
            <a:avLst/>
          </a:prstGeom>
          <a:solidFill>
            <a:srgbClr val="B8C2C7"/>
          </a:solidFill>
          <a:ln/>
        </p:spPr>
      </p:sp>
      <p:sp>
        <p:nvSpPr>
          <p:cNvPr id="12" name="Shape 9"/>
          <p:cNvSpPr/>
          <p:nvPr/>
        </p:nvSpPr>
        <p:spPr>
          <a:xfrm>
            <a:off x="11033373" y="3063240"/>
            <a:ext cx="606939" cy="411480"/>
          </a:xfrm>
          <a:prstGeom prst="rect">
            <a:avLst/>
          </a:prstGeom>
          <a:solidFill>
            <a:schemeClr val="accent5"/>
          </a:solidFill>
          <a:ln/>
        </p:spPr>
      </p:sp>
      <p:sp>
        <p:nvSpPr>
          <p:cNvPr id="13" name="Text 10"/>
          <p:cNvSpPr txBox="1"/>
          <p:nvPr/>
        </p:nvSpPr>
        <p:spPr>
          <a:xfrm>
            <a:off x="548640" y="3547872"/>
            <a:ext cx="3657600" cy="274320"/>
          </a:xfrm>
          <a:prstGeom prst="rect">
            <a:avLst/>
          </a:prstGeom>
          <a:noFill/>
          <a:ln/>
        </p:spPr>
        <p:txBody>
          <a:bodyPr wrap="square" lIns="0" tIns="0" rIns="0" bIns="0" rtlCol="0" anchor="t"/>
          <a:lstStyle/>
          <a:p>
            <a:pPr algn="l" indent="0" marL="0">
              <a:buNone/>
            </a:pPr>
            <a:r>
              <a:rPr lang="en-US" sz="1200" dirty="0">
                <a:solidFill>
                  <a:srgbClr val="5B6B73"/>
                </a:solidFill>
              </a:rPr>
              <a:t>hatchery 94.5%</a:t>
            </a:r>
            <a:endParaRPr lang="en-US" sz="1200" dirty="0"/>
          </a:p>
        </p:txBody>
      </p:sp>
      <p:sp>
        <p:nvSpPr>
          <p:cNvPr id="14" name="Text 11"/>
          <p:cNvSpPr txBox="1"/>
          <p:nvPr/>
        </p:nvSpPr>
        <p:spPr>
          <a:xfrm>
            <a:off x="8897112" y="3547872"/>
            <a:ext cx="2743200" cy="274320"/>
          </a:xfrm>
          <a:prstGeom prst="rect">
            <a:avLst/>
          </a:prstGeom>
          <a:noFill/>
          <a:ln/>
        </p:spPr>
        <p:txBody>
          <a:bodyPr wrap="square" lIns="0" tIns="0" rIns="0" bIns="0" rtlCol="0" anchor="t"/>
          <a:lstStyle/>
          <a:p>
            <a:pPr algn="r" indent="0" marL="0">
              <a:buNone/>
            </a:pPr>
            <a:r>
              <a:rPr lang="en-US" sz="1200" b="1" dirty="0">
                <a:solidFill>
                  <a:schemeClr val="accent5"/>
                </a:solidFill>
              </a:rPr>
              <a:t>wild 5.5%</a:t>
            </a:r>
            <a:endParaRPr lang="en-US" sz="1200" dirty="0"/>
          </a:p>
        </p:txBody>
      </p:sp>
      <p:sp>
        <p:nvSpPr>
          <p:cNvPr id="15" name="Text 12"/>
          <p:cNvSpPr txBox="1"/>
          <p:nvPr/>
        </p:nvSpPr>
        <p:spPr>
          <a:xfrm>
            <a:off x="548640" y="4069080"/>
            <a:ext cx="11091672" cy="777240"/>
          </a:xfrm>
          <a:prstGeom prst="rect">
            <a:avLst/>
          </a:prstGeom>
          <a:noFill/>
          <a:ln/>
        </p:spPr>
        <p:txBody>
          <a:bodyPr wrap="square" lIns="0" tIns="0" rIns="0" bIns="0" rtlCol="0" anchor="t"/>
          <a:lstStyle/>
          <a:p>
            <a:pPr algn="l" indent="0" marL="0">
              <a:buNone/>
            </a:pPr>
            <a:r>
              <a:rPr lang="en-US" sz="1500" dirty="0">
                <a:solidFill>
                  <a:schemeClr val="tx1"/>
                </a:solidFill>
              </a:rPr>
              <a:t>Wild weeks are thin. Weeks are grouped into strata until each holds more than 10 fish informing detection (c4 + c5) and more than 10 informing recovery (c3 + c4). MY2025 wild: 9 strata, with weeks 22 to 26 pooled.</a:t>
            </a:r>
            <a:endParaRPr lang="en-US" sz="1500" dirty="0"/>
          </a:p>
        </p:txBody>
      </p:sp>
      <p:sp>
        <p:nvSpPr>
          <p:cNvPr id="16" name="Text 13"/>
          <p:cNvSpPr/>
          <p:nvPr/>
        </p:nvSpPr>
        <p:spPr>
          <a:xfrm>
            <a:off x="548640" y="5074920"/>
            <a:ext cx="11091672" cy="1188720"/>
          </a:xfrm>
          <a:prstGeom prst="roundRect">
            <a:avLst>
              <a:gd name="adj" fmla="val 6154"/>
            </a:avLst>
          </a:prstGeom>
          <a:solidFill>
            <a:schemeClr val="tx2"/>
          </a:solidFill>
          <a:ln/>
        </p:spPr>
        <p:txBody>
          <a:bodyPr wrap="square" lIns="228600" tIns="0" rIns="228600" bIns="0" rtlCol="0" anchor="ctr"/>
          <a:lstStyle/>
          <a:p>
            <a:pPr algn="l" indent="0" marL="0">
              <a:buNone/>
            </a:pPr>
            <a:r>
              <a:rPr lang="en-US" sz="2100" dirty="0">
                <a:solidFill>
                  <a:schemeClr val="bg1"/>
                </a:solidFill>
              </a:rPr>
              <a:t>Hatchery fish pass the same dam, under the same spill, in the same weeks.</a:t>
            </a:r>
            <a:endParaRPr lang="en-US" sz="2100" dirty="0"/>
          </a:p>
          <a:p>
            <a:pPr algn="l" indent="0" marL="0">
              <a:buNone/>
            </a:pPr>
            <a:r>
              <a:rPr lang="en-US" sz="2100" b="1" dirty="0">
                <a:solidFill>
                  <a:srgbClr val="F2C14E"/>
                </a:solidFill>
              </a:rPr>
              <a:t>Can wild borrow from them?</a:t>
            </a:r>
            <a:endParaRPr lang="en-US" sz="2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3 · WILD FISH IN A HATCHERY RIVER</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Borrow Strength, Keep Wild GE Wild</a:t>
            </a:r>
            <a:endParaRPr lang="en-US" sz="3200" dirty="0"/>
          </a:p>
        </p:txBody>
      </p:sp>
      <p:sp>
        <p:nvSpPr>
          <p:cNvPr id="5" name="Shape 2"/>
          <p:cNvSpPr/>
          <p:nvPr/>
        </p:nvSpPr>
        <p:spPr>
          <a:xfrm>
            <a:off x="548640" y="1554480"/>
            <a:ext cx="5394960" cy="2240280"/>
          </a:xfrm>
          <a:prstGeom prst="roundRect">
            <a:avLst>
              <a:gd name="adj" fmla="val 3265"/>
            </a:avLst>
          </a:prstGeom>
          <a:solidFill>
            <a:schemeClr val="bg2"/>
          </a:solidFill>
          <a:ln w="9525">
            <a:solidFill>
              <a:srgbClr val="D3DEE1"/>
            </a:solidFill>
            <a:prstDash val="solid"/>
          </a:ln>
        </p:spPr>
      </p:sp>
      <p:sp>
        <p:nvSpPr>
          <p:cNvPr id="6" name="Text 3"/>
          <p:cNvSpPr txBox="1"/>
          <p:nvPr/>
        </p:nvSpPr>
        <p:spPr>
          <a:xfrm>
            <a:off x="777240" y="1691640"/>
            <a:ext cx="4937760" cy="411480"/>
          </a:xfrm>
          <a:prstGeom prst="rect">
            <a:avLst/>
          </a:prstGeom>
          <a:noFill/>
          <a:ln/>
        </p:spPr>
        <p:txBody>
          <a:bodyPr wrap="square" lIns="0" tIns="0" rIns="0" bIns="0" rtlCol="0" anchor="t"/>
          <a:lstStyle/>
          <a:p>
            <a:pPr algn="l" indent="0" marL="0">
              <a:buNone/>
            </a:pPr>
            <a:r>
              <a:rPr lang="en-US" sz="1800" b="1" dirty="0">
                <a:solidFill>
                  <a:schemeClr val="tx2"/>
                </a:solidFill>
              </a:rPr>
              <a:t>Shared by wild and hatchery</a:t>
            </a:r>
            <a:endParaRPr lang="en-US" sz="1800" dirty="0"/>
          </a:p>
        </p:txBody>
      </p:sp>
      <p:sp>
        <p:nvSpPr>
          <p:cNvPr id="7" name="Text 4"/>
          <p:cNvSpPr txBox="1"/>
          <p:nvPr/>
        </p:nvSpPr>
        <p:spPr>
          <a:xfrm>
            <a:off x="777240" y="2240280"/>
            <a:ext cx="4937760" cy="173736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Stratum averages</a:t>
            </a:r>
            <a:endParaRPr lang="en-US" sz="1600" dirty="0"/>
          </a:p>
          <a:p>
            <a:pPr algn="l" marL="342900" indent="-342900">
              <a:spcAft>
                <a:spcPts val="800"/>
              </a:spcAft>
              <a:buSzPct val="100000"/>
              <a:buChar char="•"/>
            </a:pPr>
            <a:r>
              <a:rPr lang="en-US" sz="1600" dirty="0">
                <a:solidFill>
                  <a:schemeClr val="tx1"/>
                </a:solidFill>
              </a:rPr>
              <a:t>Spill and outflow slopes</a:t>
            </a:r>
            <a:endParaRPr lang="en-US" sz="1600" dirty="0"/>
          </a:p>
          <a:p>
            <a:pPr algn="l" marL="342900" indent="-342900">
              <a:spcAft>
                <a:spcPts val="800"/>
              </a:spcAft>
              <a:buSzPct val="100000"/>
              <a:buChar char="•"/>
            </a:pPr>
            <a:r>
              <a:rPr lang="en-US" sz="1600" dirty="0">
                <a:solidFill>
                  <a:schemeClr val="tx1"/>
                </a:solidFill>
              </a:rPr>
              <a:t>How much weeks wiggle</a:t>
            </a:r>
            <a:endParaRPr lang="en-US" sz="1600" dirty="0"/>
          </a:p>
        </p:txBody>
      </p:sp>
      <p:sp>
        <p:nvSpPr>
          <p:cNvPr id="8" name="Shape 5"/>
          <p:cNvSpPr/>
          <p:nvPr/>
        </p:nvSpPr>
        <p:spPr>
          <a:xfrm>
            <a:off x="6245352" y="1554480"/>
            <a:ext cx="5394960" cy="2240280"/>
          </a:xfrm>
          <a:prstGeom prst="roundRect">
            <a:avLst>
              <a:gd name="adj" fmla="val 3265"/>
            </a:avLst>
          </a:prstGeom>
          <a:solidFill>
            <a:srgbClr val="FFFFFF"/>
          </a:solidFill>
          <a:ln w="15875">
            <a:solidFill>
              <a:schemeClr val="accent5"/>
            </a:solidFill>
            <a:prstDash val="solid"/>
          </a:ln>
        </p:spPr>
      </p:sp>
      <p:sp>
        <p:nvSpPr>
          <p:cNvPr id="9" name="Text 6"/>
          <p:cNvSpPr txBox="1"/>
          <p:nvPr/>
        </p:nvSpPr>
        <p:spPr>
          <a:xfrm>
            <a:off x="6473952" y="1691640"/>
            <a:ext cx="4937760" cy="411480"/>
          </a:xfrm>
          <a:prstGeom prst="rect">
            <a:avLst/>
          </a:prstGeom>
          <a:noFill/>
          <a:ln/>
        </p:spPr>
        <p:txBody>
          <a:bodyPr wrap="square" lIns="0" tIns="0" rIns="0" bIns="0" rtlCol="0" anchor="t"/>
          <a:lstStyle/>
          <a:p>
            <a:pPr algn="l" indent="0" marL="0">
              <a:buNone/>
            </a:pPr>
            <a:r>
              <a:rPr lang="en-US" sz="1800" b="1" dirty="0">
                <a:solidFill>
                  <a:schemeClr val="accent5"/>
                </a:solidFill>
              </a:rPr>
              <a:t>Kept separate for each rear type</a:t>
            </a:r>
            <a:endParaRPr lang="en-US" sz="1800" dirty="0"/>
          </a:p>
        </p:txBody>
      </p:sp>
      <p:sp>
        <p:nvSpPr>
          <p:cNvPr id="10" name="Text 7"/>
          <p:cNvSpPr txBox="1"/>
          <p:nvPr/>
        </p:nvSpPr>
        <p:spPr>
          <a:xfrm>
            <a:off x="6473952" y="2240280"/>
            <a:ext cx="4937760" cy="1188720"/>
          </a:xfrm>
          <a:prstGeom prst="rect">
            <a:avLst/>
          </a:prstGeom>
          <a:noFill/>
          <a:ln/>
        </p:spPr>
        <p:txBody>
          <a:bodyPr wrap="square" lIns="0" tIns="0" rIns="0" bIns="0" rtlCol="0" anchor="t"/>
          <a:lstStyle/>
          <a:p>
            <a:pPr algn="l" marL="342900" indent="-342900">
              <a:spcAft>
                <a:spcPts val="800"/>
              </a:spcAft>
              <a:buSzPct val="100000"/>
              <a:buChar char="•"/>
            </a:pPr>
            <a:r>
              <a:rPr lang="en-US" sz="1600" dirty="0">
                <a:solidFill>
                  <a:schemeClr val="tx1"/>
                </a:solidFill>
              </a:rPr>
              <a:t>A wild or hatchery offset: fixed effects, centered to sum to zero</a:t>
            </a:r>
            <a:endParaRPr lang="en-US" sz="1600" dirty="0"/>
          </a:p>
          <a:p>
            <a:pPr algn="l" marL="342900" indent="-342900">
              <a:spcAft>
                <a:spcPts val="800"/>
              </a:spcAft>
              <a:buSzPct val="100000"/>
              <a:buChar char="•"/>
            </a:pPr>
            <a:r>
              <a:rPr lang="en-US" sz="1600" dirty="0">
                <a:solidFill>
                  <a:schemeClr val="tx1"/>
                </a:solidFill>
              </a:rPr>
              <a:t>Each rear-week's own value</a:t>
            </a:r>
            <a:endParaRPr lang="en-US" sz="1600" dirty="0"/>
          </a:p>
        </p:txBody>
      </p:sp>
      <p:sp>
        <p:nvSpPr>
          <p:cNvPr id="11" name="Text 8"/>
          <p:cNvSpPr txBox="1"/>
          <p:nvPr/>
        </p:nvSpPr>
        <p:spPr>
          <a:xfrm>
            <a:off x="6473952" y="3200400"/>
            <a:ext cx="4937760" cy="457200"/>
          </a:xfrm>
          <a:prstGeom prst="rect">
            <a:avLst/>
          </a:prstGeom>
          <a:noFill/>
          <a:ln/>
        </p:spPr>
        <p:txBody>
          <a:bodyPr wrap="square" lIns="0" tIns="0" rIns="0" bIns="0" rtlCol="0" anchor="t"/>
          <a:lstStyle/>
          <a:p>
            <a:pPr algn="l" indent="0" marL="0">
              <a:buNone/>
            </a:pPr>
            <a:r>
              <a:rPr lang="en-US" sz="1200" dirty="0">
                <a:solidFill>
                  <a:srgbClr val="5B6B73"/>
                </a:solidFill>
              </a:rPr>
              <a:t>Two rear types are too few to estimate an among-rear variance (BPA 4.1.4).</a:t>
            </a:r>
            <a:endParaRPr lang="en-US" sz="1200" dirty="0"/>
          </a:p>
        </p:txBody>
      </p:sp>
      <p:sp>
        <p:nvSpPr>
          <p:cNvPr id="12" name="Text 9"/>
          <p:cNvSpPr txBox="1"/>
          <p:nvPr/>
        </p:nvSpPr>
        <p:spPr>
          <a:xfrm>
            <a:off x="548640" y="4069080"/>
            <a:ext cx="4206240" cy="822960"/>
          </a:xfrm>
          <a:prstGeom prst="rect">
            <a:avLst/>
          </a:prstGeom>
          <a:noFill/>
          <a:ln/>
        </p:spPr>
        <p:txBody>
          <a:bodyPr wrap="square" lIns="0" tIns="0" rIns="0" bIns="0" rtlCol="0" anchor="ctr"/>
          <a:lstStyle/>
          <a:p>
            <a:pPr algn="l" indent="0" marL="0">
              <a:buNone/>
            </a:pPr>
            <a:r>
              <a:rPr lang="en-US" sz="3200" b="1" dirty="0">
                <a:solidFill>
                  <a:schemeClr val="accent5"/>
                </a:solidFill>
              </a:rPr>
              <a:t>r = 0.81 to 0.96</a:t>
            </a:r>
            <a:endParaRPr lang="en-US" sz="3200" dirty="0"/>
          </a:p>
        </p:txBody>
      </p:sp>
      <p:sp>
        <p:nvSpPr>
          <p:cNvPr id="13" name="Text 10"/>
          <p:cNvSpPr txBox="1"/>
          <p:nvPr/>
        </p:nvSpPr>
        <p:spPr>
          <a:xfrm>
            <a:off x="4754880" y="4069080"/>
            <a:ext cx="6885432" cy="822960"/>
          </a:xfrm>
          <a:prstGeom prst="rect">
            <a:avLst/>
          </a:prstGeom>
          <a:noFill/>
          <a:ln/>
        </p:spPr>
        <p:txBody>
          <a:bodyPr wrap="square" lIns="0" tIns="0" rIns="0" bIns="0" rtlCol="0" anchor="ctr"/>
          <a:lstStyle/>
          <a:p>
            <a:pPr algn="l" indent="0" marL="0">
              <a:buNone/>
            </a:pPr>
            <a:r>
              <a:rPr lang="en-US" sz="1400" dirty="0">
                <a:solidFill>
                  <a:schemeClr val="tx1"/>
                </a:solidFill>
              </a:rPr>
              <a:t>weekly wild vs hatchery GE correlation, MY2021 to 2025, once the LGR-tagged fish are dropped (0.40 to 0.71 with them)</a:t>
            </a:r>
            <a:endParaRPr lang="en-US" sz="1400" dirty="0"/>
          </a:p>
        </p:txBody>
      </p:sp>
      <p:sp>
        <p:nvSpPr>
          <p:cNvPr id="14" name="Text 11"/>
          <p:cNvSpPr/>
          <p:nvPr/>
        </p:nvSpPr>
        <p:spPr>
          <a:xfrm>
            <a:off x="548640" y="5212080"/>
            <a:ext cx="11091672" cy="777240"/>
          </a:xfrm>
          <a:prstGeom prst="roundRect">
            <a:avLst>
              <a:gd name="adj" fmla="val 9412"/>
            </a:avLst>
          </a:prstGeom>
          <a:solidFill>
            <a:schemeClr val="tx2"/>
          </a:solidFill>
          <a:ln/>
        </p:spPr>
        <p:txBody>
          <a:bodyPr wrap="square" lIns="228600" tIns="0" rIns="228600" bIns="0" rtlCol="0" anchor="ctr"/>
          <a:lstStyle/>
          <a:p>
            <a:pPr algn="l" indent="0" marL="0">
              <a:buNone/>
            </a:pPr>
            <a:r>
              <a:rPr lang="en-US" sz="1600" b="1" dirty="0">
                <a:solidFill>
                  <a:srgbClr val="F2C14E"/>
                </a:solidFill>
              </a:rPr>
              <a:t>Rule we hold to: </a:t>
            </a:r>
            <a:pPr algn="l" indent="0" marL="0">
              <a:buNone/>
            </a:pPr>
            <a:r>
              <a:rPr lang="en-US" sz="1600" dirty="0">
                <a:solidFill>
                  <a:schemeClr val="bg1"/>
                </a:solidFill>
              </a:rPr>
              <a:t>wild is the target, so no setting gets tuned to fit hatchery fish better at wild's expense.</a:t>
            </a:r>
            <a:endParaRPr lang="en-US" sz="1600" dirty="0"/>
          </a:p>
        </p:txBody>
      </p:sp>
      <p:sp>
        <p:nvSpPr>
          <p:cNvPr id="15"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06_hierarchical.R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3 · WILD FISH IN A HATCHERY RIVER</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Why Model GE on the Logit Scale</a:t>
            </a:r>
            <a:endParaRPr lang="en-US" sz="3200" dirty="0"/>
          </a:p>
        </p:txBody>
      </p:sp>
      <p:sp>
        <p:nvSpPr>
          <p:cNvPr id="5" name="Text 2"/>
          <p:cNvSpPr txBox="1"/>
          <p:nvPr/>
        </p:nvSpPr>
        <p:spPr>
          <a:xfrm>
            <a:off x="548640" y="1463040"/>
            <a:ext cx="4846320" cy="320040"/>
          </a:xfrm>
          <a:prstGeom prst="rect">
            <a:avLst/>
          </a:prstGeom>
          <a:noFill/>
          <a:ln/>
        </p:spPr>
        <p:txBody>
          <a:bodyPr wrap="square" lIns="0" tIns="0" rIns="0" bIns="0" rtlCol="0" anchor="t"/>
          <a:lstStyle/>
          <a:p>
            <a:pPr algn="l" indent="0" marL="0">
              <a:buNone/>
            </a:pPr>
            <a:r>
              <a:rPr lang="en-US" sz="1400" b="1" dirty="0">
                <a:solidFill>
                  <a:schemeClr val="accent5"/>
                </a:solidFill>
              </a:rPr>
              <a:t>A GLM in three lines (BPA 3.2.3)</a:t>
            </a:r>
            <a:endParaRPr lang="en-US" sz="1400" dirty="0"/>
          </a:p>
        </p:txBody>
      </p:sp>
      <p:sp>
        <p:nvSpPr>
          <p:cNvPr id="6" name="Text 3"/>
          <p:cNvSpPr/>
          <p:nvPr/>
        </p:nvSpPr>
        <p:spPr>
          <a:xfrm>
            <a:off x="548640" y="1911096"/>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097280" y="1874520"/>
            <a:ext cx="4297680" cy="566928"/>
          </a:xfrm>
          <a:prstGeom prst="rect">
            <a:avLst/>
          </a:prstGeom>
          <a:noFill/>
          <a:ln/>
        </p:spPr>
        <p:txBody>
          <a:bodyPr wrap="square" lIns="0" tIns="0" rIns="0" bIns="0" rtlCol="0" anchor="t"/>
          <a:lstStyle/>
          <a:p>
            <a:pPr algn="l" indent="0" marL="0">
              <a:buNone/>
            </a:pPr>
            <a:r>
              <a:rPr lang="en-US" sz="1400" b="1" dirty="0">
                <a:solidFill>
                  <a:schemeClr val="tx2"/>
                </a:solidFill>
              </a:rPr>
              <a:t>Noise: </a:t>
            </a:r>
            <a:pPr algn="l" indent="0" marL="0">
              <a:buNone/>
            </a:pPr>
            <a:r>
              <a:rPr lang="en-US" sz="1400" dirty="0">
                <a:solidFill>
                  <a:schemeClr val="tx1"/>
                </a:solidFill>
              </a:rPr>
              <a:t>each tagged fish is a Bernoulli trial, guided or not.</a:t>
            </a:r>
            <a:endParaRPr lang="en-US" sz="1400" dirty="0"/>
          </a:p>
        </p:txBody>
      </p:sp>
      <p:pic>
        <p:nvPicPr>
          <p:cNvPr id="8" name="eq_bern" descr="/home/claude/deck/assets/eq_bern.png">    </p:cNvPr>
          <p:cNvPicPr>
            <a:picLocks noChangeAspect="1"/>
          </p:cNvPicPr>
          <p:nvPr/>
        </p:nvPicPr>
        <p:blipFill>
          <a:blip r:embed="rId1"/>
          <a:stretch>
            <a:fillRect/>
          </a:stretch>
        </p:blipFill>
        <p:spPr>
          <a:xfrm>
            <a:off x="1097280" y="2496312"/>
            <a:ext cx="2286000" cy="317754"/>
          </a:xfrm>
          <a:prstGeom prst="rect">
            <a:avLst/>
          </a:prstGeom>
        </p:spPr>
      </p:pic>
      <p:sp>
        <p:nvSpPr>
          <p:cNvPr id="9" name="Text 5"/>
          <p:cNvSpPr/>
          <p:nvPr/>
        </p:nvSpPr>
        <p:spPr>
          <a:xfrm>
            <a:off x="548640" y="3054096"/>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6"/>
          <p:cNvSpPr txBox="1"/>
          <p:nvPr/>
        </p:nvSpPr>
        <p:spPr>
          <a:xfrm>
            <a:off x="1097280" y="3017520"/>
            <a:ext cx="4297680" cy="566928"/>
          </a:xfrm>
          <a:prstGeom prst="rect">
            <a:avLst/>
          </a:prstGeom>
          <a:noFill/>
          <a:ln/>
        </p:spPr>
        <p:txBody>
          <a:bodyPr wrap="square" lIns="0" tIns="0" rIns="0" bIns="0" rtlCol="0" anchor="t"/>
          <a:lstStyle/>
          <a:p>
            <a:pPr algn="l" indent="0" marL="0">
              <a:buNone/>
            </a:pPr>
            <a:r>
              <a:rPr lang="en-US" sz="1400" b="1" dirty="0">
                <a:solidFill>
                  <a:schemeClr val="tx2"/>
                </a:solidFill>
              </a:rPr>
              <a:t>Link: </a:t>
            </a:r>
            <a:pPr algn="l" indent="0" marL="0">
              <a:buNone/>
            </a:pPr>
            <a:r>
              <a:rPr lang="en-US" sz="1400" dirty="0">
                <a:solidFill>
                  <a:schemeClr val="tx1"/>
                </a:solidFill>
              </a:rPr>
              <a:t>the logit maps 0 to 1 onto the whole real line. Effects add here, so they multiply the odds.</a:t>
            </a:r>
            <a:endParaRPr lang="en-US" sz="1400" dirty="0"/>
          </a:p>
        </p:txBody>
      </p:sp>
      <p:pic>
        <p:nvPicPr>
          <p:cNvPr id="11" name="eq_link" descr="/home/claude/deck/assets/eq_link.png">    </p:cNvPr>
          <p:cNvPicPr>
            <a:picLocks noChangeAspect="1"/>
          </p:cNvPicPr>
          <p:nvPr/>
        </p:nvPicPr>
        <p:blipFill>
          <a:blip r:embed="rId2"/>
          <a:stretch>
            <a:fillRect/>
          </a:stretch>
        </p:blipFill>
        <p:spPr>
          <a:xfrm>
            <a:off x="1097280" y="3639312"/>
            <a:ext cx="2055114" cy="374904"/>
          </a:xfrm>
          <a:prstGeom prst="rect">
            <a:avLst/>
          </a:prstGeom>
        </p:spPr>
      </p:pic>
      <p:sp>
        <p:nvSpPr>
          <p:cNvPr id="12" name="Text 7"/>
          <p:cNvSpPr/>
          <p:nvPr/>
        </p:nvSpPr>
        <p:spPr>
          <a:xfrm>
            <a:off x="548640" y="4288536"/>
            <a:ext cx="384048" cy="384048"/>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8"/>
          <p:cNvSpPr txBox="1"/>
          <p:nvPr/>
        </p:nvSpPr>
        <p:spPr>
          <a:xfrm>
            <a:off x="1097280" y="4251960"/>
            <a:ext cx="4297680" cy="566928"/>
          </a:xfrm>
          <a:prstGeom prst="rect">
            <a:avLst/>
          </a:prstGeom>
          <a:noFill/>
          <a:ln/>
        </p:spPr>
        <p:txBody>
          <a:bodyPr wrap="square" lIns="0" tIns="0" rIns="0" bIns="0" rtlCol="0" anchor="t"/>
          <a:lstStyle/>
          <a:p>
            <a:pPr algn="l" indent="0" marL="0">
              <a:buNone/>
            </a:pPr>
            <a:r>
              <a:rPr lang="en-US" sz="1400" b="1" dirty="0">
                <a:solidFill>
                  <a:schemeClr val="tx2"/>
                </a:solidFill>
              </a:rPr>
              <a:t>Signal: </a:t>
            </a:r>
            <a:pPr algn="l" indent="0" marL="0">
              <a:buNone/>
            </a:pPr>
            <a:r>
              <a:rPr lang="en-US" sz="1400" dirty="0">
                <a:solidFill>
                  <a:schemeClr val="tx1"/>
                </a:solidFill>
              </a:rPr>
              <a:t>a linear predictor, “up to your data, your questions, and your imagination” (BPA 3.5).</a:t>
            </a:r>
            <a:endParaRPr lang="en-US" sz="1400" dirty="0"/>
          </a:p>
        </p:txBody>
      </p:sp>
      <p:pic>
        <p:nvPicPr>
          <p:cNvPr id="14" name="eq_eta" descr="/home/claude/deck/assets/eq_eta.png">    </p:cNvPr>
          <p:cNvPicPr>
            <a:picLocks noChangeAspect="1"/>
          </p:cNvPicPr>
          <p:nvPr/>
        </p:nvPicPr>
        <p:blipFill>
          <a:blip r:embed="rId3"/>
          <a:stretch>
            <a:fillRect/>
          </a:stretch>
        </p:blipFill>
        <p:spPr>
          <a:xfrm>
            <a:off x="1097280" y="4873752"/>
            <a:ext cx="4254246" cy="315468"/>
          </a:xfrm>
          <a:prstGeom prst="rect">
            <a:avLst/>
          </a:prstGeom>
        </p:spPr>
      </p:pic>
      <p:pic>
        <p:nvPicPr>
          <p:cNvPr id="15" name="logit_curve" descr="/home/claude/deck/assets/logit_curve.png">    </p:cNvPr>
          <p:cNvPicPr>
            <a:picLocks noChangeAspect="1"/>
          </p:cNvPicPr>
          <p:nvPr/>
        </p:nvPicPr>
        <p:blipFill>
          <a:blip r:embed="rId4"/>
          <a:stretch>
            <a:fillRect/>
          </a:stretch>
        </p:blipFill>
        <p:spPr>
          <a:xfrm>
            <a:off x="6273182" y="1463040"/>
            <a:ext cx="5367130" cy="3429000"/>
          </a:xfrm>
          <a:prstGeom prst="rect">
            <a:avLst/>
          </a:prstGeom>
        </p:spPr>
      </p:pic>
      <p:sp>
        <p:nvSpPr>
          <p:cNvPr id="16" name="Text 9"/>
          <p:cNvSpPr txBox="1"/>
          <p:nvPr/>
        </p:nvSpPr>
        <p:spPr>
          <a:xfrm>
            <a:off x="6273182" y="4937760"/>
            <a:ext cx="5367130" cy="457200"/>
          </a:xfrm>
          <a:prstGeom prst="rect">
            <a:avLst/>
          </a:prstGeom>
          <a:noFill/>
          <a:ln/>
        </p:spPr>
        <p:txBody>
          <a:bodyPr wrap="square" lIns="0" tIns="0" rIns="0" bIns="0" rtlCol="0" anchor="t"/>
          <a:lstStyle/>
          <a:p>
            <a:pPr algn="l" indent="0" marL="0">
              <a:buNone/>
            </a:pPr>
            <a:r>
              <a:rPr lang="en-US" sz="1100" dirty="0">
                <a:solidFill>
                  <a:srgbClr val="5B6B73"/>
                </a:solidFill>
              </a:rPr>
              <a:t>Back-transform: ψ = 1 / (1 + e^(-η)). Linear in the parameters, but an S-curve on the probability scale (BPA 3.2.2). Points: MY2025 wild steelhead, closed-form season ratios.</a:t>
            </a:r>
            <a:endParaRPr lang="en-US" sz="1100" dirty="0"/>
          </a:p>
        </p:txBody>
      </p:sp>
      <p:sp>
        <p:nvSpPr>
          <p:cNvPr id="17" name="Shape 10"/>
          <p:cNvSpPr/>
          <p:nvPr/>
        </p:nvSpPr>
        <p:spPr>
          <a:xfrm>
            <a:off x="548640" y="5486400"/>
            <a:ext cx="11091672" cy="841248"/>
          </a:xfrm>
          <a:prstGeom prst="roundRect">
            <a:avLst>
              <a:gd name="adj" fmla="val 8696"/>
            </a:avLst>
          </a:prstGeom>
          <a:solidFill>
            <a:schemeClr val="bg2"/>
          </a:solidFill>
          <a:ln w="9525">
            <a:solidFill>
              <a:srgbClr val="D3DEE1"/>
            </a:solidFill>
            <a:prstDash val="solid"/>
          </a:ln>
        </p:spPr>
      </p:sp>
      <p:sp>
        <p:nvSpPr>
          <p:cNvPr id="18" name="Text 11"/>
          <p:cNvSpPr txBox="1"/>
          <p:nvPr/>
        </p:nvSpPr>
        <p:spPr>
          <a:xfrm>
            <a:off x="731520" y="5486400"/>
            <a:ext cx="10725912" cy="841248"/>
          </a:xfrm>
          <a:prstGeom prst="rect">
            <a:avLst/>
          </a:prstGeom>
          <a:noFill/>
          <a:ln/>
        </p:spPr>
        <p:txBody>
          <a:bodyPr wrap="square" lIns="0" tIns="0" rIns="0" bIns="0" rtlCol="0" anchor="ctr"/>
          <a:lstStyle/>
          <a:p>
            <a:pPr algn="l" indent="0" marL="0">
              <a:buNone/>
            </a:pPr>
            <a:r>
              <a:rPr lang="en-US" sz="1400" i="1" dirty="0">
                <a:solidFill>
                  <a:schemeClr val="tx1"/>
                </a:solidFill>
              </a:rPr>
              <a:t>“Many of the most exciting ecological models for inference about populations can be viewed simply as a sequence of coupled GLMs” (BPA 3.2.3).</a:t>
            </a:r>
            <a:endParaRPr lang="en-US" sz="1400" dirty="0"/>
          </a:p>
          <a:p>
            <a:pPr algn="l" indent="0" marL="0">
              <a:buNone/>
            </a:pPr>
            <a:r>
              <a:rPr lang="en-US" sz="1400" b="1" dirty="0">
                <a:solidFill>
                  <a:schemeClr val="tx2"/>
                </a:solidFill>
              </a:rPr>
              <a:t>Ours couples logit GLMs for guidance ψ, GRS detection p, and Little Goose recovery φ.</a:t>
            </a:r>
            <a:endParaRPr lang="en-US" sz="1400" dirty="0"/>
          </a:p>
        </p:txBody>
      </p:sp>
      <p:sp>
        <p:nvSpPr>
          <p:cNvPr id="19"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03_bernoulli_logit.R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3 · WILD FISH IN A HATCHERY RIVER</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The Hierarchical GE Regression</a:t>
            </a:r>
            <a:endParaRPr lang="en-US" sz="3200" dirty="0"/>
          </a:p>
        </p:txBody>
      </p:sp>
      <p:pic>
        <p:nvPicPr>
          <p:cNvPr id="5" name="eq_reg" descr="/home/claude/deck/assets/eq_reg.png">    </p:cNvPr>
          <p:cNvPicPr>
            <a:picLocks noChangeAspect="1"/>
          </p:cNvPicPr>
          <p:nvPr/>
        </p:nvPicPr>
        <p:blipFill>
          <a:blip r:embed="rId1"/>
          <a:stretch>
            <a:fillRect/>
          </a:stretch>
        </p:blipFill>
        <p:spPr>
          <a:xfrm>
            <a:off x="548640" y="1572768"/>
            <a:ext cx="8260080" cy="457200"/>
          </a:xfrm>
          <a:prstGeom prst="rect">
            <a:avLst/>
          </a:prstGeom>
        </p:spPr>
      </p:pic>
      <p:sp>
        <p:nvSpPr>
          <p:cNvPr id="6" name="Text 2"/>
          <p:cNvSpPr txBox="1"/>
          <p:nvPr/>
        </p:nvSpPr>
        <p:spPr>
          <a:xfrm>
            <a:off x="548640" y="2103120"/>
            <a:ext cx="11091672" cy="274320"/>
          </a:xfrm>
          <a:prstGeom prst="rect">
            <a:avLst/>
          </a:prstGeom>
          <a:noFill/>
          <a:ln/>
        </p:spPr>
        <p:txBody>
          <a:bodyPr wrap="square" lIns="0" tIns="0" rIns="0" bIns="0" rtlCol="0" anchor="t"/>
          <a:lstStyle/>
          <a:p>
            <a:pPr algn="l" indent="0" marL="0">
              <a:buNone/>
            </a:pPr>
            <a:r>
              <a:rPr lang="en-US" sz="1300" dirty="0">
                <a:solidFill>
                  <a:srgbClr val="5B6B73"/>
                </a:solidFill>
              </a:rPr>
              <a:t>r = rear type, s = week, g(s) = the week's stratum. The spill slope is constrained: β ≤ 0.</a:t>
            </a:r>
            <a:endParaRPr lang="en-US" sz="1300" dirty="0"/>
          </a:p>
        </p:txBody>
      </p:sp>
      <p:sp>
        <p:nvSpPr>
          <p:cNvPr id="7" name="Text 3"/>
          <p:cNvSpPr/>
          <p:nvPr/>
        </p:nvSpPr>
        <p:spPr>
          <a:xfrm>
            <a:off x="2423160" y="2606040"/>
            <a:ext cx="2011680"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400" b="1" dirty="0">
                <a:solidFill>
                  <a:schemeClr val="bg1"/>
                </a:solidFill>
              </a:rPr>
              <a:t>Season average</a:t>
            </a:r>
            <a:endParaRPr lang="en-US" sz="1400" dirty="0"/>
          </a:p>
        </p:txBody>
      </p:sp>
      <p:sp>
        <p:nvSpPr>
          <p:cNvPr id="8" name="Shape 4"/>
          <p:cNvSpPr/>
          <p:nvPr/>
        </p:nvSpPr>
        <p:spPr>
          <a:xfrm flipH="1">
            <a:off x="1463040" y="3063240"/>
            <a:ext cx="1965960" cy="457200"/>
          </a:xfrm>
          <a:prstGeom prst="line">
            <a:avLst/>
          </a:prstGeom>
          <a:noFill/>
          <a:ln w="15875">
            <a:solidFill>
              <a:srgbClr val="8A949A"/>
            </a:solidFill>
            <a:prstDash val="solid"/>
          </a:ln>
        </p:spPr>
      </p:sp>
      <p:sp>
        <p:nvSpPr>
          <p:cNvPr id="9" name="Text 5"/>
          <p:cNvSpPr/>
          <p:nvPr/>
        </p:nvSpPr>
        <p:spPr>
          <a:xfrm>
            <a:off x="685800" y="3520440"/>
            <a:ext cx="1554480" cy="411480"/>
          </a:xfrm>
          <a:prstGeom prst="roundRect">
            <a:avLst>
              <a:gd name="adj" fmla="val 17778"/>
            </a:avLst>
          </a:prstGeom>
          <a:solidFill>
            <a:schemeClr val="accent5"/>
          </a:solidFill>
          <a:ln/>
        </p:spPr>
        <p:txBody>
          <a:bodyPr wrap="square" lIns="0" tIns="0" rIns="0" bIns="0" rtlCol="0" anchor="ctr"/>
          <a:lstStyle/>
          <a:p>
            <a:pPr algn="ctr" indent="0" marL="0">
              <a:buNone/>
            </a:pPr>
            <a:r>
              <a:rPr lang="en-US" sz="1300" b="1" dirty="0">
                <a:solidFill>
                  <a:schemeClr val="bg1"/>
                </a:solidFill>
              </a:rPr>
              <a:t>Stratum 1</a:t>
            </a:r>
            <a:endParaRPr lang="en-US" sz="1300" dirty="0"/>
          </a:p>
        </p:txBody>
      </p:sp>
      <p:sp>
        <p:nvSpPr>
          <p:cNvPr id="10" name="Shape 6"/>
          <p:cNvSpPr/>
          <p:nvPr/>
        </p:nvSpPr>
        <p:spPr>
          <a:xfrm flipH="1">
            <a:off x="804672" y="3931920"/>
            <a:ext cx="658368" cy="573146"/>
          </a:xfrm>
          <a:prstGeom prst="line">
            <a:avLst/>
          </a:prstGeom>
          <a:noFill/>
          <a:ln w="12700">
            <a:solidFill>
              <a:srgbClr val="B8C2C7"/>
            </a:solidFill>
            <a:prstDash val="solid"/>
          </a:ln>
        </p:spPr>
      </p:sp>
      <p:sp>
        <p:nvSpPr>
          <p:cNvPr id="11" name="Shape 7"/>
          <p:cNvSpPr/>
          <p:nvPr/>
        </p:nvSpPr>
        <p:spPr>
          <a:xfrm>
            <a:off x="600578" y="4505066"/>
            <a:ext cx="408188" cy="408188"/>
          </a:xfrm>
          <a:prstGeom prst="ellipse">
            <a:avLst/>
          </a:prstGeom>
          <a:solidFill>
            <a:srgbClr val="CFE5E7"/>
          </a:solidFill>
          <a:ln w="15875">
            <a:solidFill>
              <a:schemeClr val="accent5"/>
            </a:solidFill>
            <a:prstDash val="solid"/>
          </a:ln>
        </p:spPr>
      </p:sp>
      <p:sp>
        <p:nvSpPr>
          <p:cNvPr id="12" name="Shape 8"/>
          <p:cNvSpPr/>
          <p:nvPr/>
        </p:nvSpPr>
        <p:spPr>
          <a:xfrm flipH="1">
            <a:off x="1243584" y="3931920"/>
            <a:ext cx="219456" cy="678485"/>
          </a:xfrm>
          <a:prstGeom prst="line">
            <a:avLst/>
          </a:prstGeom>
          <a:noFill/>
          <a:ln w="12700">
            <a:solidFill>
              <a:srgbClr val="B8C2C7"/>
            </a:solidFill>
            <a:prstDash val="solid"/>
          </a:ln>
        </p:spPr>
      </p:sp>
      <p:sp>
        <p:nvSpPr>
          <p:cNvPr id="13" name="Shape 9"/>
          <p:cNvSpPr/>
          <p:nvPr/>
        </p:nvSpPr>
        <p:spPr>
          <a:xfrm>
            <a:off x="1144829" y="4610405"/>
            <a:ext cx="197510" cy="197510"/>
          </a:xfrm>
          <a:prstGeom prst="ellipse">
            <a:avLst/>
          </a:prstGeom>
          <a:solidFill>
            <a:srgbClr val="FFFFFF"/>
          </a:solidFill>
          <a:ln w="15875">
            <a:solidFill>
              <a:schemeClr val="accent5"/>
            </a:solidFill>
            <a:prstDash val="dash"/>
          </a:ln>
        </p:spPr>
      </p:sp>
      <p:sp>
        <p:nvSpPr>
          <p:cNvPr id="14" name="Shape 10"/>
          <p:cNvSpPr/>
          <p:nvPr/>
        </p:nvSpPr>
        <p:spPr>
          <a:xfrm>
            <a:off x="1463040" y="3931920"/>
            <a:ext cx="219456" cy="612648"/>
          </a:xfrm>
          <a:prstGeom prst="line">
            <a:avLst/>
          </a:prstGeom>
          <a:noFill/>
          <a:ln w="12700">
            <a:solidFill>
              <a:srgbClr val="B8C2C7"/>
            </a:solidFill>
            <a:prstDash val="solid"/>
          </a:ln>
        </p:spPr>
      </p:sp>
      <p:sp>
        <p:nvSpPr>
          <p:cNvPr id="15" name="Shape 11"/>
          <p:cNvSpPr/>
          <p:nvPr/>
        </p:nvSpPr>
        <p:spPr>
          <a:xfrm>
            <a:off x="1517904" y="4544568"/>
            <a:ext cx="329184" cy="329184"/>
          </a:xfrm>
          <a:prstGeom prst="ellipse">
            <a:avLst/>
          </a:prstGeom>
          <a:solidFill>
            <a:srgbClr val="CFE5E7"/>
          </a:solidFill>
          <a:ln w="15875">
            <a:solidFill>
              <a:schemeClr val="accent5"/>
            </a:solidFill>
            <a:prstDash val="solid"/>
          </a:ln>
        </p:spPr>
      </p:sp>
      <p:sp>
        <p:nvSpPr>
          <p:cNvPr id="16" name="Shape 12"/>
          <p:cNvSpPr/>
          <p:nvPr/>
        </p:nvSpPr>
        <p:spPr>
          <a:xfrm>
            <a:off x="1463040" y="3931920"/>
            <a:ext cx="658368" cy="704820"/>
          </a:xfrm>
          <a:prstGeom prst="line">
            <a:avLst/>
          </a:prstGeom>
          <a:noFill/>
          <a:ln w="12700">
            <a:solidFill>
              <a:srgbClr val="B8C2C7"/>
            </a:solidFill>
            <a:prstDash val="solid"/>
          </a:ln>
        </p:spPr>
      </p:sp>
      <p:sp>
        <p:nvSpPr>
          <p:cNvPr id="17" name="Shape 13"/>
          <p:cNvSpPr/>
          <p:nvPr/>
        </p:nvSpPr>
        <p:spPr>
          <a:xfrm>
            <a:off x="2048988" y="4636740"/>
            <a:ext cx="144841" cy="144841"/>
          </a:xfrm>
          <a:prstGeom prst="ellipse">
            <a:avLst/>
          </a:prstGeom>
          <a:solidFill>
            <a:srgbClr val="FFFFFF"/>
          </a:solidFill>
          <a:ln w="15875">
            <a:solidFill>
              <a:schemeClr val="accent5"/>
            </a:solidFill>
            <a:prstDash val="dash"/>
          </a:ln>
        </p:spPr>
      </p:sp>
      <p:sp>
        <p:nvSpPr>
          <p:cNvPr id="18" name="Shape 14"/>
          <p:cNvSpPr/>
          <p:nvPr/>
        </p:nvSpPr>
        <p:spPr>
          <a:xfrm>
            <a:off x="3429000" y="3063240"/>
            <a:ext cx="914" cy="457200"/>
          </a:xfrm>
          <a:prstGeom prst="line">
            <a:avLst/>
          </a:prstGeom>
          <a:noFill/>
          <a:ln w="15875">
            <a:solidFill>
              <a:srgbClr val="8A949A"/>
            </a:solidFill>
            <a:prstDash val="solid"/>
          </a:ln>
        </p:spPr>
      </p:sp>
      <p:sp>
        <p:nvSpPr>
          <p:cNvPr id="19" name="Text 15"/>
          <p:cNvSpPr/>
          <p:nvPr/>
        </p:nvSpPr>
        <p:spPr>
          <a:xfrm>
            <a:off x="2651760" y="3520440"/>
            <a:ext cx="1554480" cy="411480"/>
          </a:xfrm>
          <a:prstGeom prst="roundRect">
            <a:avLst>
              <a:gd name="adj" fmla="val 17778"/>
            </a:avLst>
          </a:prstGeom>
          <a:solidFill>
            <a:schemeClr val="accent5"/>
          </a:solidFill>
          <a:ln/>
        </p:spPr>
        <p:txBody>
          <a:bodyPr wrap="square" lIns="0" tIns="0" rIns="0" bIns="0" rtlCol="0" anchor="ctr"/>
          <a:lstStyle/>
          <a:p>
            <a:pPr algn="ctr" indent="0" marL="0">
              <a:buNone/>
            </a:pPr>
            <a:r>
              <a:rPr lang="en-US" sz="1300" b="1" dirty="0">
                <a:solidFill>
                  <a:schemeClr val="bg1"/>
                </a:solidFill>
              </a:rPr>
              <a:t>Stratum 2</a:t>
            </a:r>
            <a:endParaRPr lang="en-US" sz="1300" dirty="0"/>
          </a:p>
        </p:txBody>
      </p:sp>
      <p:sp>
        <p:nvSpPr>
          <p:cNvPr id="20" name="Shape 16"/>
          <p:cNvSpPr/>
          <p:nvPr/>
        </p:nvSpPr>
        <p:spPr>
          <a:xfrm flipH="1">
            <a:off x="2770632" y="3931920"/>
            <a:ext cx="658368" cy="645566"/>
          </a:xfrm>
          <a:prstGeom prst="line">
            <a:avLst/>
          </a:prstGeom>
          <a:noFill/>
          <a:ln w="12700">
            <a:solidFill>
              <a:srgbClr val="B8C2C7"/>
            </a:solidFill>
            <a:prstDash val="solid"/>
          </a:ln>
        </p:spPr>
      </p:sp>
      <p:sp>
        <p:nvSpPr>
          <p:cNvPr id="21" name="Shape 17"/>
          <p:cNvSpPr/>
          <p:nvPr/>
        </p:nvSpPr>
        <p:spPr>
          <a:xfrm>
            <a:off x="2638958" y="4577486"/>
            <a:ext cx="263347" cy="263347"/>
          </a:xfrm>
          <a:prstGeom prst="ellipse">
            <a:avLst/>
          </a:prstGeom>
          <a:solidFill>
            <a:srgbClr val="CFE5E7"/>
          </a:solidFill>
          <a:ln w="15875">
            <a:solidFill>
              <a:schemeClr val="accent5"/>
            </a:solidFill>
            <a:prstDash val="solid"/>
          </a:ln>
        </p:spPr>
      </p:sp>
      <p:sp>
        <p:nvSpPr>
          <p:cNvPr id="22" name="Shape 18"/>
          <p:cNvSpPr/>
          <p:nvPr/>
        </p:nvSpPr>
        <p:spPr>
          <a:xfrm flipH="1">
            <a:off x="3209544" y="3931920"/>
            <a:ext cx="219456" cy="559979"/>
          </a:xfrm>
          <a:prstGeom prst="line">
            <a:avLst/>
          </a:prstGeom>
          <a:noFill/>
          <a:ln w="12700">
            <a:solidFill>
              <a:srgbClr val="B8C2C7"/>
            </a:solidFill>
            <a:prstDash val="solid"/>
          </a:ln>
        </p:spPr>
      </p:sp>
      <p:sp>
        <p:nvSpPr>
          <p:cNvPr id="23" name="Shape 19"/>
          <p:cNvSpPr/>
          <p:nvPr/>
        </p:nvSpPr>
        <p:spPr>
          <a:xfrm>
            <a:off x="2992283" y="4491899"/>
            <a:ext cx="434523" cy="434523"/>
          </a:xfrm>
          <a:prstGeom prst="ellipse">
            <a:avLst/>
          </a:prstGeom>
          <a:solidFill>
            <a:srgbClr val="CFE5E7"/>
          </a:solidFill>
          <a:ln w="15875">
            <a:solidFill>
              <a:schemeClr val="accent5"/>
            </a:solidFill>
            <a:prstDash val="solid"/>
          </a:ln>
        </p:spPr>
      </p:sp>
      <p:sp>
        <p:nvSpPr>
          <p:cNvPr id="24" name="Shape 20"/>
          <p:cNvSpPr/>
          <p:nvPr/>
        </p:nvSpPr>
        <p:spPr>
          <a:xfrm>
            <a:off x="3429000" y="3931920"/>
            <a:ext cx="219456" cy="691652"/>
          </a:xfrm>
          <a:prstGeom prst="line">
            <a:avLst/>
          </a:prstGeom>
          <a:noFill/>
          <a:ln w="12700">
            <a:solidFill>
              <a:srgbClr val="B8C2C7"/>
            </a:solidFill>
            <a:prstDash val="solid"/>
          </a:ln>
        </p:spPr>
      </p:sp>
      <p:sp>
        <p:nvSpPr>
          <p:cNvPr id="25" name="Shape 21"/>
          <p:cNvSpPr/>
          <p:nvPr/>
        </p:nvSpPr>
        <p:spPr>
          <a:xfrm>
            <a:off x="3562868" y="4623572"/>
            <a:ext cx="171176" cy="171176"/>
          </a:xfrm>
          <a:prstGeom prst="ellipse">
            <a:avLst/>
          </a:prstGeom>
          <a:solidFill>
            <a:srgbClr val="FFFFFF"/>
          </a:solidFill>
          <a:ln w="15875">
            <a:solidFill>
              <a:schemeClr val="accent5"/>
            </a:solidFill>
            <a:prstDash val="dash"/>
          </a:ln>
        </p:spPr>
      </p:sp>
      <p:sp>
        <p:nvSpPr>
          <p:cNvPr id="26" name="Shape 22"/>
          <p:cNvSpPr/>
          <p:nvPr/>
        </p:nvSpPr>
        <p:spPr>
          <a:xfrm>
            <a:off x="3429000" y="3931920"/>
            <a:ext cx="658368" cy="619232"/>
          </a:xfrm>
          <a:prstGeom prst="line">
            <a:avLst/>
          </a:prstGeom>
          <a:noFill/>
          <a:ln w="12700">
            <a:solidFill>
              <a:srgbClr val="B8C2C7"/>
            </a:solidFill>
            <a:prstDash val="solid"/>
          </a:ln>
        </p:spPr>
      </p:sp>
      <p:sp>
        <p:nvSpPr>
          <p:cNvPr id="27" name="Shape 23"/>
          <p:cNvSpPr/>
          <p:nvPr/>
        </p:nvSpPr>
        <p:spPr>
          <a:xfrm>
            <a:off x="3929360" y="4551152"/>
            <a:ext cx="316017" cy="316017"/>
          </a:xfrm>
          <a:prstGeom prst="ellipse">
            <a:avLst/>
          </a:prstGeom>
          <a:solidFill>
            <a:srgbClr val="CFE5E7"/>
          </a:solidFill>
          <a:ln w="15875">
            <a:solidFill>
              <a:schemeClr val="accent5"/>
            </a:solidFill>
            <a:prstDash val="solid"/>
          </a:ln>
        </p:spPr>
      </p:sp>
      <p:sp>
        <p:nvSpPr>
          <p:cNvPr id="28" name="Shape 24"/>
          <p:cNvSpPr/>
          <p:nvPr/>
        </p:nvSpPr>
        <p:spPr>
          <a:xfrm>
            <a:off x="3429000" y="3063240"/>
            <a:ext cx="1965960" cy="457200"/>
          </a:xfrm>
          <a:prstGeom prst="line">
            <a:avLst/>
          </a:prstGeom>
          <a:noFill/>
          <a:ln w="15875">
            <a:solidFill>
              <a:srgbClr val="8A949A"/>
            </a:solidFill>
            <a:prstDash val="solid"/>
          </a:ln>
        </p:spPr>
      </p:sp>
      <p:sp>
        <p:nvSpPr>
          <p:cNvPr id="29" name="Text 25"/>
          <p:cNvSpPr/>
          <p:nvPr/>
        </p:nvSpPr>
        <p:spPr>
          <a:xfrm>
            <a:off x="4617720" y="3520440"/>
            <a:ext cx="1554480" cy="411480"/>
          </a:xfrm>
          <a:prstGeom prst="roundRect">
            <a:avLst>
              <a:gd name="adj" fmla="val 17778"/>
            </a:avLst>
          </a:prstGeom>
          <a:solidFill>
            <a:schemeClr val="accent5"/>
          </a:solidFill>
          <a:ln/>
        </p:spPr>
        <p:txBody>
          <a:bodyPr wrap="square" lIns="0" tIns="0" rIns="0" bIns="0" rtlCol="0" anchor="ctr"/>
          <a:lstStyle/>
          <a:p>
            <a:pPr algn="ctr" indent="0" marL="0">
              <a:buNone/>
            </a:pPr>
            <a:r>
              <a:rPr lang="en-US" sz="1300" b="1" dirty="0">
                <a:solidFill>
                  <a:schemeClr val="bg1"/>
                </a:solidFill>
              </a:rPr>
              <a:t>Stratum 3</a:t>
            </a:r>
            <a:endParaRPr lang="en-US" sz="1300" dirty="0"/>
          </a:p>
        </p:txBody>
      </p:sp>
      <p:sp>
        <p:nvSpPr>
          <p:cNvPr id="30" name="Shape 26"/>
          <p:cNvSpPr/>
          <p:nvPr/>
        </p:nvSpPr>
        <p:spPr>
          <a:xfrm flipH="1">
            <a:off x="4736592" y="3931920"/>
            <a:ext cx="658368" cy="698236"/>
          </a:xfrm>
          <a:prstGeom prst="line">
            <a:avLst/>
          </a:prstGeom>
          <a:noFill/>
          <a:ln w="12700">
            <a:solidFill>
              <a:srgbClr val="B8C2C7"/>
            </a:solidFill>
            <a:prstDash val="solid"/>
          </a:ln>
        </p:spPr>
      </p:sp>
      <p:sp>
        <p:nvSpPr>
          <p:cNvPr id="31" name="Shape 27"/>
          <p:cNvSpPr/>
          <p:nvPr/>
        </p:nvSpPr>
        <p:spPr>
          <a:xfrm>
            <a:off x="4657588" y="4630156"/>
            <a:ext cx="158008" cy="158008"/>
          </a:xfrm>
          <a:prstGeom prst="ellipse">
            <a:avLst/>
          </a:prstGeom>
          <a:solidFill>
            <a:srgbClr val="FFFFFF"/>
          </a:solidFill>
          <a:ln w="15875">
            <a:solidFill>
              <a:schemeClr val="accent5"/>
            </a:solidFill>
            <a:prstDash val="dash"/>
          </a:ln>
        </p:spPr>
      </p:sp>
      <p:sp>
        <p:nvSpPr>
          <p:cNvPr id="32" name="Shape 28"/>
          <p:cNvSpPr/>
          <p:nvPr/>
        </p:nvSpPr>
        <p:spPr>
          <a:xfrm flipH="1">
            <a:off x="5175504" y="3931920"/>
            <a:ext cx="219456" cy="658734"/>
          </a:xfrm>
          <a:prstGeom prst="line">
            <a:avLst/>
          </a:prstGeom>
          <a:noFill/>
          <a:ln w="12700">
            <a:solidFill>
              <a:srgbClr val="B8C2C7"/>
            </a:solidFill>
            <a:prstDash val="solid"/>
          </a:ln>
        </p:spPr>
      </p:sp>
      <p:sp>
        <p:nvSpPr>
          <p:cNvPr id="33" name="Shape 29"/>
          <p:cNvSpPr/>
          <p:nvPr/>
        </p:nvSpPr>
        <p:spPr>
          <a:xfrm>
            <a:off x="5056998" y="4590654"/>
            <a:ext cx="237012" cy="237012"/>
          </a:xfrm>
          <a:prstGeom prst="ellipse">
            <a:avLst/>
          </a:prstGeom>
          <a:solidFill>
            <a:srgbClr val="CFE5E7"/>
          </a:solidFill>
          <a:ln w="15875">
            <a:solidFill>
              <a:schemeClr val="accent5"/>
            </a:solidFill>
            <a:prstDash val="solid"/>
          </a:ln>
        </p:spPr>
      </p:sp>
      <p:sp>
        <p:nvSpPr>
          <p:cNvPr id="34" name="Shape 30"/>
          <p:cNvSpPr/>
          <p:nvPr/>
        </p:nvSpPr>
        <p:spPr>
          <a:xfrm>
            <a:off x="5394960" y="3931920"/>
            <a:ext cx="219456" cy="586313"/>
          </a:xfrm>
          <a:prstGeom prst="line">
            <a:avLst/>
          </a:prstGeom>
          <a:noFill/>
          <a:ln w="12700">
            <a:solidFill>
              <a:srgbClr val="B8C2C7"/>
            </a:solidFill>
            <a:prstDash val="solid"/>
          </a:ln>
        </p:spPr>
      </p:sp>
      <p:sp>
        <p:nvSpPr>
          <p:cNvPr id="35" name="Shape 31"/>
          <p:cNvSpPr/>
          <p:nvPr/>
        </p:nvSpPr>
        <p:spPr>
          <a:xfrm>
            <a:off x="5423489" y="4518233"/>
            <a:ext cx="381853" cy="381853"/>
          </a:xfrm>
          <a:prstGeom prst="ellipse">
            <a:avLst/>
          </a:prstGeom>
          <a:solidFill>
            <a:srgbClr val="CFE5E7"/>
          </a:solidFill>
          <a:ln w="15875">
            <a:solidFill>
              <a:schemeClr val="accent5"/>
            </a:solidFill>
            <a:prstDash val="solid"/>
          </a:ln>
        </p:spPr>
      </p:sp>
      <p:sp>
        <p:nvSpPr>
          <p:cNvPr id="36" name="Shape 32"/>
          <p:cNvSpPr/>
          <p:nvPr/>
        </p:nvSpPr>
        <p:spPr>
          <a:xfrm>
            <a:off x="5394960" y="3931920"/>
            <a:ext cx="658368" cy="678485"/>
          </a:xfrm>
          <a:prstGeom prst="line">
            <a:avLst/>
          </a:prstGeom>
          <a:noFill/>
          <a:ln w="12700">
            <a:solidFill>
              <a:srgbClr val="B8C2C7"/>
            </a:solidFill>
            <a:prstDash val="solid"/>
          </a:ln>
        </p:spPr>
      </p:sp>
      <p:sp>
        <p:nvSpPr>
          <p:cNvPr id="37" name="Shape 33"/>
          <p:cNvSpPr/>
          <p:nvPr/>
        </p:nvSpPr>
        <p:spPr>
          <a:xfrm>
            <a:off x="5954573" y="4610405"/>
            <a:ext cx="197510" cy="197510"/>
          </a:xfrm>
          <a:prstGeom prst="ellipse">
            <a:avLst/>
          </a:prstGeom>
          <a:solidFill>
            <a:srgbClr val="FFFFFF"/>
          </a:solidFill>
          <a:ln w="15875">
            <a:solidFill>
              <a:schemeClr val="accent5"/>
            </a:solidFill>
            <a:prstDash val="dash"/>
          </a:ln>
        </p:spPr>
      </p:sp>
      <p:sp>
        <p:nvSpPr>
          <p:cNvPr id="38" name="Shape 34"/>
          <p:cNvSpPr/>
          <p:nvPr/>
        </p:nvSpPr>
        <p:spPr>
          <a:xfrm>
            <a:off x="6537960" y="2487168"/>
            <a:ext cx="5102352" cy="2761488"/>
          </a:xfrm>
          <a:prstGeom prst="roundRect">
            <a:avLst>
              <a:gd name="adj" fmla="val 2649"/>
            </a:avLst>
          </a:prstGeom>
          <a:solidFill>
            <a:srgbClr val="F4F6F7"/>
          </a:solidFill>
          <a:ln w="9525">
            <a:solidFill>
              <a:srgbClr val="D3DEE1"/>
            </a:solidFill>
            <a:prstDash val="solid"/>
          </a:ln>
        </p:spPr>
      </p:sp>
      <p:sp>
        <p:nvSpPr>
          <p:cNvPr id="39" name="jags_code"/>
          <p:cNvSpPr txBox="1"/>
          <p:nvPr/>
        </p:nvSpPr>
        <p:spPr>
          <a:xfrm>
            <a:off x="6675120" y="2560320"/>
            <a:ext cx="4892040" cy="2651760"/>
          </a:xfrm>
          <a:prstGeom prst="rect">
            <a:avLst/>
          </a:prstGeom>
          <a:noFill/>
          <a:ln/>
        </p:spPr>
        <p:txBody>
          <a:bodyPr wrap="square" lIns="0" tIns="0" rIns="0" bIns="0" rtlCol="0" anchor="t"/>
          <a:lstStyle/>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for (r in 1:R) {</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for (s in 1:S) {</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 each week's GE, on the logit scale</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logit_psi[r,s] ~ dnorm(</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mu_strat[parent[s]] + rear_psi[r] +</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beta * psi_spill_std[r,s] +</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beta_outflow * psi_outflow_std[r,s],</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tau_psi)</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 convert logit scale to probability scale</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psi[r,s] &lt;- ilogit(logit_psi[r,s])</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  }</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weeks shrink toward their stratum,</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strata shrink toward the season average</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for (g in 1:n_strat) { mu_strat[g] ~ dnorm(alpha, tau_strat) }</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spill can only lower GE</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beta ~ dnorm(0, pow(slope_sd, -2)) T(, 0)</a:t>
            </a:r>
            <a:endParaRPr lang="en-US" sz="950" dirty="0"/>
          </a:p>
          <a:p>
            <a:pPr indent="0" marL="0">
              <a:lnSpc>
                <a:spcPct val="95000"/>
              </a:lnSpc>
              <a:buNone/>
            </a:pPr>
            <a:r>
              <a:rPr lang="en-US" sz="950" i="1" dirty="0">
                <a:solidFill>
                  <a:srgbClr val="1F6F78"/>
                </a:solidFill>
                <a:latin typeface="Courier New" pitchFamily="34" charset="0"/>
                <a:ea typeface="Courier New" pitchFamily="34" charset="-122"/>
                <a:cs typeface="Courier New" pitchFamily="34" charset="-120"/>
              </a:rPr>
              <a:t># rear offsets: fixed, centered to sum to zero</a:t>
            </a:r>
            <a:endParaRPr lang="en-US" sz="950" dirty="0"/>
          </a:p>
          <a:p>
            <a:pPr indent="0" marL="0">
              <a:lnSpc>
                <a:spcPct val="95000"/>
              </a:lnSpc>
              <a:buNone/>
            </a:pPr>
            <a:r>
              <a:rPr lang="en-US" sz="950" dirty="0">
                <a:solidFill>
                  <a:srgbClr val="1B2A33"/>
                </a:solidFill>
                <a:latin typeface="Courier New" pitchFamily="34" charset="0"/>
                <a:ea typeface="Courier New" pitchFamily="34" charset="-122"/>
                <a:cs typeface="Courier New" pitchFamily="34" charset="-120"/>
              </a:rPr>
              <a:t>rear_psi[r] &lt;- rear_psi_raw[r] - rear_psi_mean</a:t>
            </a:r>
            <a:endParaRPr lang="en-US" sz="950" dirty="0"/>
          </a:p>
        </p:txBody>
      </p:sp>
      <p:sp>
        <p:nvSpPr>
          <p:cNvPr id="40" name="Text 36"/>
          <p:cNvSpPr txBox="1"/>
          <p:nvPr/>
        </p:nvSpPr>
        <p:spPr>
          <a:xfrm>
            <a:off x="6537960" y="5285232"/>
            <a:ext cx="5102352" cy="228600"/>
          </a:xfrm>
          <a:prstGeom prst="rect">
            <a:avLst/>
          </a:prstGeom>
          <a:noFill/>
          <a:ln/>
        </p:spPr>
        <p:txBody>
          <a:bodyPr wrap="square" lIns="0" tIns="0" rIns="0" bIns="0" rtlCol="0" anchor="t"/>
          <a:lstStyle/>
          <a:p>
            <a:pPr algn="l" indent="0" marL="0">
              <a:buNone/>
            </a:pPr>
            <a:r>
              <a:rPr lang="en-US" sz="1000" dirty="0">
                <a:solidFill>
                  <a:srgbClr val="5B6B73"/>
                </a:solidFill>
              </a:rPr>
              <a:t>JAGS from smoltEASE, trimmed; comments added. Day/night split: slide 21.</a:t>
            </a:r>
            <a:endParaRPr lang="en-US" sz="1000" dirty="0"/>
          </a:p>
        </p:txBody>
      </p:sp>
      <p:sp>
        <p:nvSpPr>
          <p:cNvPr id="41" name="Text 37"/>
          <p:cNvSpPr txBox="1"/>
          <p:nvPr/>
        </p:nvSpPr>
        <p:spPr>
          <a:xfrm>
            <a:off x="548640" y="5669280"/>
            <a:ext cx="11091672" cy="548640"/>
          </a:xfrm>
          <a:prstGeom prst="rect">
            <a:avLst/>
          </a:prstGeom>
          <a:noFill/>
          <a:ln/>
        </p:spPr>
        <p:txBody>
          <a:bodyPr wrap="square" lIns="0" tIns="0" rIns="0" bIns="0" rtlCol="0" anchor="t"/>
          <a:lstStyle/>
          <a:p>
            <a:pPr algn="l" indent="0" marL="0">
              <a:buNone/>
            </a:pPr>
            <a:r>
              <a:rPr lang="en-US" sz="1500" b="1" dirty="0">
                <a:solidFill>
                  <a:schemeClr val="tx2"/>
                </a:solidFill>
              </a:rPr>
              <a:t>A week with many fish is set by its own fish; a thin week gets pulled toward its stratum.</a:t>
            </a:r>
            <a:endParaRPr lang="en-US" sz="1500" dirty="0"/>
          </a:p>
          <a:p>
            <a:pPr algn="l" indent="0" marL="0">
              <a:buNone/>
            </a:pPr>
            <a:r>
              <a:rPr lang="en-US" sz="1200" dirty="0">
                <a:solidFill>
                  <a:srgbClr val="5B6B73"/>
                </a:solidFill>
              </a:rPr>
              <a:t>Circle size = tagged fish that week (dashed: thin weeks). BPA tie-in: 7.4 (random time effects) and 7.6 (time and group effects).</a:t>
            </a:r>
            <a:endParaRPr lang="en-US" sz="1500" dirty="0"/>
          </a:p>
        </p:txBody>
      </p:sp>
      <p:sp>
        <p:nvSpPr>
          <p:cNvPr id="42"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06_hierarchical.R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4 · DAY AND NIGHT</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Day and Night GE Are Very Different</a:t>
            </a:r>
            <a:endParaRPr lang="en-US" sz="3200" dirty="0"/>
          </a:p>
        </p:txBody>
      </p:sp>
      <p:pic>
        <p:nvPicPr>
          <p:cNvPr id="5" name="diel_ge_by_time" descr="/home/claude/deck/assets/diel_ge_by_time.png">    </p:cNvPr>
          <p:cNvPicPr>
            <a:picLocks noChangeAspect="1"/>
          </p:cNvPicPr>
          <p:nvPr/>
        </p:nvPicPr>
        <p:blipFill>
          <a:blip r:embed="rId1"/>
          <a:stretch>
            <a:fillRect/>
          </a:stretch>
        </p:blipFill>
        <p:spPr>
          <a:xfrm>
            <a:off x="548640" y="1508760"/>
            <a:ext cx="7635240" cy="3469090"/>
          </a:xfrm>
          <a:prstGeom prst="rect">
            <a:avLst/>
          </a:prstGeom>
        </p:spPr>
      </p:pic>
      <p:sp>
        <p:nvSpPr>
          <p:cNvPr id="6" name="Shape 2"/>
          <p:cNvSpPr/>
          <p:nvPr/>
        </p:nvSpPr>
        <p:spPr>
          <a:xfrm>
            <a:off x="8458200" y="1508760"/>
            <a:ext cx="3182112" cy="1051560"/>
          </a:xfrm>
          <a:prstGeom prst="roundRect">
            <a:avLst>
              <a:gd name="adj" fmla="val 6957"/>
            </a:avLst>
          </a:prstGeom>
          <a:solidFill>
            <a:srgbClr val="FFFFFF"/>
          </a:solidFill>
          <a:ln w="9525">
            <a:solidFill>
              <a:schemeClr val="accent2"/>
            </a:solidFill>
            <a:prstDash val="solid"/>
          </a:ln>
        </p:spPr>
      </p:sp>
      <p:sp>
        <p:nvSpPr>
          <p:cNvPr id="7" name="Text 3"/>
          <p:cNvSpPr txBox="1"/>
          <p:nvPr/>
        </p:nvSpPr>
        <p:spPr>
          <a:xfrm>
            <a:off x="8659368" y="1508760"/>
            <a:ext cx="1234440" cy="1051560"/>
          </a:xfrm>
          <a:prstGeom prst="rect">
            <a:avLst/>
          </a:prstGeom>
          <a:noFill/>
          <a:ln/>
        </p:spPr>
        <p:txBody>
          <a:bodyPr wrap="square" lIns="0" tIns="0" rIns="0" bIns="0" rtlCol="0" anchor="ctr"/>
          <a:lstStyle/>
          <a:p>
            <a:pPr algn="l" indent="0" marL="0">
              <a:buNone/>
            </a:pPr>
            <a:r>
              <a:rPr lang="en-US" sz="3400" b="1" dirty="0">
                <a:solidFill>
                  <a:schemeClr val="accent2"/>
                </a:solidFill>
              </a:rPr>
              <a:t>1%</a:t>
            </a:r>
            <a:endParaRPr lang="en-US" sz="3400" dirty="0"/>
          </a:p>
        </p:txBody>
      </p:sp>
      <p:sp>
        <p:nvSpPr>
          <p:cNvPr id="8" name="Text 4"/>
          <p:cNvSpPr txBox="1"/>
          <p:nvPr/>
        </p:nvSpPr>
        <p:spPr>
          <a:xfrm>
            <a:off x="9966960" y="1508760"/>
            <a:ext cx="1490472" cy="1051560"/>
          </a:xfrm>
          <a:prstGeom prst="rect">
            <a:avLst/>
          </a:prstGeom>
          <a:noFill/>
          <a:ln/>
        </p:spPr>
        <p:txBody>
          <a:bodyPr wrap="square" lIns="0" tIns="0" rIns="0" bIns="0" rtlCol="0" anchor="ctr"/>
          <a:lstStyle/>
          <a:p>
            <a:pPr algn="l" indent="0" marL="0">
              <a:buNone/>
            </a:pPr>
            <a:r>
              <a:rPr lang="en-US" sz="1300" dirty="0">
                <a:solidFill>
                  <a:schemeClr val="tx1"/>
                </a:solidFill>
              </a:rPr>
              <a:t>GE by day</a:t>
            </a:r>
            <a:endParaRPr lang="en-US" sz="1300" dirty="0"/>
          </a:p>
        </p:txBody>
      </p:sp>
      <p:sp>
        <p:nvSpPr>
          <p:cNvPr id="9" name="Shape 5"/>
          <p:cNvSpPr/>
          <p:nvPr/>
        </p:nvSpPr>
        <p:spPr>
          <a:xfrm>
            <a:off x="8458200" y="2697480"/>
            <a:ext cx="3182112" cy="1051560"/>
          </a:xfrm>
          <a:prstGeom prst="roundRect">
            <a:avLst>
              <a:gd name="adj" fmla="val 6957"/>
            </a:avLst>
          </a:prstGeom>
          <a:solidFill>
            <a:schemeClr val="tx2"/>
          </a:solidFill>
          <a:ln/>
        </p:spPr>
      </p:sp>
      <p:sp>
        <p:nvSpPr>
          <p:cNvPr id="10" name="Text 6"/>
          <p:cNvSpPr txBox="1"/>
          <p:nvPr/>
        </p:nvSpPr>
        <p:spPr>
          <a:xfrm>
            <a:off x="8659368" y="2697480"/>
            <a:ext cx="1234440" cy="1051560"/>
          </a:xfrm>
          <a:prstGeom prst="rect">
            <a:avLst/>
          </a:prstGeom>
          <a:noFill/>
          <a:ln/>
        </p:spPr>
        <p:txBody>
          <a:bodyPr wrap="square" lIns="0" tIns="0" rIns="0" bIns="0" rtlCol="0" anchor="ctr"/>
          <a:lstStyle/>
          <a:p>
            <a:pPr algn="l" indent="0" marL="0">
              <a:buNone/>
            </a:pPr>
            <a:r>
              <a:rPr lang="en-US" sz="3400" b="1" dirty="0">
                <a:solidFill>
                  <a:srgbClr val="F2C14E"/>
                </a:solidFill>
              </a:rPr>
              <a:t>26%</a:t>
            </a:r>
            <a:endParaRPr lang="en-US" sz="3400" dirty="0"/>
          </a:p>
        </p:txBody>
      </p:sp>
      <p:sp>
        <p:nvSpPr>
          <p:cNvPr id="11" name="Text 7"/>
          <p:cNvSpPr txBox="1"/>
          <p:nvPr/>
        </p:nvSpPr>
        <p:spPr>
          <a:xfrm>
            <a:off x="9966960" y="2697480"/>
            <a:ext cx="1490472" cy="1051560"/>
          </a:xfrm>
          <a:prstGeom prst="rect">
            <a:avLst/>
          </a:prstGeom>
          <a:noFill/>
          <a:ln/>
        </p:spPr>
        <p:txBody>
          <a:bodyPr wrap="square" lIns="0" tIns="0" rIns="0" bIns="0" rtlCol="0" anchor="ctr"/>
          <a:lstStyle/>
          <a:p>
            <a:pPr algn="l" indent="0" marL="0">
              <a:buNone/>
            </a:pPr>
            <a:r>
              <a:rPr lang="en-US" sz="1300" dirty="0">
                <a:solidFill>
                  <a:srgbClr val="CFE0E4"/>
                </a:solidFill>
              </a:rPr>
              <a:t>GE at night</a:t>
            </a:r>
            <a:endParaRPr lang="en-US" sz="1300" dirty="0"/>
          </a:p>
        </p:txBody>
      </p:sp>
      <p:sp>
        <p:nvSpPr>
          <p:cNvPr id="12" name="Shape 8"/>
          <p:cNvSpPr/>
          <p:nvPr/>
        </p:nvSpPr>
        <p:spPr>
          <a:xfrm>
            <a:off x="8458200" y="3886200"/>
            <a:ext cx="3182112" cy="1051560"/>
          </a:xfrm>
          <a:prstGeom prst="roundRect">
            <a:avLst>
              <a:gd name="adj" fmla="val 6957"/>
            </a:avLst>
          </a:prstGeom>
          <a:solidFill>
            <a:schemeClr val="bg2"/>
          </a:solidFill>
          <a:ln w="9525">
            <a:solidFill>
              <a:srgbClr val="D3DEE1"/>
            </a:solidFill>
            <a:prstDash val="solid"/>
          </a:ln>
        </p:spPr>
      </p:sp>
      <p:sp>
        <p:nvSpPr>
          <p:cNvPr id="13" name="Text 9"/>
          <p:cNvSpPr txBox="1"/>
          <p:nvPr/>
        </p:nvSpPr>
        <p:spPr>
          <a:xfrm>
            <a:off x="8659368" y="3886200"/>
            <a:ext cx="1234440" cy="1051560"/>
          </a:xfrm>
          <a:prstGeom prst="rect">
            <a:avLst/>
          </a:prstGeom>
          <a:noFill/>
          <a:ln/>
        </p:spPr>
        <p:txBody>
          <a:bodyPr wrap="square" lIns="0" tIns="0" rIns="0" bIns="0" rtlCol="0" anchor="ctr"/>
          <a:lstStyle/>
          <a:p>
            <a:pPr algn="l" indent="0" marL="0">
              <a:buNone/>
            </a:pPr>
            <a:r>
              <a:rPr lang="en-US" sz="3400" b="1" dirty="0">
                <a:solidFill>
                  <a:schemeClr val="accent5"/>
                </a:solidFill>
              </a:rPr>
              <a:t>16%</a:t>
            </a:r>
            <a:endParaRPr lang="en-US" sz="3400" dirty="0"/>
          </a:p>
        </p:txBody>
      </p:sp>
      <p:sp>
        <p:nvSpPr>
          <p:cNvPr id="14" name="Text 10"/>
          <p:cNvSpPr txBox="1"/>
          <p:nvPr/>
        </p:nvSpPr>
        <p:spPr>
          <a:xfrm>
            <a:off x="9966960" y="3886200"/>
            <a:ext cx="1490472" cy="1051560"/>
          </a:xfrm>
          <a:prstGeom prst="rect">
            <a:avLst/>
          </a:prstGeom>
          <a:noFill/>
          <a:ln/>
        </p:spPr>
        <p:txBody>
          <a:bodyPr wrap="square" lIns="0" tIns="0" rIns="0" bIns="0" rtlCol="0" anchor="ctr"/>
          <a:lstStyle/>
          <a:p>
            <a:pPr algn="l" indent="0" marL="0">
              <a:buNone/>
            </a:pPr>
            <a:r>
              <a:rPr lang="en-US" sz="1300" dirty="0">
                <a:solidFill>
                  <a:schemeClr val="tx1"/>
                </a:solidFill>
              </a:rPr>
              <a:t>of wild fish arrive at night</a:t>
            </a:r>
            <a:endParaRPr lang="en-US" sz="1300" dirty="0"/>
          </a:p>
        </p:txBody>
      </p:sp>
      <p:sp>
        <p:nvSpPr>
          <p:cNvPr id="15" name="Text 11"/>
          <p:cNvSpPr txBox="1"/>
          <p:nvPr/>
        </p:nvSpPr>
        <p:spPr>
          <a:xfrm>
            <a:off x="8458200" y="4983480"/>
            <a:ext cx="3182112" cy="320040"/>
          </a:xfrm>
          <a:prstGeom prst="rect">
            <a:avLst/>
          </a:prstGeom>
          <a:noFill/>
          <a:ln/>
        </p:spPr>
        <p:txBody>
          <a:bodyPr wrap="square" lIns="0" tIns="0" rIns="0" bIns="0" rtlCol="0" anchor="t"/>
          <a:lstStyle/>
          <a:p>
            <a:pPr algn="l" indent="0" marL="0">
              <a:buNone/>
            </a:pPr>
            <a:r>
              <a:rPr lang="en-US" sz="1100" dirty="0">
                <a:solidFill>
                  <a:srgbClr val="5B6B73"/>
                </a:solidFill>
              </a:rPr>
              <a:t>MY2025 wild steelhead, closed-form season ratios</a:t>
            </a:r>
            <a:endParaRPr lang="en-US" sz="1100" dirty="0"/>
          </a:p>
        </p:txBody>
      </p:sp>
      <p:sp>
        <p:nvSpPr>
          <p:cNvPr id="16" name="Shape 12"/>
          <p:cNvSpPr/>
          <p:nvPr/>
        </p:nvSpPr>
        <p:spPr>
          <a:xfrm>
            <a:off x="548640" y="5440680"/>
            <a:ext cx="11091672" cy="868680"/>
          </a:xfrm>
          <a:prstGeom prst="roundRect">
            <a:avLst>
              <a:gd name="adj" fmla="val 8421"/>
            </a:avLst>
          </a:prstGeom>
          <a:solidFill>
            <a:schemeClr val="bg2"/>
          </a:solidFill>
          <a:ln w="9525">
            <a:solidFill>
              <a:srgbClr val="D3DEE1"/>
            </a:solidFill>
            <a:prstDash val="solid"/>
          </a:ln>
        </p:spPr>
      </p:sp>
      <p:sp>
        <p:nvSpPr>
          <p:cNvPr id="17" name="Text 13"/>
          <p:cNvSpPr txBox="1"/>
          <p:nvPr/>
        </p:nvSpPr>
        <p:spPr>
          <a:xfrm>
            <a:off x="731520" y="5440680"/>
            <a:ext cx="10725912" cy="868680"/>
          </a:xfrm>
          <a:prstGeom prst="rect">
            <a:avLst/>
          </a:prstGeom>
          <a:noFill/>
          <a:ln/>
        </p:spPr>
        <p:txBody>
          <a:bodyPr wrap="square" lIns="0" tIns="0" rIns="0" bIns="0" rtlCol="0" anchor="ctr"/>
          <a:lstStyle/>
          <a:p>
            <a:pPr algn="l" indent="0" marL="0">
              <a:buNone/>
            </a:pPr>
            <a:r>
              <a:rPr lang="en-US" sz="1350" b="1" dirty="0">
                <a:solidFill>
                  <a:schemeClr val="tx2"/>
                </a:solidFill>
              </a:rPr>
              <a:t>Independent support: </a:t>
            </a:r>
            <a:pPr algn="l" indent="0" marL="0">
              <a:buNone/>
            </a:pPr>
            <a:r>
              <a:rPr lang="en-US" sz="1350" dirty="0">
                <a:solidFill>
                  <a:schemeClr val="tx1"/>
                </a:solidFill>
              </a:rPr>
              <a:t>acoustic telemetry 2008 to 2018 found steelhead powerhouse passage 1.6 to 2.0 times higher at night at Lower Granite, Little Goose, and Lower Monumental (Harnish et al. 2023). Powerhouse includes turbines, so it isn't GE, but it points the same way.</a:t>
            </a:r>
            <a:endParaRPr lang="en-US" sz="1350" dirty="0"/>
          </a:p>
        </p:txBody>
      </p:sp>
      <p:sp>
        <p:nvSpPr>
          <p:cNvPr id="18"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07_day_night.R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4 · DAY AND NIGHT</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Simpson's Paradox</a:t>
            </a:r>
            <a:endParaRPr lang="en-US" sz="3200" dirty="0"/>
          </a:p>
        </p:txBody>
      </p:sp>
      <p:sp>
        <p:nvSpPr>
          <p:cNvPr id="5" name="Text 2"/>
          <p:cNvSpPr txBox="1"/>
          <p:nvPr/>
        </p:nvSpPr>
        <p:spPr>
          <a:xfrm>
            <a:off x="548640" y="1481328"/>
            <a:ext cx="2743200" cy="274320"/>
          </a:xfrm>
          <a:prstGeom prst="rect">
            <a:avLst/>
          </a:prstGeom>
          <a:noFill/>
          <a:ln/>
        </p:spPr>
        <p:txBody>
          <a:bodyPr wrap="square" lIns="0" tIns="0" rIns="0" bIns="0" rtlCol="0" anchor="t"/>
          <a:lstStyle/>
          <a:p>
            <a:pPr algn="l" indent="0" marL="0">
              <a:buNone/>
            </a:pPr>
            <a:r>
              <a:rPr lang="en-US" sz="1100" b="1" spc="150" kern="0" dirty="0">
                <a:solidFill>
                  <a:schemeClr val="accent5"/>
                </a:solidFill>
              </a:rPr>
              <a:t>TOY NUMBERS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858000" cy="914400"/>
        </p:xfrm>
        <a:graphic>
          <a:graphicData uri="http://schemas.openxmlformats.org/drawingml/2006/table">
            <a:tbl>
              <a:tblPr/>
              <a:tblGrid>
                <a:gridCol w="2103120"/>
                <a:gridCol w="1143000"/>
                <a:gridCol w="1143000"/>
                <a:gridCol w="1325880"/>
                <a:gridCol w="1143000"/>
              </a:tblGrid>
              <a:tr h="548640">
                <a:tc>
                  <a:txBody>
                    <a:bodyPr/>
                    <a:lstStyle/>
                    <a:p>
                      <a:pPr indent="0" marL="0">
                        <a:buNone/>
                      </a:pP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algn="ctr" indent="0" marL="0">
                        <a:buNone/>
                      </a:pPr>
                      <a:r>
                        <a:rPr lang="en-US" sz="1700" b="1" dirty="0">
                          <a:solidFill>
                            <a:srgbClr val="FFFFFF"/>
                          </a:solidFill>
                        </a:rPr>
                        <a:t>Day GE</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algn="ctr" indent="0" marL="0">
                        <a:buNone/>
                      </a:pPr>
                      <a:r>
                        <a:rPr lang="en-US" sz="1700" b="1" dirty="0">
                          <a:solidFill>
                            <a:srgbClr val="FFFFFF"/>
                          </a:solidFill>
                        </a:rPr>
                        <a:t>Night GE</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algn="ctr" indent="0" marL="0">
                        <a:buNone/>
                      </a:pPr>
                      <a:r>
                        <a:rPr lang="en-US" sz="1700" b="1" dirty="0">
                          <a:solidFill>
                            <a:srgbClr val="FFFFFF"/>
                          </a:solidFill>
                        </a:rPr>
                        <a:t>Night share</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algn="ctr" indent="0" marL="0">
                        <a:buNone/>
                      </a:pPr>
                      <a:r>
                        <a:rPr lang="en-US" sz="1700" b="1" dirty="0">
                          <a:solidFill>
                            <a:srgbClr val="FFFFFF"/>
                          </a:solidFill>
                        </a:rPr>
                        <a:t>Pooled GE</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r>
              <a:tr h="548640">
                <a:tc>
                  <a:txBody>
                    <a:bodyPr/>
                    <a:lstStyle/>
                    <a:p>
                      <a:pPr indent="0" marL="0">
                        <a:buNone/>
                      </a:pPr>
                      <a:r>
                        <a:rPr lang="en-US" sz="1700" b="1" dirty="0">
                          <a:solidFill>
                            <a:srgbClr val="1B2A33"/>
                          </a:solidFill>
                        </a:rPr>
                        <a:t>Week A, lower spill</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0.04</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0.30</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10%</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b="1" dirty="0">
                          <a:solidFill>
                            <a:srgbClr val="1B2A33"/>
                          </a:solidFill>
                        </a:rPr>
                        <a:t>0.066</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548640">
                <a:tc>
                  <a:txBody>
                    <a:bodyPr/>
                    <a:lstStyle/>
                    <a:p>
                      <a:pPr indent="0" marL="0">
                        <a:buNone/>
                      </a:pPr>
                      <a:r>
                        <a:rPr lang="en-US" sz="1700" b="1" dirty="0">
                          <a:solidFill>
                            <a:srgbClr val="1B2A33"/>
                          </a:solidFill>
                        </a:rPr>
                        <a:t>Week B, higher spill</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0.02</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0.25</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dirty="0">
                          <a:solidFill>
                            <a:srgbClr val="1B2A33"/>
                          </a:solidFill>
                        </a:rPr>
                        <a:t>40%</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algn="ctr" indent="0" marL="0">
                        <a:buNone/>
                      </a:pPr>
                      <a:r>
                        <a:rPr lang="en-US" sz="1700" b="1" dirty="0">
                          <a:solidFill>
                            <a:srgbClr val="1B2A33"/>
                          </a:solidFill>
                        </a:rPr>
                        <a:t>0.112</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548640">
                <a:tc>
                  <a:txBody>
                    <a:bodyPr/>
                    <a:lstStyle/>
                    <a:p>
                      <a:pPr indent="0" marL="0">
                        <a:buNone/>
                      </a:pPr>
                      <a:r>
                        <a:rPr lang="en-US" sz="1700" b="1" dirty="0">
                          <a:solidFill>
                            <a:srgbClr val="1B2A33"/>
                          </a:solidFill>
                        </a:rPr>
                        <a:t>A to B</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algn="ctr" indent="0" marL="0">
                        <a:buNone/>
                      </a:pPr>
                      <a:r>
                        <a:rPr lang="en-US" sz="1700" b="1" dirty="0">
                          <a:solidFill>
                            <a:srgbClr val="CC4F3A"/>
                          </a:solidFill>
                        </a:rPr>
                        <a:t>▼ falls</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algn="ctr" indent="0" marL="0">
                        <a:buNone/>
                      </a:pPr>
                      <a:r>
                        <a:rPr lang="en-US" sz="1700" b="1" dirty="0">
                          <a:solidFill>
                            <a:srgbClr val="CC4F3A"/>
                          </a:solidFill>
                        </a:rPr>
                        <a:t>▼ falls</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algn="ctr" indent="0" marL="0">
                        <a:buNone/>
                      </a:pPr>
                      <a:r>
                        <a:rPr lang="en-US" sz="1700" b="1" dirty="0">
                          <a:solidFill>
                            <a:srgbClr val="5B6B73"/>
                          </a:solidFill>
                        </a:rPr>
                        <a:t>▲ 4×</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c>
                  <a:txBody>
                    <a:bodyPr/>
                    <a:lstStyle/>
                    <a:p>
                      <a:pPr algn="ctr" indent="0" marL="0">
                        <a:buNone/>
                      </a:pPr>
                      <a:r>
                        <a:rPr lang="en-US" sz="1700" b="1" dirty="0">
                          <a:solidFill>
                            <a:srgbClr val="0F7A55"/>
                          </a:solidFill>
                        </a:rPr>
                        <a:t>▲ rises</a:t>
                      </a:r>
                      <a:endParaRPr lang="en-US" sz="1700" dirty="0"/>
                    </a:p>
                  </a:txBody>
                  <a:tcPr marL="91440" marR="91440" marT="36576" marB="36576"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EEF4F5"/>
                    </a:solidFill>
                  </a:tcPr>
                </a:tc>
              </a:tr>
            </a:tbl>
          </a:graphicData>
        </a:graphic>
      </p:graphicFrame>
      <p:pic>
        <p:nvPicPr>
          <p:cNvPr id="7" name="eq_pooled" descr="/home/claude/deck/assets/eq_pooled.png">    </p:cNvPr>
          <p:cNvPicPr>
            <a:picLocks noChangeAspect="1"/>
          </p:cNvPicPr>
          <p:nvPr/>
        </p:nvPicPr>
        <p:blipFill>
          <a:blip r:embed="rId1"/>
          <a:stretch>
            <a:fillRect/>
          </a:stretch>
        </p:blipFill>
        <p:spPr>
          <a:xfrm>
            <a:off x="548640" y="4251960"/>
            <a:ext cx="4336999" cy="395021"/>
          </a:xfrm>
          <a:prstGeom prst="rect">
            <a:avLst/>
          </a:prstGeom>
        </p:spPr>
      </p:pic>
      <p:sp>
        <p:nvSpPr>
          <p:cNvPr id="8" name="Text 3"/>
          <p:cNvSpPr txBox="1"/>
          <p:nvPr/>
        </p:nvSpPr>
        <p:spPr>
          <a:xfrm>
            <a:off x="548640" y="4800600"/>
            <a:ext cx="6858000" cy="640080"/>
          </a:xfrm>
          <a:prstGeom prst="rect">
            <a:avLst/>
          </a:prstGeom>
          <a:noFill/>
          <a:ln/>
        </p:spPr>
        <p:txBody>
          <a:bodyPr wrap="square" lIns="0" tIns="0" rIns="0" bIns="0" rtlCol="0" anchor="t"/>
          <a:lstStyle/>
          <a:p>
            <a:pPr algn="l" indent="0" marL="0">
              <a:buNone/>
            </a:pPr>
            <a:r>
              <a:rPr lang="en-US" sz="1300" dirty="0">
                <a:solidFill>
                  <a:srgbClr val="5B6B73"/>
                </a:solidFill>
              </a:rPr>
              <a:t>Pooled GE is guided fish over all fish. Week A: 3.6 guided by day plus 3.0 at night is 6.6 of every 100.</a:t>
            </a:r>
            <a:endParaRPr lang="en-US" sz="1300" dirty="0"/>
          </a:p>
        </p:txBody>
      </p:sp>
      <p:sp>
        <p:nvSpPr>
          <p:cNvPr id="9" name="Text 4"/>
          <p:cNvSpPr txBox="1"/>
          <p:nvPr/>
        </p:nvSpPr>
        <p:spPr>
          <a:xfrm>
            <a:off x="7772400" y="1508760"/>
            <a:ext cx="3867912" cy="1280160"/>
          </a:xfrm>
          <a:prstGeom prst="rect">
            <a:avLst/>
          </a:prstGeom>
          <a:noFill/>
          <a:ln/>
        </p:spPr>
        <p:txBody>
          <a:bodyPr wrap="square" lIns="0" tIns="0" rIns="0" bIns="0" rtlCol="0" anchor="t"/>
          <a:lstStyle/>
          <a:p>
            <a:pPr algn="l" indent="0" marL="0">
              <a:buNone/>
            </a:pPr>
            <a:r>
              <a:rPr lang="en-US" sz="1800" b="1" dirty="0">
                <a:solidFill>
                  <a:schemeClr val="tx2"/>
                </a:solidFill>
              </a:rPr>
              <a:t>Day GE falls. Night GE falls. Pooled GE rises, because more fish pass at night in week B.</a:t>
            </a:r>
            <a:endParaRPr lang="en-US" sz="1800" dirty="0"/>
          </a:p>
        </p:txBody>
      </p:sp>
      <p:sp>
        <p:nvSpPr>
          <p:cNvPr id="10" name="Text 5"/>
          <p:cNvSpPr txBox="1"/>
          <p:nvPr/>
        </p:nvSpPr>
        <p:spPr>
          <a:xfrm>
            <a:off x="7772400" y="2971800"/>
            <a:ext cx="3867912" cy="1188720"/>
          </a:xfrm>
          <a:prstGeom prst="rect">
            <a:avLst/>
          </a:prstGeom>
          <a:noFill/>
          <a:ln/>
        </p:spPr>
        <p:txBody>
          <a:bodyPr wrap="square" lIns="0" tIns="0" rIns="0" bIns="0" rtlCol="0" anchor="t"/>
          <a:lstStyle/>
          <a:p>
            <a:pPr algn="l" indent="0" marL="0">
              <a:buNone/>
            </a:pPr>
            <a:r>
              <a:rPr lang="en-US" sz="1500" dirty="0">
                <a:solidFill>
                  <a:schemeClr val="tx1"/>
                </a:solidFill>
              </a:rPr>
              <a:t>Regress pooled GE on spill and it says more spill raised GE: the opposite of what happened by day and by night.</a:t>
            </a:r>
            <a:endParaRPr lang="en-US" sz="1500" dirty="0"/>
          </a:p>
        </p:txBody>
      </p:sp>
      <p:sp>
        <p:nvSpPr>
          <p:cNvPr id="11" name="Text 6"/>
          <p:cNvSpPr txBox="1"/>
          <p:nvPr/>
        </p:nvSpPr>
        <p:spPr>
          <a:xfrm>
            <a:off x="7772400" y="4343400"/>
            <a:ext cx="3867912" cy="1188720"/>
          </a:xfrm>
          <a:prstGeom prst="rect">
            <a:avLst/>
          </a:prstGeom>
          <a:noFill/>
          <a:ln/>
        </p:spPr>
        <p:txBody>
          <a:bodyPr wrap="square" lIns="0" tIns="0" rIns="0" bIns="0" rtlCol="0" anchor="t"/>
          <a:lstStyle/>
          <a:p>
            <a:pPr algn="l" indent="0" marL="0">
              <a:buNone/>
            </a:pPr>
            <a:r>
              <a:rPr lang="en-US" sz="1500" dirty="0">
                <a:solidFill>
                  <a:schemeClr val="tx1"/>
                </a:solidFill>
              </a:rPr>
              <a:t>Even with no reversal, pooled GE moves whenever night share moves. So the expansion needs each day's own night share.</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4 · DAY AND NIGHT</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What Splitting Buys: A Simulation With Known Truth</a:t>
            </a:r>
            <a:endParaRPr lang="en-US" sz="3200" dirty="0"/>
          </a:p>
        </p:txBody>
      </p:sp>
      <p:sp>
        <p:nvSpPr>
          <p:cNvPr id="5" name="Text 2"/>
          <p:cNvSpPr txBox="1"/>
          <p:nvPr/>
        </p:nvSpPr>
        <p:spPr>
          <a:xfrm>
            <a:off x="548640" y="1463040"/>
            <a:ext cx="11091672" cy="548640"/>
          </a:xfrm>
          <a:prstGeom prst="rect">
            <a:avLst/>
          </a:prstGeom>
          <a:noFill/>
          <a:ln/>
        </p:spPr>
        <p:txBody>
          <a:bodyPr wrap="square" lIns="0" tIns="0" rIns="0" bIns="0" rtlCol="0" anchor="t"/>
          <a:lstStyle/>
          <a:p>
            <a:pPr algn="l" indent="0" marL="0">
              <a:buNone/>
            </a:pPr>
            <a:r>
              <a:rPr lang="en-US" sz="1400" dirty="0">
                <a:solidFill>
                  <a:schemeClr val="tx1"/>
                </a:solidFill>
              </a:rPr>
              <a:t>2,000 simulated seasons on MY2025 steelhead weeks 15 to 22. Wild and hatchery share the same true day GE, night GE, GRS detection, and Little Goose recovery; only their night shares differ. Wild borrows its GE from hatchery.</a:t>
            </a:r>
            <a:endParaRPr lang="en-US" sz="1400" dirty="0"/>
          </a:p>
        </p:txBody>
      </p:sp>
      <p:pic>
        <p:nvPicPr>
          <p:cNvPr id="6" name="fig_weekly_error_borrow_only" descr="/home/claude/deck/assets/fig_weekly_error_borrow_only.png">    </p:cNvPr>
          <p:cNvPicPr>
            <a:picLocks noChangeAspect="1"/>
          </p:cNvPicPr>
          <p:nvPr/>
        </p:nvPicPr>
        <p:blipFill>
          <a:blip r:embed="rId1"/>
          <a:stretch>
            <a:fillRect/>
          </a:stretch>
        </p:blipFill>
        <p:spPr>
          <a:xfrm>
            <a:off x="548640" y="2148840"/>
            <a:ext cx="7558936" cy="3703320"/>
          </a:xfrm>
          <a:prstGeom prst="rect">
            <a:avLst/>
          </a:prstGeom>
        </p:spPr>
      </p:pic>
      <p:sp>
        <p:nvSpPr>
          <p:cNvPr id="7" name="Text 3"/>
          <p:cNvSpPr txBox="1"/>
          <p:nvPr/>
        </p:nvSpPr>
        <p:spPr>
          <a:xfrm>
            <a:off x="548640" y="5925312"/>
            <a:ext cx="7680960" cy="411480"/>
          </a:xfrm>
          <a:prstGeom prst="rect">
            <a:avLst/>
          </a:prstGeom>
          <a:noFill/>
          <a:ln/>
        </p:spPr>
        <p:txBody>
          <a:bodyPr wrap="square" lIns="0" tIns="0" rIns="0" bIns="0" rtlCol="0" anchor="t"/>
          <a:lstStyle/>
          <a:p>
            <a:pPr algn="l" indent="0" marL="0">
              <a:buNone/>
            </a:pPr>
            <a:r>
              <a:rPr lang="en-US" sz="1200" dirty="0">
                <a:solidFill>
                  <a:srgbClr val="5B6B73"/>
                </a:solidFill>
              </a:rPr>
              <a:t>Pooled misses are biggest in weeks 16 and 18, where wild fish pass at night about twice as often as hatchery fish.</a:t>
            </a:r>
            <a:endParaRPr lang="en-US" sz="1200" dirty="0"/>
          </a:p>
        </p:txBody>
      </p:sp>
      <p:sp>
        <p:nvSpPr>
          <p:cNvPr id="8" name="Shape 4"/>
          <p:cNvSpPr/>
          <p:nvPr/>
        </p:nvSpPr>
        <p:spPr>
          <a:xfrm>
            <a:off x="8503920" y="2148840"/>
            <a:ext cx="3136392" cy="1783080"/>
          </a:xfrm>
          <a:prstGeom prst="roundRect">
            <a:avLst>
              <a:gd name="adj" fmla="val 4103"/>
            </a:avLst>
          </a:prstGeom>
          <a:solidFill>
            <a:schemeClr val="bg2"/>
          </a:solidFill>
          <a:ln w="9525">
            <a:solidFill>
              <a:srgbClr val="D3DEE1"/>
            </a:solidFill>
            <a:prstDash val="solid"/>
          </a:ln>
        </p:spPr>
      </p:sp>
      <p:sp>
        <p:nvSpPr>
          <p:cNvPr id="9" name="Shape 5"/>
          <p:cNvSpPr/>
          <p:nvPr/>
        </p:nvSpPr>
        <p:spPr>
          <a:xfrm>
            <a:off x="8686800" y="2331720"/>
            <a:ext cx="182880" cy="182880"/>
          </a:xfrm>
          <a:prstGeom prst="ellipse">
            <a:avLst/>
          </a:prstGeom>
          <a:solidFill>
            <a:srgbClr val="6B7780"/>
          </a:solidFill>
          <a:ln/>
        </p:spPr>
      </p:sp>
      <p:sp>
        <p:nvSpPr>
          <p:cNvPr id="10" name="Text 6"/>
          <p:cNvSpPr txBox="1"/>
          <p:nvPr/>
        </p:nvSpPr>
        <p:spPr>
          <a:xfrm>
            <a:off x="8961120" y="2258568"/>
            <a:ext cx="2560320" cy="329184"/>
          </a:xfrm>
          <a:prstGeom prst="rect">
            <a:avLst/>
          </a:prstGeom>
          <a:noFill/>
          <a:ln/>
        </p:spPr>
        <p:txBody>
          <a:bodyPr wrap="square" lIns="0" tIns="0" rIns="0" bIns="0" rtlCol="0" anchor="ctr"/>
          <a:lstStyle/>
          <a:p>
            <a:pPr algn="l" indent="0" marL="0">
              <a:buNone/>
            </a:pPr>
            <a:r>
              <a:rPr lang="en-US" sz="1300" b="1" dirty="0">
                <a:solidFill>
                  <a:schemeClr val="tx1"/>
                </a:solidFill>
              </a:rPr>
              <a:t>Borrow hatchery's pooled GE</a:t>
            </a:r>
            <a:endParaRPr lang="en-US" sz="1300" dirty="0"/>
          </a:p>
        </p:txBody>
      </p:sp>
      <p:sp>
        <p:nvSpPr>
          <p:cNvPr id="11" name="Text 7"/>
          <p:cNvSpPr txBox="1"/>
          <p:nvPr/>
        </p:nvSpPr>
        <p:spPr>
          <a:xfrm>
            <a:off x="8686800" y="2633472"/>
            <a:ext cx="2743200" cy="685800"/>
          </a:xfrm>
          <a:prstGeom prst="rect">
            <a:avLst/>
          </a:prstGeom>
          <a:noFill/>
          <a:ln/>
        </p:spPr>
        <p:txBody>
          <a:bodyPr wrap="square" lIns="0" tIns="0" rIns="0" bIns="0" rtlCol="0" anchor="ctr"/>
          <a:lstStyle/>
          <a:p>
            <a:pPr algn="l" indent="0" marL="0">
              <a:buNone/>
            </a:pPr>
            <a:r>
              <a:rPr lang="en-US" sz="4000" b="1" dirty="0">
                <a:solidFill>
                  <a:srgbClr val="6B7780"/>
                </a:solidFill>
              </a:rPr>
              <a:t>+33%</a:t>
            </a:r>
            <a:endParaRPr lang="en-US" sz="4000" dirty="0"/>
          </a:p>
        </p:txBody>
      </p:sp>
      <p:sp>
        <p:nvSpPr>
          <p:cNvPr id="12" name="Text 8"/>
          <p:cNvSpPr txBox="1"/>
          <p:nvPr/>
        </p:nvSpPr>
        <p:spPr>
          <a:xfrm>
            <a:off x="8686800" y="3319272"/>
            <a:ext cx="2788920" cy="548640"/>
          </a:xfrm>
          <a:prstGeom prst="rect">
            <a:avLst/>
          </a:prstGeom>
          <a:noFill/>
          <a:ln/>
        </p:spPr>
        <p:txBody>
          <a:bodyPr wrap="square" lIns="0" tIns="0" rIns="0" bIns="0" rtlCol="0" anchor="t"/>
          <a:lstStyle/>
          <a:p>
            <a:pPr algn="l" indent="0" marL="0">
              <a:buNone/>
            </a:pPr>
            <a:r>
              <a:rPr lang="en-US" sz="1200" dirty="0">
                <a:solidFill>
                  <a:srgbClr val="5B6B73"/>
                </a:solidFill>
              </a:rPr>
              <a:t>Median error, season's wild total</a:t>
            </a:r>
            <a:endParaRPr lang="en-US" sz="1200" dirty="0"/>
          </a:p>
          <a:p>
            <a:pPr algn="l" indent="0" marL="0">
              <a:buNone/>
            </a:pPr>
            <a:r>
              <a:rPr lang="en-US" sz="1200" dirty="0">
                <a:solidFill>
                  <a:srgbClr val="5B6B73"/>
                </a:solidFill>
              </a:rPr>
              <a:t>90% of seasons: +26% to +43%</a:t>
            </a:r>
            <a:endParaRPr lang="en-US" sz="1200" dirty="0"/>
          </a:p>
        </p:txBody>
      </p:sp>
      <p:sp>
        <p:nvSpPr>
          <p:cNvPr id="13" name="Shape 9"/>
          <p:cNvSpPr/>
          <p:nvPr/>
        </p:nvSpPr>
        <p:spPr>
          <a:xfrm>
            <a:off x="8503920" y="4069080"/>
            <a:ext cx="3136392" cy="1783080"/>
          </a:xfrm>
          <a:prstGeom prst="roundRect">
            <a:avLst>
              <a:gd name="adj" fmla="val 4103"/>
            </a:avLst>
          </a:prstGeom>
          <a:solidFill>
            <a:srgbClr val="E6F6EF"/>
          </a:solidFill>
          <a:ln w="9525">
            <a:solidFill>
              <a:schemeClr val="accent6"/>
            </a:solidFill>
            <a:prstDash val="solid"/>
          </a:ln>
        </p:spPr>
      </p:sp>
      <p:sp>
        <p:nvSpPr>
          <p:cNvPr id="14" name="Shape 10"/>
          <p:cNvSpPr/>
          <p:nvPr/>
        </p:nvSpPr>
        <p:spPr>
          <a:xfrm>
            <a:off x="8686800" y="4251960"/>
            <a:ext cx="182880" cy="182880"/>
          </a:xfrm>
          <a:prstGeom prst="ellipse">
            <a:avLst/>
          </a:prstGeom>
          <a:solidFill>
            <a:schemeClr val="accent6"/>
          </a:solidFill>
          <a:ln/>
        </p:spPr>
      </p:sp>
      <p:sp>
        <p:nvSpPr>
          <p:cNvPr id="15" name="Text 11"/>
          <p:cNvSpPr txBox="1"/>
          <p:nvPr/>
        </p:nvSpPr>
        <p:spPr>
          <a:xfrm>
            <a:off x="8961120" y="4178808"/>
            <a:ext cx="2560320" cy="329184"/>
          </a:xfrm>
          <a:prstGeom prst="rect">
            <a:avLst/>
          </a:prstGeom>
          <a:noFill/>
          <a:ln/>
        </p:spPr>
        <p:txBody>
          <a:bodyPr wrap="square" lIns="0" tIns="0" rIns="0" bIns="0" rtlCol="0" anchor="ctr"/>
          <a:lstStyle/>
          <a:p>
            <a:pPr algn="l" indent="0" marL="0">
              <a:buNone/>
            </a:pPr>
            <a:r>
              <a:rPr lang="en-US" sz="1300" b="1" dirty="0">
                <a:solidFill>
                  <a:schemeClr val="tx1"/>
                </a:solidFill>
              </a:rPr>
              <a:t>Split, then blend</a:t>
            </a:r>
            <a:endParaRPr lang="en-US" sz="1300" dirty="0"/>
          </a:p>
        </p:txBody>
      </p:sp>
      <p:sp>
        <p:nvSpPr>
          <p:cNvPr id="16" name="Text 12"/>
          <p:cNvSpPr txBox="1"/>
          <p:nvPr/>
        </p:nvSpPr>
        <p:spPr>
          <a:xfrm>
            <a:off x="8686800" y="4553712"/>
            <a:ext cx="2743200" cy="685800"/>
          </a:xfrm>
          <a:prstGeom prst="rect">
            <a:avLst/>
          </a:prstGeom>
          <a:noFill/>
          <a:ln/>
        </p:spPr>
        <p:txBody>
          <a:bodyPr wrap="square" lIns="0" tIns="0" rIns="0" bIns="0" rtlCol="0" anchor="ctr"/>
          <a:lstStyle/>
          <a:p>
            <a:pPr algn="l" indent="0" marL="0">
              <a:buNone/>
            </a:pPr>
            <a:r>
              <a:rPr lang="en-US" sz="4000" b="1" dirty="0">
                <a:solidFill>
                  <a:srgbClr val="0F7A55"/>
                </a:solidFill>
              </a:rPr>
              <a:t>+1%</a:t>
            </a:r>
            <a:endParaRPr lang="en-US" sz="4000" dirty="0"/>
          </a:p>
        </p:txBody>
      </p:sp>
      <p:sp>
        <p:nvSpPr>
          <p:cNvPr id="17" name="Text 13"/>
          <p:cNvSpPr txBox="1"/>
          <p:nvPr/>
        </p:nvSpPr>
        <p:spPr>
          <a:xfrm>
            <a:off x="8686800" y="5239512"/>
            <a:ext cx="2788920" cy="566928"/>
          </a:xfrm>
          <a:prstGeom prst="rect">
            <a:avLst/>
          </a:prstGeom>
          <a:noFill/>
          <a:ln/>
        </p:spPr>
        <p:txBody>
          <a:bodyPr wrap="square" lIns="0" tIns="0" rIns="0" bIns="0" rtlCol="0" anchor="t"/>
          <a:lstStyle/>
          <a:p>
            <a:pPr algn="l" indent="0" marL="0">
              <a:buNone/>
            </a:pPr>
            <a:r>
              <a:rPr lang="en-US" sz="1200" dirty="0">
                <a:solidFill>
                  <a:srgbClr val="5B6B73"/>
                </a:solidFill>
              </a:rPr>
              <a:t>Borrow day and night GE, then blend with wild's own night share</a:t>
            </a:r>
            <a:endParaRPr lang="en-US" sz="1200" dirty="0"/>
          </a:p>
          <a:p>
            <a:pPr algn="l" indent="0" marL="0">
              <a:buNone/>
            </a:pPr>
            <a:r>
              <a:rPr lang="en-US" sz="1200" dirty="0">
                <a:solidFill>
                  <a:srgbClr val="5B6B73"/>
                </a:solidFill>
              </a:rPr>
              <a:t>90% of seasons: -7% to +11%</a:t>
            </a:r>
            <a:endParaRPr lang="en-US" sz="1200" dirty="0"/>
          </a:p>
        </p:txBody>
      </p:sp>
      <p:sp>
        <p:nvSpPr>
          <p:cNvPr id="18"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07_day_night.R (a smaller teaching version, not the 2,000-season simulation shown)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4 · DAY AND NIGHT</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Splitting the Cells by Day and Night</a:t>
            </a:r>
            <a:endParaRPr lang="en-US" sz="3200" dirty="0"/>
          </a:p>
        </p:txBody>
      </p:sp>
      <p:sp>
        <p:nvSpPr>
          <p:cNvPr id="5" name="Text 2"/>
          <p:cNvSpPr txBox="1"/>
          <p:nvPr/>
        </p:nvSpPr>
        <p:spPr>
          <a:xfrm>
            <a:off x="548640" y="1499616"/>
            <a:ext cx="2651760" cy="502920"/>
          </a:xfrm>
          <a:prstGeom prst="rect">
            <a:avLst/>
          </a:prstGeom>
          <a:noFill/>
          <a:ln/>
        </p:spPr>
        <p:txBody>
          <a:bodyPr wrap="square" lIns="0" tIns="0" rIns="0" bIns="0" rtlCol="0" anchor="ctr"/>
          <a:lstStyle/>
          <a:p>
            <a:pPr algn="l" indent="0" marL="0">
              <a:buNone/>
            </a:pPr>
            <a:r>
              <a:rPr lang="en-US" sz="1300" b="1" dirty="0">
                <a:solidFill>
                  <a:schemeClr val="accent5"/>
                </a:solidFill>
              </a:rPr>
              <a:t>Day GE: the slide 17 regression</a:t>
            </a:r>
            <a:endParaRPr lang="en-US" sz="1300" dirty="0"/>
          </a:p>
        </p:txBody>
      </p:sp>
      <p:pic>
        <p:nvPicPr>
          <p:cNvPr id="6" name="eq_reg_day" descr="/home/claude/deck/assets/eq_reg_day.png">    </p:cNvPr>
          <p:cNvPicPr>
            <a:picLocks noChangeAspect="1"/>
          </p:cNvPicPr>
          <p:nvPr/>
        </p:nvPicPr>
        <p:blipFill>
          <a:blip r:embed="rId1"/>
          <a:stretch>
            <a:fillRect/>
          </a:stretch>
        </p:blipFill>
        <p:spPr>
          <a:xfrm>
            <a:off x="3337560" y="1536192"/>
            <a:ext cx="7346655" cy="407700"/>
          </a:xfrm>
          <a:prstGeom prst="rect">
            <a:avLst/>
          </a:prstGeom>
        </p:spPr>
      </p:pic>
      <p:sp>
        <p:nvSpPr>
          <p:cNvPr id="7" name="Text 3"/>
          <p:cNvSpPr txBox="1"/>
          <p:nvPr/>
        </p:nvSpPr>
        <p:spPr>
          <a:xfrm>
            <a:off x="548640" y="2176272"/>
            <a:ext cx="2651760" cy="502920"/>
          </a:xfrm>
          <a:prstGeom prst="rect">
            <a:avLst/>
          </a:prstGeom>
          <a:noFill/>
          <a:ln/>
        </p:spPr>
        <p:txBody>
          <a:bodyPr wrap="square" lIns="0" tIns="0" rIns="0" bIns="0" rtlCol="0" anchor="ctr"/>
          <a:lstStyle/>
          <a:p>
            <a:pPr algn="l" indent="0" marL="0">
              <a:buNone/>
            </a:pPr>
            <a:r>
              <a:rPr lang="en-US" sz="1300" b="1" dirty="0">
                <a:solidFill>
                  <a:schemeClr val="accent5"/>
                </a:solidFill>
              </a:rPr>
              <a:t>Night: a shift on top</a:t>
            </a:r>
            <a:endParaRPr lang="en-US" sz="1300" dirty="0"/>
          </a:p>
        </p:txBody>
      </p:sp>
      <p:pic>
        <p:nvPicPr>
          <p:cNvPr id="8" name="eq_night" descr="/home/claude/deck/assets/eq_night.png">    </p:cNvPr>
          <p:cNvPicPr>
            <a:picLocks noChangeAspect="1"/>
          </p:cNvPicPr>
          <p:nvPr/>
        </p:nvPicPr>
        <p:blipFill>
          <a:blip r:embed="rId2"/>
          <a:stretch>
            <a:fillRect/>
          </a:stretch>
        </p:blipFill>
        <p:spPr>
          <a:xfrm>
            <a:off x="3337560" y="2212848"/>
            <a:ext cx="4219164" cy="370149"/>
          </a:xfrm>
          <a:prstGeom prst="rect">
            <a:avLst/>
          </a:prstGeom>
        </p:spPr>
      </p:pic>
      <p:sp>
        <p:nvSpPr>
          <p:cNvPr id="9" name="Text 4"/>
          <p:cNvSpPr txBox="1"/>
          <p:nvPr/>
        </p:nvSpPr>
        <p:spPr>
          <a:xfrm>
            <a:off x="548640" y="2779776"/>
            <a:ext cx="2651760" cy="502920"/>
          </a:xfrm>
          <a:prstGeom prst="rect">
            <a:avLst/>
          </a:prstGeom>
          <a:noFill/>
          <a:ln/>
        </p:spPr>
        <p:txBody>
          <a:bodyPr wrap="square" lIns="0" tIns="0" rIns="0" bIns="0" rtlCol="0" anchor="ctr"/>
          <a:lstStyle/>
          <a:p>
            <a:pPr algn="l" indent="0" marL="0">
              <a:buNone/>
            </a:pPr>
            <a:r>
              <a:rPr lang="en-US" sz="1300" b="1" dirty="0">
                <a:solidFill>
                  <a:schemeClr val="accent5"/>
                </a:solidFill>
              </a:rPr>
              <a:t>Weekly GE: the blend (a = night share)</a:t>
            </a:r>
            <a:endParaRPr lang="en-US" sz="1300" dirty="0"/>
          </a:p>
        </p:txBody>
      </p:sp>
      <p:pic>
        <p:nvPicPr>
          <p:cNvPr id="10" name="eq_blend" descr="/home/claude/deck/assets/eq_blend.png">    </p:cNvPr>
          <p:cNvPicPr>
            <a:picLocks noChangeAspect="1"/>
          </p:cNvPicPr>
          <p:nvPr/>
        </p:nvPicPr>
        <p:blipFill>
          <a:blip r:embed="rId3"/>
          <a:stretch>
            <a:fillRect/>
          </a:stretch>
        </p:blipFill>
        <p:spPr>
          <a:xfrm>
            <a:off x="3337560" y="2816352"/>
            <a:ext cx="3079212" cy="372831"/>
          </a:xfrm>
          <a:prstGeom prst="rect">
            <a:avLst/>
          </a:prstGeom>
        </p:spPr>
      </p:pic>
      <p:sp>
        <p:nvSpPr>
          <p:cNvPr id="11" name="Text 5"/>
          <p:cNvSpPr txBox="1"/>
          <p:nvPr/>
        </p:nvSpPr>
        <p:spPr>
          <a:xfrm>
            <a:off x="548640" y="3520440"/>
            <a:ext cx="685800" cy="512064"/>
          </a:xfrm>
          <a:prstGeom prst="rect">
            <a:avLst/>
          </a:prstGeom>
          <a:noFill/>
          <a:ln/>
        </p:spPr>
        <p:txBody>
          <a:bodyPr wrap="square" lIns="0" tIns="0" rIns="0" bIns="0" rtlCol="0" anchor="ctr"/>
          <a:lstStyle/>
          <a:p>
            <a:pPr algn="l" indent="0" marL="0">
              <a:buNone/>
            </a:pPr>
            <a:r>
              <a:rPr lang="en-US" sz="1400" b="1" dirty="0">
                <a:solidFill>
                  <a:schemeClr val="tx2"/>
                </a:solidFill>
              </a:rPr>
              <a:t>Day</a:t>
            </a:r>
            <a:endParaRPr lang="en-US" sz="1400" dirty="0"/>
          </a:p>
        </p:txBody>
      </p:sp>
      <p:sp>
        <p:nvSpPr>
          <p:cNvPr id="12" name="Text 6"/>
          <p:cNvSpPr/>
          <p:nvPr/>
        </p:nvSpPr>
        <p:spPr>
          <a:xfrm>
            <a:off x="1234440" y="3520440"/>
            <a:ext cx="585216" cy="512064"/>
          </a:xfrm>
          <a:prstGeom prst="roundRect">
            <a:avLst>
              <a:gd name="adj" fmla="val 10714"/>
            </a:avLst>
          </a:prstGeom>
          <a:solidFill>
            <a:srgbClr val="DCE9FA"/>
          </a:solidFill>
          <a:ln/>
        </p:spPr>
        <p:txBody>
          <a:bodyPr wrap="square" lIns="0" tIns="0" rIns="0" bIns="0" rtlCol="0" anchor="ctr"/>
          <a:lstStyle/>
          <a:p>
            <a:pPr algn="ctr" indent="0" marL="0">
              <a:buNone/>
            </a:pPr>
            <a:r>
              <a:rPr lang="en-US" sz="1500" b="1" dirty="0">
                <a:solidFill>
                  <a:srgbClr val="2A78D6"/>
                </a:solidFill>
              </a:rPr>
              <a:t>c1</a:t>
            </a:r>
            <a:endParaRPr lang="en-US" sz="1500" dirty="0"/>
          </a:p>
        </p:txBody>
      </p:sp>
      <p:sp>
        <p:nvSpPr>
          <p:cNvPr id="13" name="Text 7"/>
          <p:cNvSpPr/>
          <p:nvPr/>
        </p:nvSpPr>
        <p:spPr>
          <a:xfrm>
            <a:off x="1892808" y="3520440"/>
            <a:ext cx="585216" cy="512064"/>
          </a:xfrm>
          <a:prstGeom prst="roundRect">
            <a:avLst>
              <a:gd name="adj" fmla="val 10714"/>
            </a:avLst>
          </a:prstGeom>
          <a:solidFill>
            <a:srgbClr val="DCE9FA"/>
          </a:solidFill>
          <a:ln/>
        </p:spPr>
        <p:txBody>
          <a:bodyPr wrap="square" lIns="0" tIns="0" rIns="0" bIns="0" rtlCol="0" anchor="ctr"/>
          <a:lstStyle/>
          <a:p>
            <a:pPr algn="ctr" indent="0" marL="0">
              <a:buNone/>
            </a:pPr>
            <a:r>
              <a:rPr lang="en-US" sz="1500" b="1" dirty="0">
                <a:solidFill>
                  <a:srgbClr val="2A78D6"/>
                </a:solidFill>
              </a:rPr>
              <a:t>c2</a:t>
            </a:r>
            <a:endParaRPr lang="en-US" sz="1500" dirty="0"/>
          </a:p>
        </p:txBody>
      </p:sp>
      <p:sp>
        <p:nvSpPr>
          <p:cNvPr id="14" name="Text 8"/>
          <p:cNvSpPr/>
          <p:nvPr/>
        </p:nvSpPr>
        <p:spPr>
          <a:xfrm>
            <a:off x="2551176" y="3520440"/>
            <a:ext cx="585216" cy="512064"/>
          </a:xfrm>
          <a:prstGeom prst="roundRect">
            <a:avLst>
              <a:gd name="adj" fmla="val 10714"/>
            </a:avLst>
          </a:prstGeom>
          <a:solidFill>
            <a:srgbClr val="F6EBD2"/>
          </a:solidFill>
          <a:ln/>
        </p:spPr>
        <p:txBody>
          <a:bodyPr wrap="square" lIns="0" tIns="0" rIns="0" bIns="0" rtlCol="0" anchor="ctr"/>
          <a:lstStyle/>
          <a:p>
            <a:pPr algn="ctr" indent="0" marL="0">
              <a:buNone/>
            </a:pPr>
            <a:r>
              <a:rPr lang="en-US" sz="1500" b="1" dirty="0">
                <a:solidFill>
                  <a:srgbClr val="B97D08"/>
                </a:solidFill>
              </a:rPr>
              <a:t>c3</a:t>
            </a:r>
            <a:endParaRPr lang="en-US" sz="1500" dirty="0"/>
          </a:p>
        </p:txBody>
      </p:sp>
      <p:sp>
        <p:nvSpPr>
          <p:cNvPr id="15" name="Text 9"/>
          <p:cNvSpPr/>
          <p:nvPr/>
        </p:nvSpPr>
        <p:spPr>
          <a:xfrm>
            <a:off x="3209544" y="3520440"/>
            <a:ext cx="585216" cy="512064"/>
          </a:xfrm>
          <a:prstGeom prst="roundRect">
            <a:avLst>
              <a:gd name="adj" fmla="val 10714"/>
            </a:avLst>
          </a:prstGeom>
          <a:solidFill>
            <a:srgbClr val="F6EBD2"/>
          </a:solidFill>
          <a:ln/>
        </p:spPr>
        <p:txBody>
          <a:bodyPr wrap="square" lIns="0" tIns="0" rIns="0" bIns="0" rtlCol="0" anchor="ctr"/>
          <a:lstStyle/>
          <a:p>
            <a:pPr algn="ctr" indent="0" marL="0">
              <a:buNone/>
            </a:pPr>
            <a:r>
              <a:rPr lang="en-US" sz="1500" b="1" dirty="0">
                <a:solidFill>
                  <a:srgbClr val="B97D08"/>
                </a:solidFill>
              </a:rPr>
              <a:t>c4</a:t>
            </a:r>
            <a:endParaRPr lang="en-US" sz="1500" dirty="0"/>
          </a:p>
        </p:txBody>
      </p:sp>
      <p:sp>
        <p:nvSpPr>
          <p:cNvPr id="16" name="Text 10"/>
          <p:cNvSpPr/>
          <p:nvPr/>
        </p:nvSpPr>
        <p:spPr>
          <a:xfrm>
            <a:off x="3867912" y="3520440"/>
            <a:ext cx="585216" cy="512064"/>
          </a:xfrm>
          <a:prstGeom prst="roundRect">
            <a:avLst>
              <a:gd name="adj" fmla="val 10714"/>
            </a:avLst>
          </a:prstGeom>
          <a:solidFill>
            <a:srgbClr val="EAE3F4"/>
          </a:solidFill>
          <a:ln/>
        </p:spPr>
        <p:txBody>
          <a:bodyPr wrap="square" lIns="0" tIns="0" rIns="0" bIns="0" rtlCol="0" anchor="ctr"/>
          <a:lstStyle/>
          <a:p>
            <a:pPr algn="ctr" indent="0" marL="0">
              <a:buNone/>
            </a:pPr>
            <a:r>
              <a:rPr lang="en-US" sz="1500" b="1" dirty="0">
                <a:solidFill>
                  <a:srgbClr val="7656A8"/>
                </a:solidFill>
              </a:rPr>
              <a:t>c6</a:t>
            </a:r>
            <a:endParaRPr lang="en-US" sz="1500" dirty="0"/>
          </a:p>
        </p:txBody>
      </p:sp>
      <p:sp>
        <p:nvSpPr>
          <p:cNvPr id="17" name="Text 11"/>
          <p:cNvSpPr txBox="1"/>
          <p:nvPr/>
        </p:nvSpPr>
        <p:spPr>
          <a:xfrm>
            <a:off x="548640" y="4123944"/>
            <a:ext cx="685800" cy="512064"/>
          </a:xfrm>
          <a:prstGeom prst="rect">
            <a:avLst/>
          </a:prstGeom>
          <a:noFill/>
          <a:ln/>
        </p:spPr>
        <p:txBody>
          <a:bodyPr wrap="square" lIns="0" tIns="0" rIns="0" bIns="0" rtlCol="0" anchor="ctr"/>
          <a:lstStyle/>
          <a:p>
            <a:pPr algn="l" indent="0" marL="0">
              <a:buNone/>
            </a:pPr>
            <a:r>
              <a:rPr lang="en-US" sz="1400" b="1" dirty="0">
                <a:solidFill>
                  <a:schemeClr val="tx2"/>
                </a:solidFill>
              </a:rPr>
              <a:t>Night</a:t>
            </a:r>
            <a:endParaRPr lang="en-US" sz="1400" dirty="0"/>
          </a:p>
        </p:txBody>
      </p:sp>
      <p:sp>
        <p:nvSpPr>
          <p:cNvPr id="18" name="Text 12"/>
          <p:cNvSpPr/>
          <p:nvPr/>
        </p:nvSpPr>
        <p:spPr>
          <a:xfrm>
            <a:off x="1234440" y="4123944"/>
            <a:ext cx="585216" cy="512064"/>
          </a:xfrm>
          <a:prstGeom prst="roundRect">
            <a:avLst>
              <a:gd name="adj" fmla="val 10714"/>
            </a:avLst>
          </a:prstGeom>
          <a:solidFill>
            <a:srgbClr val="DCE9FA"/>
          </a:solidFill>
          <a:ln/>
        </p:spPr>
        <p:txBody>
          <a:bodyPr wrap="square" lIns="0" tIns="0" rIns="0" bIns="0" rtlCol="0" anchor="ctr"/>
          <a:lstStyle/>
          <a:p>
            <a:pPr algn="ctr" indent="0" marL="0">
              <a:buNone/>
            </a:pPr>
            <a:r>
              <a:rPr lang="en-US" sz="1500" b="1" dirty="0">
                <a:solidFill>
                  <a:srgbClr val="2A78D6"/>
                </a:solidFill>
              </a:rPr>
              <a:t>c1</a:t>
            </a:r>
            <a:endParaRPr lang="en-US" sz="1500" dirty="0"/>
          </a:p>
        </p:txBody>
      </p:sp>
      <p:sp>
        <p:nvSpPr>
          <p:cNvPr id="19" name="Text 13"/>
          <p:cNvSpPr/>
          <p:nvPr/>
        </p:nvSpPr>
        <p:spPr>
          <a:xfrm>
            <a:off x="1892808" y="4123944"/>
            <a:ext cx="585216" cy="512064"/>
          </a:xfrm>
          <a:prstGeom prst="roundRect">
            <a:avLst>
              <a:gd name="adj" fmla="val 10714"/>
            </a:avLst>
          </a:prstGeom>
          <a:solidFill>
            <a:srgbClr val="DCE9FA"/>
          </a:solidFill>
          <a:ln/>
        </p:spPr>
        <p:txBody>
          <a:bodyPr wrap="square" lIns="0" tIns="0" rIns="0" bIns="0" rtlCol="0" anchor="ctr"/>
          <a:lstStyle/>
          <a:p>
            <a:pPr algn="ctr" indent="0" marL="0">
              <a:buNone/>
            </a:pPr>
            <a:r>
              <a:rPr lang="en-US" sz="1500" b="1" dirty="0">
                <a:solidFill>
                  <a:srgbClr val="2A78D6"/>
                </a:solidFill>
              </a:rPr>
              <a:t>c2</a:t>
            </a:r>
            <a:endParaRPr lang="en-US" sz="1500" dirty="0"/>
          </a:p>
        </p:txBody>
      </p:sp>
      <p:sp>
        <p:nvSpPr>
          <p:cNvPr id="20" name="Text 14"/>
          <p:cNvSpPr/>
          <p:nvPr/>
        </p:nvSpPr>
        <p:spPr>
          <a:xfrm>
            <a:off x="2551176" y="4123944"/>
            <a:ext cx="585216" cy="512064"/>
          </a:xfrm>
          <a:prstGeom prst="roundRect">
            <a:avLst>
              <a:gd name="adj" fmla="val 10714"/>
            </a:avLst>
          </a:prstGeom>
          <a:solidFill>
            <a:srgbClr val="F6EBD2"/>
          </a:solidFill>
          <a:ln/>
        </p:spPr>
        <p:txBody>
          <a:bodyPr wrap="square" lIns="0" tIns="0" rIns="0" bIns="0" rtlCol="0" anchor="ctr"/>
          <a:lstStyle/>
          <a:p>
            <a:pPr algn="ctr" indent="0" marL="0">
              <a:buNone/>
            </a:pPr>
            <a:r>
              <a:rPr lang="en-US" sz="1500" b="1" dirty="0">
                <a:solidFill>
                  <a:srgbClr val="B97D08"/>
                </a:solidFill>
              </a:rPr>
              <a:t>c3</a:t>
            </a:r>
            <a:endParaRPr lang="en-US" sz="1500" dirty="0"/>
          </a:p>
        </p:txBody>
      </p:sp>
      <p:sp>
        <p:nvSpPr>
          <p:cNvPr id="21" name="Text 15"/>
          <p:cNvSpPr/>
          <p:nvPr/>
        </p:nvSpPr>
        <p:spPr>
          <a:xfrm>
            <a:off x="3209544" y="4123944"/>
            <a:ext cx="585216" cy="512064"/>
          </a:xfrm>
          <a:prstGeom prst="roundRect">
            <a:avLst>
              <a:gd name="adj" fmla="val 10714"/>
            </a:avLst>
          </a:prstGeom>
          <a:solidFill>
            <a:srgbClr val="F6EBD2"/>
          </a:solidFill>
          <a:ln/>
        </p:spPr>
        <p:txBody>
          <a:bodyPr wrap="square" lIns="0" tIns="0" rIns="0" bIns="0" rtlCol="0" anchor="ctr"/>
          <a:lstStyle/>
          <a:p>
            <a:pPr algn="ctr" indent="0" marL="0">
              <a:buNone/>
            </a:pPr>
            <a:r>
              <a:rPr lang="en-US" sz="1500" b="1" dirty="0">
                <a:solidFill>
                  <a:srgbClr val="B97D08"/>
                </a:solidFill>
              </a:rPr>
              <a:t>c4</a:t>
            </a:r>
            <a:endParaRPr lang="en-US" sz="1500" dirty="0"/>
          </a:p>
        </p:txBody>
      </p:sp>
      <p:sp>
        <p:nvSpPr>
          <p:cNvPr id="22" name="Text 16"/>
          <p:cNvSpPr/>
          <p:nvPr/>
        </p:nvSpPr>
        <p:spPr>
          <a:xfrm>
            <a:off x="3867912" y="4123944"/>
            <a:ext cx="585216" cy="512064"/>
          </a:xfrm>
          <a:prstGeom prst="roundRect">
            <a:avLst>
              <a:gd name="adj" fmla="val 10714"/>
            </a:avLst>
          </a:prstGeom>
          <a:solidFill>
            <a:srgbClr val="EAE3F4"/>
          </a:solidFill>
          <a:ln/>
        </p:spPr>
        <p:txBody>
          <a:bodyPr wrap="square" lIns="0" tIns="0" rIns="0" bIns="0" rtlCol="0" anchor="ctr"/>
          <a:lstStyle/>
          <a:p>
            <a:pPr algn="ctr" indent="0" marL="0">
              <a:buNone/>
            </a:pPr>
            <a:r>
              <a:rPr lang="en-US" sz="1500" b="1" dirty="0">
                <a:solidFill>
                  <a:srgbClr val="7656A8"/>
                </a:solidFill>
              </a:rPr>
              <a:t>c6</a:t>
            </a:r>
            <a:endParaRPr lang="en-US" sz="1500" dirty="0"/>
          </a:p>
        </p:txBody>
      </p:sp>
      <p:sp>
        <p:nvSpPr>
          <p:cNvPr id="23" name="Text 17"/>
          <p:cNvSpPr/>
          <p:nvPr/>
        </p:nvSpPr>
        <p:spPr>
          <a:xfrm>
            <a:off x="4572000" y="3520440"/>
            <a:ext cx="685800" cy="1115568"/>
          </a:xfrm>
          <a:prstGeom prst="roundRect">
            <a:avLst>
              <a:gd name="adj" fmla="val 8000"/>
            </a:avLst>
          </a:prstGeom>
          <a:solidFill>
            <a:srgbClr val="F8E1DC"/>
          </a:solidFill>
          <a:ln/>
        </p:spPr>
        <p:txBody>
          <a:bodyPr wrap="square" lIns="0" tIns="0" rIns="0" bIns="0" rtlCol="0" anchor="ctr"/>
          <a:lstStyle/>
          <a:p>
            <a:pPr algn="ctr" indent="0" marL="0">
              <a:buNone/>
            </a:pPr>
            <a:r>
              <a:rPr lang="en-US" sz="1500" b="1" dirty="0">
                <a:solidFill>
                  <a:srgbClr val="CC4F3A"/>
                </a:solidFill>
              </a:rPr>
              <a:t>c5</a:t>
            </a:r>
            <a:endParaRPr lang="en-US" sz="1500" dirty="0"/>
          </a:p>
          <a:p>
            <a:pPr algn="ctr" indent="0" marL="0">
              <a:buNone/>
            </a:pPr>
            <a:r>
              <a:rPr lang="en-US" sz="1100" dirty="0">
                <a:solidFill>
                  <a:srgbClr val="CC4F3A"/>
                </a:solidFill>
              </a:rPr>
              <a:t>pooled</a:t>
            </a:r>
            <a:endParaRPr lang="en-US" sz="1500" dirty="0"/>
          </a:p>
        </p:txBody>
      </p:sp>
      <p:sp>
        <p:nvSpPr>
          <p:cNvPr id="24" name="Text 18"/>
          <p:cNvSpPr txBox="1"/>
          <p:nvPr/>
        </p:nvSpPr>
        <p:spPr>
          <a:xfrm>
            <a:off x="548640" y="4754880"/>
            <a:ext cx="4709160" cy="548640"/>
          </a:xfrm>
          <a:prstGeom prst="rect">
            <a:avLst/>
          </a:prstGeom>
          <a:noFill/>
          <a:ln/>
        </p:spPr>
        <p:txBody>
          <a:bodyPr wrap="square" lIns="0" tIns="0" rIns="0" bIns="0" rtlCol="0" anchor="t"/>
          <a:lstStyle/>
          <a:p>
            <a:pPr algn="l" indent="0" marL="0">
              <a:buNone/>
            </a:pPr>
            <a:r>
              <a:rPr lang="en-US" sz="1300" dirty="0">
                <a:solidFill>
                  <a:schemeClr val="tx1"/>
                </a:solidFill>
              </a:rPr>
              <a:t>A c5 fish was never seen at LGR, so nobody knows when it passed.</a:t>
            </a:r>
            <a:endParaRPr lang="en-US" sz="1300" dirty="0"/>
          </a:p>
          <a:p>
            <a:pPr algn="l" indent="0" marL="0">
              <a:buNone/>
            </a:pPr>
            <a:r>
              <a:rPr lang="en-US" sz="1300" b="1" dirty="0">
                <a:solidFill>
                  <a:schemeClr val="tx2"/>
                </a:solidFill>
              </a:rPr>
              <a:t>5 cells × 2 + 1 = 11 cells.</a:t>
            </a:r>
            <a:endParaRPr lang="en-US" sz="1300" dirty="0"/>
          </a:p>
        </p:txBody>
      </p:sp>
      <p:sp>
        <p:nvSpPr>
          <p:cNvPr id="25" name="Shape 19"/>
          <p:cNvSpPr/>
          <p:nvPr/>
        </p:nvSpPr>
        <p:spPr>
          <a:xfrm>
            <a:off x="5532120" y="3429000"/>
            <a:ext cx="6108192" cy="2898648"/>
          </a:xfrm>
          <a:prstGeom prst="roundRect">
            <a:avLst>
              <a:gd name="adj" fmla="val 2524"/>
            </a:avLst>
          </a:prstGeom>
          <a:solidFill>
            <a:srgbClr val="F4F6F7"/>
          </a:solidFill>
          <a:ln w="9525">
            <a:solidFill>
              <a:srgbClr val="D3DEE1"/>
            </a:solidFill>
            <a:prstDash val="solid"/>
          </a:ln>
        </p:spPr>
      </p:sp>
      <p:sp>
        <p:nvSpPr>
          <p:cNvPr id="26" name="jags_likelihood"/>
          <p:cNvSpPr txBox="1"/>
          <p:nvPr/>
        </p:nvSpPr>
        <p:spPr>
          <a:xfrm>
            <a:off x="5623560" y="3493008"/>
            <a:ext cx="5943600" cy="2770632"/>
          </a:xfrm>
          <a:prstGeom prst="rect">
            <a:avLst/>
          </a:prstGeom>
          <a:noFill/>
          <a:ln/>
        </p:spPr>
        <p:txBody>
          <a:bodyPr wrap="square" lIns="0" tIns="0" rIns="0" bIns="0" rtlCol="0" anchor="ctr"/>
          <a:lstStyle/>
          <a:p>
            <a:pPr indent="0" marL="0">
              <a:buNone/>
            </a:pPr>
            <a:r>
              <a:rPr lang="en-US" sz="900" i="1" dirty="0">
                <a:solidFill>
                  <a:srgbClr val="1F6F78"/>
                </a:solidFill>
                <a:latin typeface="Courier New" pitchFamily="34" charset="0"/>
                <a:ea typeface="Courier New" pitchFamily="34" charset="-122"/>
                <a:cs typeface="Courier New" pitchFamily="34" charset="-120"/>
              </a:rPr>
              <a:t># day: cells 1 to 5 (c1 c2 c3 c4 c6); night: 6 to 10; c5 pooled: 11</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pi_raw[r,s,1] &lt;- (1-a[r,s]) * psi_day[r,s] * (1-trans[r,s]) * (1-phi_B[r,s])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pi_raw[r,s,2] &lt;- (1-a[r,s]) * psi_day[r,s] * (1-trans[r,s]) * phi_B[r,s]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pi_raw[r,s,3] &lt;- (1-a[r,s]) * (1-psi_day[r,s]) * p[r,s] * (1-phi_S[r,s])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pi_raw[r,s,4] &lt;- (1-a[r,s]) * (1-psi_day[r,s]) * p[r,s] * phi_S[r,s]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pi_raw[r,s,5] &lt;- (1-a[r,s]) * psi_day[r,s] * trans[r,s]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pi_raw[r,s,6] &lt;- a[r,s] * psi_night[r,s] * (1-trans[r,s]) * (1-phi_B[r,s])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pi_raw[r,s,7] &lt;- a[r,s] * psi_night[r,s] * (1-trans[r,s]) * phi_B[r,s]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pi_raw[r,s,8] &lt;- a[r,s] * (1-psi_night[r,s]) * p_night[r,s] * (1-phi_S[r,s])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pi_raw[r,s,9] &lt;- a[r,s] * (1-psi_night[r,s]) * p_night[r,s] * phi_S[r,s]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pi_raw[r,s,10] &lt;- a[r,s] * psi_night[r,s] * trans[r,s]</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pi_raw[r,s,11] &lt;- ((1-a[r,s]) * (1-psi_day[r,s]) * (1-p[r,s]) +</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                   a[r,s] * (1-psi_night[r,s]) * (1-p_night[r,s])) * phi_S[r,s]</a:t>
            </a:r>
            <a:endParaRPr lang="en-US" sz="900" dirty="0"/>
          </a:p>
          <a:p>
            <a:pPr indent="0" marL="0">
              <a:buNone/>
            </a:pPr>
            <a:r>
              <a:rPr lang="en-US" sz="900" i="1" dirty="0">
                <a:solidFill>
                  <a:srgbClr val="1F6F78"/>
                </a:solidFill>
                <a:latin typeface="Courier New" pitchFamily="34" charset="0"/>
                <a:ea typeface="Courier New" pitchFamily="34" charset="-122"/>
                <a:cs typeface="Courier New" pitchFamily="34" charset="-120"/>
              </a:rPr>
              <a:t># condition on being detected</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p_seen[r,s] &lt;- sum(pi_raw[r,s,1:11])</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for (cc in 1:11) { pi_obs[r,s,cc] &lt;- pi_raw[r,s,cc] / p_seen[r,s] }</a:t>
            </a:r>
            <a:endParaRPr lang="en-US" sz="900" dirty="0"/>
          </a:p>
          <a:p>
            <a:pPr indent="0" marL="0">
              <a:buNone/>
            </a:pPr>
            <a:r>
              <a:rPr lang="en-US" sz="900" i="1" dirty="0">
                <a:solidFill>
                  <a:srgbClr val="1F6F78"/>
                </a:solidFill>
                <a:latin typeface="Courier New" pitchFamily="34" charset="0"/>
                <a:ea typeface="Courier New" pitchFamily="34" charset="-122"/>
                <a:cs typeface="Courier New" pitchFamily="34" charset="-120"/>
              </a:rPr>
              <a:t># each detected fish is one roll of an 11-sided die</a:t>
            </a:r>
            <a:endParaRPr lang="en-US" sz="900" dirty="0"/>
          </a:p>
          <a:p>
            <a:pPr indent="0" marL="0">
              <a:buNone/>
            </a:pPr>
            <a:r>
              <a:rPr lang="en-US" sz="900" dirty="0">
                <a:solidFill>
                  <a:srgbClr val="1B2A33"/>
                </a:solidFill>
                <a:latin typeface="Courier New" pitchFamily="34" charset="0"/>
                <a:ea typeface="Courier New" pitchFamily="34" charset="-122"/>
                <a:cs typeface="Courier New" pitchFamily="34" charset="-120"/>
              </a:rPr>
              <a:t>n[r,s,1:11] ~ dmulti(pi_obs[r,s,1:11], N_seen[r,s])</a:t>
            </a:r>
            <a:endParaRPr lang="en-US" sz="900" dirty="0"/>
          </a:p>
        </p:txBody>
      </p:sp>
      <p:sp>
        <p:nvSpPr>
          <p:cNvPr id="27" name="Text 21"/>
          <p:cNvSpPr txBox="1"/>
          <p:nvPr/>
        </p:nvSpPr>
        <p:spPr>
          <a:xfrm>
            <a:off x="548640" y="5532120"/>
            <a:ext cx="4709160" cy="777240"/>
          </a:xfrm>
          <a:prstGeom prst="rect">
            <a:avLst/>
          </a:prstGeom>
          <a:noFill/>
          <a:ln/>
        </p:spPr>
        <p:txBody>
          <a:bodyPr wrap="square" lIns="0" tIns="0" rIns="0" bIns="0" rtlCol="0" anchor="t"/>
          <a:lstStyle/>
          <a:p>
            <a:pPr algn="l" indent="0" marL="0">
              <a:buNone/>
            </a:pPr>
            <a:r>
              <a:rPr lang="en-US" sz="1500" b="1" dirty="0">
                <a:solidFill>
                  <a:schemeClr val="tx2"/>
                </a:solidFill>
              </a:rPr>
              <a:t>dmulti rolls an 11-sided die once per detected fish: </a:t>
            </a:r>
            <a:pPr algn="l" indent="0" marL="0">
              <a:buNone/>
            </a:pPr>
            <a:r>
              <a:rPr lang="en-US" sz="1500" dirty="0">
                <a:solidFill>
                  <a:schemeClr val="tx1"/>
                </a:solidFill>
              </a:rPr>
              <a:t>pi_obs gives the chance of each face, and N_seen is the number of rolls.</a:t>
            </a:r>
            <a:endParaRPr lang="en-US" sz="1500" dirty="0"/>
          </a:p>
        </p:txBody>
      </p:sp>
      <p:sp>
        <p:nvSpPr>
          <p:cNvPr id="28"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07_day_night.R (simplified: assumes p_night = p, equal GRS detection day and night)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4 · DAY AND NIGHT</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Every Detection History, One Picture</a:t>
            </a:r>
            <a:endParaRPr lang="en-US" sz="3200" dirty="0"/>
          </a:p>
        </p:txBody>
      </p:sp>
      <p:pic>
        <p:nvPicPr>
          <p:cNvPr id="5" name="tree_full" descr="/home/claude/deck/assets/tree_full.png">    </p:cNvPr>
          <p:cNvPicPr>
            <a:picLocks noChangeAspect="1"/>
          </p:cNvPicPr>
          <p:nvPr/>
        </p:nvPicPr>
        <p:blipFill>
          <a:blip r:embed="rId1"/>
          <a:stretch>
            <a:fillRect/>
          </a:stretch>
        </p:blipFill>
        <p:spPr>
          <a:xfrm>
            <a:off x="548640" y="1761303"/>
            <a:ext cx="6309360" cy="3975474"/>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040880" y="1463040"/>
          <a:ext cx="4599432" cy="914400"/>
        </p:xfrm>
        <a:graphic>
          <a:graphicData uri="http://schemas.openxmlformats.org/drawingml/2006/table">
            <a:tbl>
              <a:tblPr/>
              <a:tblGrid>
                <a:gridCol w="960120"/>
                <a:gridCol w="1078992"/>
                <a:gridCol w="2560320"/>
              </a:tblGrid>
              <a:tr h="329184">
                <a:tc>
                  <a:txBody>
                    <a:bodyPr/>
                    <a:lstStyle/>
                    <a:p>
                      <a:pPr indent="0" marL="0">
                        <a:buNone/>
                      </a:pPr>
                      <a:r>
                        <a:rPr lang="en-US" sz="1150" b="1" dirty="0">
                          <a:solidFill>
                            <a:srgbClr val="FFFFFF"/>
                          </a:solidFill>
                        </a:rPr>
                        <a:t>Cell</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indent="0" marL="0">
                        <a:buNone/>
                      </a:pPr>
                      <a:r>
                        <a:rPr lang="en-US" sz="1150" b="1" dirty="0">
                          <a:solidFill>
                            <a:srgbClr val="FFFFFF"/>
                          </a:solidFill>
                        </a:rPr>
                        <a:t>Detected at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c>
                  <a:txBody>
                    <a:bodyPr/>
                    <a:lstStyle/>
                    <a:p>
                      <a:pPr indent="0" marL="0">
                        <a:buNone/>
                      </a:pPr>
                      <a:r>
                        <a:rPr lang="en-US" sz="1150" b="1" dirty="0">
                          <a:solidFill>
                            <a:srgbClr val="FFFFFF"/>
                          </a:solidFill>
                        </a:rPr>
                        <a:t>Probability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solidFill>
                      <a:srgbClr val="12303C"/>
                    </a:solidFill>
                  </a:tcPr>
                </a:tc>
              </a:tr>
              <a:tr h="310896">
                <a:tc>
                  <a:txBody>
                    <a:bodyPr/>
                    <a:lstStyle/>
                    <a:p>
                      <a:pPr indent="0" marL="0">
                        <a:buNone/>
                      </a:pPr>
                      <a:r>
                        <a:rPr lang="en-US" sz="1150" b="1" dirty="0">
                          <a:solidFill>
                            <a:srgbClr val="2A78D6"/>
                          </a:solidFill>
                        </a:rPr>
                        <a:t>c1 day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GRJ only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 </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 (1-τ)(1-</a:t>
                      </a:r>
                      <a:pPr indent="0" marL="0">
                        <a:buNone/>
                      </a:pPr>
                      <a:r>
                        <a:rPr lang="en-US" sz="1150" i="1" dirty="0">
                          <a:solidFill>
                            <a:srgbClr val="1B2A33"/>
                          </a:solidFill>
                        </a:rPr>
                        <a:t>φ</a:t>
                      </a:r>
                      <a:pPr indent="0" marL="0">
                        <a:buNone/>
                      </a:pPr>
                      <a:r>
                        <a:rPr lang="en-US" sz="1150" i="1" baseline="-40000" dirty="0">
                          <a:solidFill>
                            <a:srgbClr val="1B2A33"/>
                          </a:solidFill>
                        </a:rPr>
                        <a:t>B</a:t>
                      </a:r>
                      <a:pPr indent="0" marL="0">
                        <a:buNone/>
                      </a:pPr>
                      <a:r>
                        <a:rPr lang="en-US" sz="1150" i="1" dirty="0">
                          <a:solidFill>
                            <a:srgbClr val="1B2A33"/>
                          </a:solidFill>
                        </a:rPr>
                        <a: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2A78D6"/>
                          </a:solidFill>
                        </a:rPr>
                        <a:t>c2 day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GRJ, GOJ</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 </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 (1-τ) </a:t>
                      </a:r>
                      <a:pPr indent="0" marL="0">
                        <a:buNone/>
                      </a:pPr>
                      <a:r>
                        <a:rPr lang="en-US" sz="1150" i="1" dirty="0">
                          <a:solidFill>
                            <a:srgbClr val="1B2A33"/>
                          </a:solidFill>
                        </a:rPr>
                        <a:t>φ</a:t>
                      </a:r>
                      <a:pPr indent="0" marL="0">
                        <a:buNone/>
                      </a:pPr>
                      <a:r>
                        <a:rPr lang="en-US" sz="1150" i="1" baseline="-40000" dirty="0">
                          <a:solidFill>
                            <a:srgbClr val="1B2A33"/>
                          </a:solidFill>
                        </a:rPr>
                        <a:t>B</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B97D08"/>
                          </a:solidFill>
                        </a:rPr>
                        <a:t>c3 day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GRS only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(1-a)(1-</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 p (1-</a:t>
                      </a:r>
                      <a:pPr indent="0" marL="0">
                        <a:buNone/>
                      </a:pPr>
                      <a:r>
                        <a:rPr lang="en-US" sz="1150" i="1" dirty="0">
                          <a:solidFill>
                            <a:srgbClr val="1B2A33"/>
                          </a:solidFill>
                        </a:rPr>
                        <a:t>φ</a:t>
                      </a:r>
                      <a:pPr indent="0" marL="0">
                        <a:buNone/>
                      </a:pPr>
                      <a:r>
                        <a:rPr lang="en-US" sz="1150" i="1" baseline="-40000" dirty="0">
                          <a:solidFill>
                            <a:srgbClr val="1B2A33"/>
                          </a:solidFill>
                        </a:rPr>
                        <a:t>S</a:t>
                      </a:r>
                      <a:pPr indent="0" marL="0">
                        <a:buNone/>
                      </a:pPr>
                      <a:r>
                        <a:rPr lang="en-US" sz="1150" i="1" dirty="0">
                          <a:solidFill>
                            <a:srgbClr val="1B2A33"/>
                          </a:solidFill>
                        </a:rPr>
                        <a: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B97D08"/>
                          </a:solidFill>
                        </a:rPr>
                        <a:t>c4 day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GRS, GOJ</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(1-a)(1-</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 p </a:t>
                      </a:r>
                      <a:pPr indent="0" marL="0">
                        <a:buNone/>
                      </a:pPr>
                      <a:r>
                        <a:rPr lang="en-US" sz="1150" i="1" dirty="0">
                          <a:solidFill>
                            <a:srgbClr val="1B2A33"/>
                          </a:solidFill>
                        </a:rPr>
                        <a:t>φ</a:t>
                      </a:r>
                      <a:pPr indent="0" marL="0">
                        <a:buNone/>
                      </a:pPr>
                      <a:r>
                        <a:rPr lang="en-US" sz="1150" i="1" baseline="-40000" dirty="0">
                          <a:solidFill>
                            <a:srgbClr val="1B2A33"/>
                          </a:solidFill>
                        </a:rPr>
                        <a:t>S</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7656A8"/>
                          </a:solidFill>
                        </a:rPr>
                        <a:t>c6 day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Transported</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 </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 τ</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2A78D6"/>
                          </a:solidFill>
                        </a:rPr>
                        <a:t>c1 night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GRJ only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a </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 (1-τ)(1-</a:t>
                      </a:r>
                      <a:pPr indent="0" marL="0">
                        <a:buNone/>
                      </a:pPr>
                      <a:r>
                        <a:rPr lang="en-US" sz="1150" i="1" dirty="0">
                          <a:solidFill>
                            <a:srgbClr val="1B2A33"/>
                          </a:solidFill>
                        </a:rPr>
                        <a:t>φ</a:t>
                      </a:r>
                      <a:pPr indent="0" marL="0">
                        <a:buNone/>
                      </a:pPr>
                      <a:r>
                        <a:rPr lang="en-US" sz="1150" i="1" baseline="-40000" dirty="0">
                          <a:solidFill>
                            <a:srgbClr val="1B2A33"/>
                          </a:solidFill>
                        </a:rPr>
                        <a:t>B</a:t>
                      </a:r>
                      <a:pPr indent="0" marL="0">
                        <a:buNone/>
                      </a:pPr>
                      <a:r>
                        <a:rPr lang="en-US" sz="1150" i="1" dirty="0">
                          <a:solidFill>
                            <a:srgbClr val="1B2A33"/>
                          </a:solidFill>
                        </a:rPr>
                        <a: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2A78D6"/>
                          </a:solidFill>
                        </a:rPr>
                        <a:t>c2 night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GRJ, GOJ</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a </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 (1-τ) </a:t>
                      </a:r>
                      <a:pPr indent="0" marL="0">
                        <a:buNone/>
                      </a:pPr>
                      <a:r>
                        <a:rPr lang="en-US" sz="1150" i="1" dirty="0">
                          <a:solidFill>
                            <a:srgbClr val="1B2A33"/>
                          </a:solidFill>
                        </a:rPr>
                        <a:t>φ</a:t>
                      </a:r>
                      <a:pPr indent="0" marL="0">
                        <a:buNone/>
                      </a:pPr>
                      <a:r>
                        <a:rPr lang="en-US" sz="1150" i="1" baseline="-40000" dirty="0">
                          <a:solidFill>
                            <a:srgbClr val="1B2A33"/>
                          </a:solidFill>
                        </a:rPr>
                        <a:t>B</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B97D08"/>
                          </a:solidFill>
                        </a:rPr>
                        <a:t>c3 night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GRS only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a (1-</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 </a:t>
                      </a:r>
                      <a:pPr indent="0" marL="0">
                        <a:buNone/>
                      </a:pPr>
                      <a:r>
                        <a:rPr lang="en-US" sz="1150" i="1" dirty="0">
                          <a:solidFill>
                            <a:srgbClr val="1B2A33"/>
                          </a:solidFill>
                        </a:rPr>
                        <a:t>p</a:t>
                      </a:r>
                      <a:pPr indent="0" marL="0">
                        <a:buNone/>
                      </a:pPr>
                      <a:r>
                        <a:rPr lang="en-US" sz="1150" i="1" baseline="-40000" dirty="0">
                          <a:solidFill>
                            <a:srgbClr val="1B2A33"/>
                          </a:solidFill>
                        </a:rPr>
                        <a:t>n</a:t>
                      </a:r>
                      <a:pPr indent="0" marL="0">
                        <a:buNone/>
                      </a:pPr>
                      <a:r>
                        <a:rPr lang="en-US" sz="1150" i="1" dirty="0">
                          <a:solidFill>
                            <a:srgbClr val="1B2A33"/>
                          </a:solidFill>
                        </a:rPr>
                        <a:t> (1-</a:t>
                      </a:r>
                      <a:pPr indent="0" marL="0">
                        <a:buNone/>
                      </a:pPr>
                      <a:r>
                        <a:rPr lang="en-US" sz="1150" i="1" dirty="0">
                          <a:solidFill>
                            <a:srgbClr val="1B2A33"/>
                          </a:solidFill>
                        </a:rPr>
                        <a:t>φ</a:t>
                      </a:r>
                      <a:pPr indent="0" marL="0">
                        <a:buNone/>
                      </a:pPr>
                      <a:r>
                        <a:rPr lang="en-US" sz="1150" i="1" baseline="-40000" dirty="0">
                          <a:solidFill>
                            <a:srgbClr val="1B2A33"/>
                          </a:solidFill>
                        </a:rPr>
                        <a:t>S</a:t>
                      </a:r>
                      <a:pPr indent="0" marL="0">
                        <a:buNone/>
                      </a:pPr>
                      <a:r>
                        <a:rPr lang="en-US" sz="1150" i="1" dirty="0">
                          <a:solidFill>
                            <a:srgbClr val="1B2A33"/>
                          </a:solidFill>
                        </a:rPr>
                        <a: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B97D08"/>
                          </a:solidFill>
                        </a:rPr>
                        <a:t>c4 night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GRS, GOJ</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a (1-</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 </a:t>
                      </a:r>
                      <a:pPr indent="0" marL="0">
                        <a:buNone/>
                      </a:pPr>
                      <a:r>
                        <a:rPr lang="en-US" sz="1150" i="1" dirty="0">
                          <a:solidFill>
                            <a:srgbClr val="1B2A33"/>
                          </a:solidFill>
                        </a:rPr>
                        <a:t>p</a:t>
                      </a:r>
                      <a:pPr indent="0" marL="0">
                        <a:buNone/>
                      </a:pPr>
                      <a:r>
                        <a:rPr lang="en-US" sz="1150" i="1" baseline="-40000" dirty="0">
                          <a:solidFill>
                            <a:srgbClr val="1B2A33"/>
                          </a:solidFill>
                        </a:rPr>
                        <a:t>n</a:t>
                      </a:r>
                      <a:pPr indent="0" marL="0">
                        <a:buNone/>
                      </a:pPr>
                      <a:r>
                        <a:rPr lang="en-US" sz="1150" i="1" dirty="0">
                          <a:solidFill>
                            <a:srgbClr val="1B2A33"/>
                          </a:solidFill>
                        </a:rPr>
                        <a:t> </a:t>
                      </a:r>
                      <a:pPr indent="0" marL="0">
                        <a:buNone/>
                      </a:pPr>
                      <a:r>
                        <a:rPr lang="en-US" sz="1150" i="1" dirty="0">
                          <a:solidFill>
                            <a:srgbClr val="1B2A33"/>
                          </a:solidFill>
                        </a:rPr>
                        <a:t>φ</a:t>
                      </a:r>
                      <a:pPr indent="0" marL="0">
                        <a:buNone/>
                      </a:pPr>
                      <a:r>
                        <a:rPr lang="en-US" sz="1150" i="1" baseline="-40000" dirty="0">
                          <a:solidFill>
                            <a:srgbClr val="1B2A33"/>
                          </a:solidFill>
                        </a:rPr>
                        <a:t>S</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310896">
                <a:tc>
                  <a:txBody>
                    <a:bodyPr/>
                    <a:lstStyle/>
                    <a:p>
                      <a:pPr indent="0" marL="0">
                        <a:buNone/>
                      </a:pPr>
                      <a:r>
                        <a:rPr lang="en-US" sz="1150" b="1" dirty="0">
                          <a:solidFill>
                            <a:srgbClr val="7656A8"/>
                          </a:solidFill>
                        </a:rPr>
                        <a:t>c6 night</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Transported</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a </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 τ</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r h="512064">
                <a:tc>
                  <a:txBody>
                    <a:bodyPr/>
                    <a:lstStyle/>
                    <a:p>
                      <a:pPr indent="0" marL="0">
                        <a:buNone/>
                      </a:pPr>
                      <a:r>
                        <a:rPr lang="en-US" sz="1150" b="1" dirty="0">
                          <a:solidFill>
                            <a:srgbClr val="CC4F3A"/>
                          </a:solidFill>
                        </a:rPr>
                        <a:t>c5 pooled</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dirty="0">
                          <a:solidFill>
                            <a:srgbClr val="1B2A33"/>
                          </a:solidFill>
                        </a:rPr>
                        <a:t>GOJ only</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c>
                  <a:txBody>
                    <a:bodyPr/>
                    <a:lstStyle/>
                    <a:p>
                      <a:pPr indent="0" marL="0">
                        <a:buNone/>
                      </a:pPr>
                      <a:r>
                        <a:rPr lang="en-US" sz="1150" i="1" dirty="0">
                          <a:solidFill>
                            <a:srgbClr val="1B2A33"/>
                          </a:solidFill>
                        </a:rPr>
                        <a:t>[(1-a)(1-</a:t>
                      </a:r>
                      <a:pPr indent="0" marL="0">
                        <a:buNone/>
                      </a:pPr>
                      <a:r>
                        <a:rPr lang="en-US" sz="1150" i="1" dirty="0">
                          <a:solidFill>
                            <a:srgbClr val="1B2A33"/>
                          </a:solidFill>
                        </a:rPr>
                        <a:t>ψ</a:t>
                      </a:r>
                      <a:pPr indent="0" marL="0">
                        <a:buNone/>
                      </a:pPr>
                      <a:r>
                        <a:rPr lang="en-US" sz="1150" i="1" baseline="-40000" dirty="0">
                          <a:solidFill>
                            <a:srgbClr val="1B2A33"/>
                          </a:solidFill>
                        </a:rPr>
                        <a:t>d</a:t>
                      </a:r>
                      <a:pPr indent="0" marL="0">
                        <a:buNone/>
                      </a:pPr>
                      <a:r>
                        <a:rPr lang="en-US" sz="1150" i="1" dirty="0">
                          <a:solidFill>
                            <a:srgbClr val="1B2A33"/>
                          </a:solidFill>
                        </a:rPr>
                        <a:t>)(1-p) + a(1-</a:t>
                      </a:r>
                      <a:pPr indent="0" marL="0">
                        <a:buNone/>
                      </a:pPr>
                      <a:r>
                        <a:rPr lang="en-US" sz="1150" i="1" dirty="0">
                          <a:solidFill>
                            <a:srgbClr val="1B2A33"/>
                          </a:solidFill>
                        </a:rPr>
                        <a:t>ψ</a:t>
                      </a:r>
                      <a:pPr indent="0" marL="0">
                        <a:buNone/>
                      </a:pPr>
                      <a:r>
                        <a:rPr lang="en-US" sz="1150" i="1" baseline="-40000" dirty="0">
                          <a:solidFill>
                            <a:srgbClr val="1B2A33"/>
                          </a:solidFill>
                        </a:rPr>
                        <a:t>n</a:t>
                      </a:r>
                      <a:pPr indent="0" marL="0">
                        <a:buNone/>
                      </a:pPr>
                      <a:r>
                        <a:rPr lang="en-US" sz="1150" i="1" dirty="0">
                          <a:solidFill>
                            <a:srgbClr val="1B2A33"/>
                          </a:solidFill>
                        </a:rPr>
                        <a:t>)(1-</a:t>
                      </a:r>
                      <a:pPr indent="0" marL="0">
                        <a:buNone/>
                      </a:pPr>
                      <a:r>
                        <a:rPr lang="en-US" sz="1150" i="1" dirty="0">
                          <a:solidFill>
                            <a:srgbClr val="1B2A33"/>
                          </a:solidFill>
                        </a:rPr>
                        <a:t>p</a:t>
                      </a:r>
                      <a:pPr indent="0" marL="0">
                        <a:buNone/>
                      </a:pPr>
                      <a:r>
                        <a:rPr lang="en-US" sz="1150" i="1" baseline="-40000" dirty="0">
                          <a:solidFill>
                            <a:srgbClr val="1B2A33"/>
                          </a:solidFill>
                        </a:rPr>
                        <a:t>n</a:t>
                      </a:r>
                      <a:pPr indent="0" marL="0">
                        <a:buNone/>
                      </a:pPr>
                      <a:r>
                        <a:rPr lang="en-US" sz="1150" i="1" dirty="0">
                          <a:solidFill>
                            <a:srgbClr val="1B2A33"/>
                          </a:solidFill>
                        </a:rPr>
                        <a:t>)] </a:t>
                      </a:r>
                      <a:pPr indent="0" marL="0">
                        <a:buNone/>
                      </a:pPr>
                      <a:r>
                        <a:rPr lang="en-US" sz="1150" i="1" dirty="0">
                          <a:solidFill>
                            <a:srgbClr val="1B2A33"/>
                          </a:solidFill>
                        </a:rPr>
                        <a:t>φ</a:t>
                      </a:r>
                      <a:pPr indent="0" marL="0">
                        <a:buNone/>
                      </a:pPr>
                      <a:r>
                        <a:rPr lang="en-US" sz="1150" i="1" baseline="-40000" dirty="0">
                          <a:solidFill>
                            <a:srgbClr val="1B2A33"/>
                          </a:solidFill>
                        </a:rPr>
                        <a:t>S</a:t>
                      </a:r>
                      <a:endParaRPr lang="en-US" sz="1150" dirty="0"/>
                    </a:p>
                  </a:txBody>
                  <a:tcPr marL="73152" marR="73152" marT="27432" marB="27432" anchor="ctr">
                    <a:lnL w="9525" cap="flat" cmpd="sng" algn="ctr">
                      <a:solidFill>
                        <a:srgbClr val="D3DEE1"/>
                      </a:solidFill>
                      <a:prstDash val="solid"/>
                      <a:round/>
                      <a:headEnd type="none" w="med" len="med"/>
                      <a:tailEnd type="none" w="med" len="med"/>
                    </a:lnL>
                    <a:lnR w="9525" cap="flat" cmpd="sng" algn="ctr">
                      <a:solidFill>
                        <a:srgbClr val="D3DEE1"/>
                      </a:solidFill>
                      <a:prstDash val="solid"/>
                      <a:round/>
                      <a:headEnd type="none" w="med" len="med"/>
                      <a:tailEnd type="none" w="med" len="med"/>
                    </a:lnR>
                    <a:lnT w="9525" cap="flat" cmpd="sng" algn="ctr">
                      <a:solidFill>
                        <a:srgbClr val="D3DEE1"/>
                      </a:solidFill>
                      <a:prstDash val="solid"/>
                      <a:round/>
                      <a:headEnd type="none" w="med" len="med"/>
                      <a:tailEnd type="none" w="med" len="med"/>
                    </a:lnT>
                    <a:lnB w="9525" cap="flat" cmpd="sng" algn="ctr">
                      <a:solidFill>
                        <a:srgbClr val="D3DEE1"/>
                      </a:solidFill>
                      <a:prstDash val="solid"/>
                      <a:round/>
                      <a:headEnd type="none" w="med" len="med"/>
                      <a:tailEnd type="none" w="med" len="med"/>
                    </a:lnB>
                  </a:tcPr>
                </a:tc>
              </a:tr>
            </a:tbl>
          </a:graphicData>
        </a:graphic>
      </p:graphicFrame>
      <p:sp>
        <p:nvSpPr>
          <p:cNvPr id="7" name="Text 2"/>
          <p:cNvSpPr txBox="1"/>
          <p:nvPr/>
        </p:nvSpPr>
        <p:spPr>
          <a:xfrm>
            <a:off x="7040880" y="5486400"/>
            <a:ext cx="4599432" cy="640080"/>
          </a:xfrm>
          <a:prstGeom prst="rect">
            <a:avLst/>
          </a:prstGeom>
          <a:noFill/>
          <a:ln/>
        </p:spPr>
        <p:txBody>
          <a:bodyPr wrap="square" lIns="0" tIns="0" rIns="0" bIns="0" rtlCol="0" anchor="t"/>
          <a:lstStyle/>
          <a:p>
            <a:pPr algn="l" indent="0" marL="0">
              <a:buNone/>
            </a:pPr>
            <a:r>
              <a:rPr lang="en-US" sz="1100" dirty="0">
                <a:solidFill>
                  <a:srgbClr val="5B6B73"/>
                </a:solidFill>
              </a:rPr>
              <a:t>Each cell's chance before conditioning on being detected; never-detected fish drop out (slide 11). τ = transported, a = night share, pn = night GRS detection.</a:t>
            </a:r>
            <a:endParaRPr lang="en-US" sz="1100" dirty="0"/>
          </a:p>
        </p:txBody>
      </p:sp>
      <p:sp>
        <p:nvSpPr>
          <p:cNvPr id="8"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05_six_cell.R, 07_day_night.R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5 · FROM GE TO ABUNDANCE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Pipeline and Uncertainty</a:t>
            </a:r>
            <a:endParaRPr lang="en-US" sz="3200" dirty="0"/>
          </a:p>
        </p:txBody>
      </p:sp>
      <p:sp>
        <p:nvSpPr>
          <p:cNvPr id="5" name="Shape 2"/>
          <p:cNvSpPr/>
          <p:nvPr/>
        </p:nvSpPr>
        <p:spPr>
          <a:xfrm>
            <a:off x="548640" y="1691640"/>
            <a:ext cx="2432304" cy="1325880"/>
          </a:xfrm>
          <a:prstGeom prst="roundRect">
            <a:avLst>
              <a:gd name="adj" fmla="val 5517"/>
            </a:avLst>
          </a:prstGeom>
          <a:solidFill>
            <a:schemeClr val="bg2"/>
          </a:solidFill>
          <a:ln w="9525">
            <a:solidFill>
              <a:srgbClr val="D3DEE1"/>
            </a:solidFill>
            <a:prstDash val="solid"/>
          </a:ln>
        </p:spPr>
      </p:sp>
      <p:sp>
        <p:nvSpPr>
          <p:cNvPr id="6" name="Text 3"/>
          <p:cNvSpPr/>
          <p:nvPr/>
        </p:nvSpPr>
        <p:spPr>
          <a:xfrm>
            <a:off x="713232" y="1828800"/>
            <a:ext cx="365760" cy="36576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70432" y="1801368"/>
            <a:ext cx="1737360" cy="438912"/>
          </a:xfrm>
          <a:prstGeom prst="rect">
            <a:avLst/>
          </a:prstGeom>
          <a:noFill/>
          <a:ln/>
        </p:spPr>
        <p:txBody>
          <a:bodyPr wrap="square" lIns="0" tIns="0" rIns="0" bIns="0" rtlCol="0" anchor="ctr"/>
          <a:lstStyle/>
          <a:p>
            <a:pPr algn="l" indent="0" marL="0">
              <a:buNone/>
            </a:pPr>
            <a:r>
              <a:rPr lang="en-US" sz="1600" b="1" dirty="0">
                <a:solidFill>
                  <a:schemeClr val="tx2"/>
                </a:solidFill>
              </a:rPr>
              <a:t>Detection histories</a:t>
            </a:r>
            <a:endParaRPr lang="en-US" sz="1600" dirty="0"/>
          </a:p>
        </p:txBody>
      </p:sp>
      <p:sp>
        <p:nvSpPr>
          <p:cNvPr id="8" name="Text 5"/>
          <p:cNvSpPr txBox="1"/>
          <p:nvPr/>
        </p:nvSpPr>
        <p:spPr>
          <a:xfrm>
            <a:off x="731520" y="2331720"/>
            <a:ext cx="2103120" cy="594360"/>
          </a:xfrm>
          <a:prstGeom prst="rect">
            <a:avLst/>
          </a:prstGeom>
          <a:noFill/>
          <a:ln/>
        </p:spPr>
        <p:txBody>
          <a:bodyPr wrap="square" lIns="0" tIns="0" rIns="0" bIns="0" rtlCol="0" anchor="t"/>
          <a:lstStyle/>
          <a:p>
            <a:pPr algn="l" indent="0" marL="0">
              <a:buNone/>
            </a:pPr>
            <a:r>
              <a:rPr lang="en-US" sz="1300" dirty="0">
                <a:solidFill>
                  <a:srgbClr val="5B6B73"/>
                </a:solidFill>
              </a:rPr>
              <a:t>PTAGIS, sorted into 11 cells</a:t>
            </a:r>
            <a:endParaRPr lang="en-US" sz="1300" dirty="0"/>
          </a:p>
        </p:txBody>
      </p:sp>
      <p:sp>
        <p:nvSpPr>
          <p:cNvPr id="9" name="Shape 6"/>
          <p:cNvSpPr/>
          <p:nvPr/>
        </p:nvSpPr>
        <p:spPr>
          <a:xfrm>
            <a:off x="3044952" y="2194560"/>
            <a:ext cx="329184" cy="310896"/>
          </a:xfrm>
          <a:prstGeom prst="rightArrow">
            <a:avLst/>
          </a:prstGeom>
          <a:solidFill>
            <a:schemeClr val="accent5"/>
          </a:solidFill>
          <a:ln/>
        </p:spPr>
      </p:sp>
      <p:sp>
        <p:nvSpPr>
          <p:cNvPr id="10" name="Shape 7"/>
          <p:cNvSpPr/>
          <p:nvPr/>
        </p:nvSpPr>
        <p:spPr>
          <a:xfrm>
            <a:off x="3433572" y="1691640"/>
            <a:ext cx="2432304" cy="1325880"/>
          </a:xfrm>
          <a:prstGeom prst="roundRect">
            <a:avLst>
              <a:gd name="adj" fmla="val 5517"/>
            </a:avLst>
          </a:prstGeom>
          <a:solidFill>
            <a:schemeClr val="bg2"/>
          </a:solidFill>
          <a:ln w="9525">
            <a:solidFill>
              <a:srgbClr val="D3DEE1"/>
            </a:solidFill>
            <a:prstDash val="solid"/>
          </a:ln>
        </p:spPr>
      </p:sp>
      <p:sp>
        <p:nvSpPr>
          <p:cNvPr id="11" name="Text 8"/>
          <p:cNvSpPr/>
          <p:nvPr/>
        </p:nvSpPr>
        <p:spPr>
          <a:xfrm>
            <a:off x="3598164" y="1828800"/>
            <a:ext cx="365760" cy="36576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4055364" y="1801368"/>
            <a:ext cx="1737360" cy="438912"/>
          </a:xfrm>
          <a:prstGeom prst="rect">
            <a:avLst/>
          </a:prstGeom>
          <a:noFill/>
          <a:ln/>
        </p:spPr>
        <p:txBody>
          <a:bodyPr wrap="square" lIns="0" tIns="0" rIns="0" bIns="0" rtlCol="0" anchor="ctr"/>
          <a:lstStyle/>
          <a:p>
            <a:pPr algn="l" indent="0" marL="0">
              <a:buNone/>
            </a:pPr>
            <a:r>
              <a:rPr lang="en-US" sz="1600" b="1" dirty="0">
                <a:solidFill>
                  <a:schemeClr val="tx2"/>
                </a:solidFill>
              </a:rPr>
              <a:t>GE model in JAGS</a:t>
            </a:r>
            <a:endParaRPr lang="en-US" sz="1600" dirty="0"/>
          </a:p>
        </p:txBody>
      </p:sp>
      <p:sp>
        <p:nvSpPr>
          <p:cNvPr id="13" name="Text 10"/>
          <p:cNvSpPr txBox="1"/>
          <p:nvPr/>
        </p:nvSpPr>
        <p:spPr>
          <a:xfrm>
            <a:off x="3616452" y="2331720"/>
            <a:ext cx="2103120" cy="594360"/>
          </a:xfrm>
          <a:prstGeom prst="rect">
            <a:avLst/>
          </a:prstGeom>
          <a:noFill/>
          <a:ln/>
        </p:spPr>
        <p:txBody>
          <a:bodyPr wrap="square" lIns="0" tIns="0" rIns="0" bIns="0" rtlCol="0" anchor="t"/>
          <a:lstStyle/>
          <a:p>
            <a:pPr algn="l" indent="0" marL="0">
              <a:buNone/>
            </a:pPr>
            <a:r>
              <a:rPr lang="en-US" sz="1300" dirty="0">
                <a:solidFill>
                  <a:srgbClr val="5B6B73"/>
                </a:solidFill>
              </a:rPr>
              <a:t>hierarchical, day and night</a:t>
            </a:r>
            <a:endParaRPr lang="en-US" sz="1300" dirty="0"/>
          </a:p>
        </p:txBody>
      </p:sp>
      <p:sp>
        <p:nvSpPr>
          <p:cNvPr id="14" name="Shape 11"/>
          <p:cNvSpPr/>
          <p:nvPr/>
        </p:nvSpPr>
        <p:spPr>
          <a:xfrm>
            <a:off x="5929884" y="2194560"/>
            <a:ext cx="329184" cy="310896"/>
          </a:xfrm>
          <a:prstGeom prst="rightArrow">
            <a:avLst/>
          </a:prstGeom>
          <a:solidFill>
            <a:schemeClr val="accent5"/>
          </a:solidFill>
          <a:ln/>
        </p:spPr>
      </p:sp>
      <p:sp>
        <p:nvSpPr>
          <p:cNvPr id="15" name="Shape 12"/>
          <p:cNvSpPr/>
          <p:nvPr/>
        </p:nvSpPr>
        <p:spPr>
          <a:xfrm>
            <a:off x="6318504" y="1691640"/>
            <a:ext cx="2432304" cy="1325880"/>
          </a:xfrm>
          <a:prstGeom prst="roundRect">
            <a:avLst>
              <a:gd name="adj" fmla="val 5517"/>
            </a:avLst>
          </a:prstGeom>
          <a:solidFill>
            <a:schemeClr val="bg2"/>
          </a:solidFill>
          <a:ln w="9525">
            <a:solidFill>
              <a:srgbClr val="D3DEE1"/>
            </a:solidFill>
            <a:prstDash val="solid"/>
          </a:ln>
        </p:spPr>
      </p:sp>
      <p:sp>
        <p:nvSpPr>
          <p:cNvPr id="16" name="Text 13"/>
          <p:cNvSpPr/>
          <p:nvPr/>
        </p:nvSpPr>
        <p:spPr>
          <a:xfrm>
            <a:off x="6483096" y="1828800"/>
            <a:ext cx="365760" cy="36576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6940296" y="1801368"/>
            <a:ext cx="1737360" cy="438912"/>
          </a:xfrm>
          <a:prstGeom prst="rect">
            <a:avLst/>
          </a:prstGeom>
          <a:noFill/>
          <a:ln/>
        </p:spPr>
        <p:txBody>
          <a:bodyPr wrap="square" lIns="0" tIns="0" rIns="0" bIns="0" rtlCol="0" anchor="ctr"/>
          <a:lstStyle/>
          <a:p>
            <a:pPr algn="l" indent="0" marL="0">
              <a:buNone/>
            </a:pPr>
            <a:r>
              <a:rPr lang="en-US" sz="1600" b="1" dirty="0">
                <a:solidFill>
                  <a:schemeClr val="tx2"/>
                </a:solidFill>
              </a:rPr>
              <a:t>Daily wild GE</a:t>
            </a:r>
            <a:endParaRPr lang="en-US" sz="1600" dirty="0"/>
          </a:p>
        </p:txBody>
      </p:sp>
      <p:sp>
        <p:nvSpPr>
          <p:cNvPr id="18" name="Text 15"/>
          <p:cNvSpPr txBox="1"/>
          <p:nvPr/>
        </p:nvSpPr>
        <p:spPr>
          <a:xfrm>
            <a:off x="6501384" y="2331720"/>
            <a:ext cx="2103120" cy="594360"/>
          </a:xfrm>
          <a:prstGeom prst="rect">
            <a:avLst/>
          </a:prstGeom>
          <a:noFill/>
          <a:ln/>
        </p:spPr>
        <p:txBody>
          <a:bodyPr wrap="square" lIns="0" tIns="0" rIns="0" bIns="0" rtlCol="0" anchor="t"/>
          <a:lstStyle/>
          <a:p>
            <a:pPr algn="l" indent="0" marL="0">
              <a:buNone/>
            </a:pPr>
            <a:r>
              <a:rPr lang="en-US" sz="1300" dirty="0">
                <a:solidFill>
                  <a:srgbClr val="5B6B73"/>
                </a:solidFill>
              </a:rPr>
              <a:t>one series per posterior draw</a:t>
            </a:r>
            <a:endParaRPr lang="en-US" sz="1300" dirty="0"/>
          </a:p>
        </p:txBody>
      </p:sp>
      <p:sp>
        <p:nvSpPr>
          <p:cNvPr id="19" name="Shape 16"/>
          <p:cNvSpPr/>
          <p:nvPr/>
        </p:nvSpPr>
        <p:spPr>
          <a:xfrm>
            <a:off x="8814816" y="2194560"/>
            <a:ext cx="329184" cy="310896"/>
          </a:xfrm>
          <a:prstGeom prst="rightArrow">
            <a:avLst/>
          </a:prstGeom>
          <a:solidFill>
            <a:schemeClr val="accent5"/>
          </a:solidFill>
          <a:ln/>
        </p:spPr>
      </p:sp>
      <p:sp>
        <p:nvSpPr>
          <p:cNvPr id="20" name="Shape 17"/>
          <p:cNvSpPr/>
          <p:nvPr/>
        </p:nvSpPr>
        <p:spPr>
          <a:xfrm>
            <a:off x="9203436" y="1691640"/>
            <a:ext cx="2432304" cy="1325880"/>
          </a:xfrm>
          <a:prstGeom prst="roundRect">
            <a:avLst>
              <a:gd name="adj" fmla="val 5517"/>
            </a:avLst>
          </a:prstGeom>
          <a:solidFill>
            <a:schemeClr val="bg2"/>
          </a:solidFill>
          <a:ln w="9525">
            <a:solidFill>
              <a:srgbClr val="D3DEE1"/>
            </a:solidFill>
            <a:prstDash val="solid"/>
          </a:ln>
        </p:spPr>
      </p:sp>
      <p:sp>
        <p:nvSpPr>
          <p:cNvPr id="21" name="Text 18"/>
          <p:cNvSpPr/>
          <p:nvPr/>
        </p:nvSpPr>
        <p:spPr>
          <a:xfrm>
            <a:off x="9368028" y="1828800"/>
            <a:ext cx="365760" cy="36576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9825228" y="1801368"/>
            <a:ext cx="1737360" cy="438912"/>
          </a:xfrm>
          <a:prstGeom prst="rect">
            <a:avLst/>
          </a:prstGeom>
          <a:noFill/>
          <a:ln/>
        </p:spPr>
        <p:txBody>
          <a:bodyPr wrap="square" lIns="0" tIns="0" rIns="0" bIns="0" rtlCol="0" anchor="ctr"/>
          <a:lstStyle/>
          <a:p>
            <a:pPr algn="l" indent="0" marL="0">
              <a:buNone/>
            </a:pPr>
            <a:r>
              <a:rPr lang="en-US" sz="1600" b="1" dirty="0">
                <a:solidFill>
                  <a:schemeClr val="tx2"/>
                </a:solidFill>
              </a:rPr>
              <a:t>SCRAPI2</a:t>
            </a:r>
            <a:endParaRPr lang="en-US" sz="1600" dirty="0"/>
          </a:p>
        </p:txBody>
      </p:sp>
      <p:sp>
        <p:nvSpPr>
          <p:cNvPr id="23" name="Text 20"/>
          <p:cNvSpPr txBox="1"/>
          <p:nvPr/>
        </p:nvSpPr>
        <p:spPr>
          <a:xfrm>
            <a:off x="9386316" y="2331720"/>
            <a:ext cx="2103120" cy="594360"/>
          </a:xfrm>
          <a:prstGeom prst="rect">
            <a:avLst/>
          </a:prstGeom>
          <a:noFill/>
          <a:ln/>
        </p:spPr>
        <p:txBody>
          <a:bodyPr wrap="square" lIns="0" tIns="0" rIns="0" bIns="0" rtlCol="0" anchor="t"/>
          <a:lstStyle/>
          <a:p>
            <a:pPr algn="l" indent="0" marL="0">
              <a:buNone/>
            </a:pPr>
            <a:r>
              <a:rPr lang="en-US" sz="1300" dirty="0">
                <a:solidFill>
                  <a:srgbClr val="5B6B73"/>
                </a:solidFill>
              </a:rPr>
              <a:t>trap expansion, wild split, stock</a:t>
            </a:r>
            <a:endParaRPr lang="en-US" sz="1300" dirty="0"/>
          </a:p>
        </p:txBody>
      </p:sp>
      <p:sp>
        <p:nvSpPr>
          <p:cNvPr id="24" name="Text 21"/>
          <p:cNvSpPr txBox="1"/>
          <p:nvPr/>
        </p:nvSpPr>
        <p:spPr>
          <a:xfrm>
            <a:off x="548640" y="3337560"/>
            <a:ext cx="11091672" cy="365760"/>
          </a:xfrm>
          <a:prstGeom prst="rect">
            <a:avLst/>
          </a:prstGeom>
          <a:noFill/>
          <a:ln/>
        </p:spPr>
        <p:txBody>
          <a:bodyPr wrap="square" lIns="0" tIns="0" rIns="0" bIns="0" rtlCol="0" anchor="t"/>
          <a:lstStyle/>
          <a:p>
            <a:pPr algn="l" indent="0" marL="0">
              <a:buNone/>
            </a:pPr>
            <a:r>
              <a:rPr lang="en-US" sz="1600" b="1" dirty="0">
                <a:solidFill>
                  <a:schemeClr val="tx2"/>
                </a:solidFill>
              </a:rPr>
              <a:t>Three sources of uncertainty, carried through together</a:t>
            </a:r>
            <a:endParaRPr lang="en-US" sz="1600" dirty="0"/>
          </a:p>
        </p:txBody>
      </p:sp>
      <p:sp>
        <p:nvSpPr>
          <p:cNvPr id="25" name="Text 22"/>
          <p:cNvSpPr/>
          <p:nvPr/>
        </p:nvSpPr>
        <p:spPr>
          <a:xfrm>
            <a:off x="548640" y="3794760"/>
            <a:ext cx="3547872" cy="566928"/>
          </a:xfrm>
          <a:prstGeom prst="roundRect">
            <a:avLst>
              <a:gd name="adj" fmla="val 12903"/>
            </a:avLst>
          </a:prstGeom>
          <a:solidFill>
            <a:srgbClr val="FFFFFF"/>
          </a:solidFill>
          <a:ln w="15875">
            <a:solidFill>
              <a:schemeClr val="accent5"/>
            </a:solidFill>
          </a:ln>
        </p:spPr>
        <p:txBody>
          <a:bodyPr wrap="square" lIns="0" tIns="0" rIns="0" bIns="0" rtlCol="0" anchor="ctr"/>
          <a:lstStyle/>
          <a:p>
            <a:pPr algn="ctr" indent="0" marL="0">
              <a:buNone/>
            </a:pPr>
            <a:r>
              <a:rPr lang="en-US" sz="1500" b="1" dirty="0">
                <a:solidFill>
                  <a:schemeClr val="accent5"/>
                </a:solidFill>
              </a:rPr>
              <a:t>Trap-sample bootstrap</a:t>
            </a:r>
            <a:endParaRPr lang="en-US" sz="1500" dirty="0"/>
          </a:p>
        </p:txBody>
      </p:sp>
      <p:sp>
        <p:nvSpPr>
          <p:cNvPr id="26" name="Text 23"/>
          <p:cNvSpPr/>
          <p:nvPr/>
        </p:nvSpPr>
        <p:spPr>
          <a:xfrm>
            <a:off x="4320540" y="3794760"/>
            <a:ext cx="3547872" cy="566928"/>
          </a:xfrm>
          <a:prstGeom prst="roundRect">
            <a:avLst>
              <a:gd name="adj" fmla="val 12903"/>
            </a:avLst>
          </a:prstGeom>
          <a:solidFill>
            <a:srgbClr val="FFFFFF"/>
          </a:solidFill>
          <a:ln w="15875">
            <a:solidFill>
              <a:schemeClr val="accent5"/>
            </a:solidFill>
          </a:ln>
        </p:spPr>
        <p:txBody>
          <a:bodyPr wrap="square" lIns="0" tIns="0" rIns="0" bIns="0" rtlCol="0" anchor="ctr"/>
          <a:lstStyle/>
          <a:p>
            <a:pPr algn="ctr" indent="0" marL="0">
              <a:buNone/>
            </a:pPr>
            <a:r>
              <a:rPr lang="en-US" sz="1500" b="1" dirty="0">
                <a:solidFill>
                  <a:schemeClr val="accent5"/>
                </a:solidFill>
              </a:rPr>
              <a:t>GE posterior draws</a:t>
            </a:r>
            <a:endParaRPr lang="en-US" sz="1500" dirty="0"/>
          </a:p>
        </p:txBody>
      </p:sp>
      <p:sp>
        <p:nvSpPr>
          <p:cNvPr id="27" name="Text 24"/>
          <p:cNvSpPr/>
          <p:nvPr/>
        </p:nvSpPr>
        <p:spPr>
          <a:xfrm>
            <a:off x="8092440" y="3794760"/>
            <a:ext cx="3547872" cy="566928"/>
          </a:xfrm>
          <a:prstGeom prst="roundRect">
            <a:avLst>
              <a:gd name="adj" fmla="val 12903"/>
            </a:avLst>
          </a:prstGeom>
          <a:solidFill>
            <a:srgbClr val="FFFFFF"/>
          </a:solidFill>
          <a:ln w="15875">
            <a:solidFill>
              <a:schemeClr val="accent5"/>
            </a:solidFill>
          </a:ln>
        </p:spPr>
        <p:txBody>
          <a:bodyPr wrap="square" lIns="0" tIns="0" rIns="0" bIns="0" rtlCol="0" anchor="ctr"/>
          <a:lstStyle/>
          <a:p>
            <a:pPr algn="ctr" indent="0" marL="0">
              <a:buNone/>
            </a:pPr>
            <a:r>
              <a:rPr lang="en-US" sz="1500" b="1" dirty="0">
                <a:solidFill>
                  <a:schemeClr val="accent5"/>
                </a:solidFill>
              </a:rPr>
              <a:t>Genetic stock posterior draws</a:t>
            </a:r>
            <a:endParaRPr lang="en-US" sz="1500" dirty="0"/>
          </a:p>
        </p:txBody>
      </p:sp>
      <p:sp>
        <p:nvSpPr>
          <p:cNvPr id="28" name="Shape 25"/>
          <p:cNvSpPr/>
          <p:nvPr/>
        </p:nvSpPr>
        <p:spPr>
          <a:xfrm>
            <a:off x="548640" y="4663440"/>
            <a:ext cx="11091672" cy="1371600"/>
          </a:xfrm>
          <a:prstGeom prst="roundRect">
            <a:avLst>
              <a:gd name="adj" fmla="val 5333"/>
            </a:avLst>
          </a:prstGeom>
          <a:solidFill>
            <a:schemeClr val="bg2"/>
          </a:solidFill>
          <a:ln w="9525">
            <a:solidFill>
              <a:srgbClr val="D3DEE1"/>
            </a:solidFill>
            <a:prstDash val="solid"/>
          </a:ln>
        </p:spPr>
      </p:sp>
      <p:sp>
        <p:nvSpPr>
          <p:cNvPr id="29" name="Text 26"/>
          <p:cNvSpPr txBox="1"/>
          <p:nvPr/>
        </p:nvSpPr>
        <p:spPr>
          <a:xfrm>
            <a:off x="777240" y="4773168"/>
            <a:ext cx="10607040" cy="365760"/>
          </a:xfrm>
          <a:prstGeom prst="rect">
            <a:avLst/>
          </a:prstGeom>
          <a:noFill/>
          <a:ln/>
        </p:spPr>
        <p:txBody>
          <a:bodyPr wrap="square" lIns="0" tIns="0" rIns="0" bIns="0" rtlCol="0" anchor="t"/>
          <a:lstStyle/>
          <a:p>
            <a:pPr algn="l" indent="0" marL="0">
              <a:buNone/>
            </a:pPr>
            <a:r>
              <a:rPr lang="en-US" sz="1500" b="1" dirty="0">
                <a:solidFill>
                  <a:schemeClr val="tx2"/>
                </a:solidFill>
              </a:rPr>
              <a:t>Weekly fit to daily GE</a:t>
            </a:r>
            <a:endParaRPr lang="en-US" sz="1500" dirty="0"/>
          </a:p>
        </p:txBody>
      </p:sp>
      <p:sp>
        <p:nvSpPr>
          <p:cNvPr id="30" name="Text 27"/>
          <p:cNvSpPr txBox="1"/>
          <p:nvPr/>
        </p:nvSpPr>
        <p:spPr>
          <a:xfrm>
            <a:off x="777240" y="5212080"/>
            <a:ext cx="5120640" cy="100584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Passage-weighted spill and flow</a:t>
            </a:r>
            <a:endParaRPr lang="en-US" sz="1400" dirty="0"/>
          </a:p>
          <a:p>
            <a:pPr algn="l" marL="342900" indent="-342900">
              <a:spcAft>
                <a:spcPts val="800"/>
              </a:spcAft>
              <a:buSzPct val="100000"/>
              <a:buChar char="•"/>
            </a:pPr>
            <a:r>
              <a:rPr lang="en-US" sz="1400" dirty="0">
                <a:solidFill>
                  <a:schemeClr val="tx1"/>
                </a:solidFill>
              </a:rPr>
              <a:t>Spill decayed over the previous 7 days (0.5)</a:t>
            </a:r>
            <a:endParaRPr lang="en-US" sz="1400" dirty="0"/>
          </a:p>
        </p:txBody>
      </p:sp>
      <p:sp>
        <p:nvSpPr>
          <p:cNvPr id="31" name="Text 28"/>
          <p:cNvSpPr txBox="1"/>
          <p:nvPr/>
        </p:nvSpPr>
        <p:spPr>
          <a:xfrm>
            <a:off x="6080760" y="5212080"/>
            <a:ext cx="5394960" cy="100584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chemeClr val="tx1"/>
                </a:solidFill>
              </a:rPr>
              <a:t>Each day's own night share, pulled toward the week's (k = 25)</a:t>
            </a:r>
            <a:endParaRPr lang="en-US" sz="1400" dirty="0"/>
          </a:p>
          <a:p>
            <a:pPr algn="l" marL="342900" indent="-342900">
              <a:spcAft>
                <a:spcPts val="800"/>
              </a:spcAft>
              <a:buSzPct val="100000"/>
              <a:buChar char="•"/>
            </a:pPr>
            <a:r>
              <a:rPr lang="en-US" sz="1400" dirty="0">
                <a:solidFill>
                  <a:schemeClr val="tx1"/>
                </a:solidFill>
              </a:rPr>
              <a:t>Calibrated to keep the weekly day and night targets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5 · FROM GE TO ABUNDANCE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Jensen's Inequality Bit Us</a:t>
            </a:r>
            <a:endParaRPr lang="en-US" sz="3200" dirty="0"/>
          </a:p>
        </p:txBody>
      </p:sp>
      <p:sp>
        <p:nvSpPr>
          <p:cNvPr id="5" name="Text 2"/>
          <p:cNvSpPr txBox="1"/>
          <p:nvPr/>
        </p:nvSpPr>
        <p:spPr>
          <a:xfrm>
            <a:off x="548640" y="1325880"/>
            <a:ext cx="11091672" cy="411480"/>
          </a:xfrm>
          <a:prstGeom prst="rect">
            <a:avLst/>
          </a:prstGeom>
          <a:noFill/>
          <a:ln/>
        </p:spPr>
        <p:txBody>
          <a:bodyPr wrap="square" lIns="0" tIns="0" rIns="0" bIns="0" rtlCol="0" anchor="t"/>
          <a:lstStyle/>
          <a:p>
            <a:pPr algn="l" indent="0" marL="0">
              <a:buNone/>
            </a:pPr>
            <a:r>
              <a:rPr lang="en-US" sz="1600" b="1" dirty="0">
                <a:solidFill>
                  <a:schemeClr val="accent5"/>
                </a:solidFill>
              </a:rPr>
              <a:t>Jensen’s inequality says that for a curved (convex) function, the average of the function is not the function of the average.</a:t>
            </a:r>
            <a:endParaRPr lang="en-US" sz="1600" dirty="0"/>
          </a:p>
        </p:txBody>
      </p:sp>
      <p:sp>
        <p:nvSpPr>
          <p:cNvPr id="6" name="Text 3"/>
          <p:cNvSpPr txBox="1"/>
          <p:nvPr/>
        </p:nvSpPr>
        <p:spPr>
          <a:xfrm>
            <a:off x="548640" y="1755648"/>
            <a:ext cx="11091672" cy="365760"/>
          </a:xfrm>
          <a:prstGeom prst="rect">
            <a:avLst/>
          </a:prstGeom>
          <a:noFill/>
          <a:ln/>
        </p:spPr>
        <p:txBody>
          <a:bodyPr wrap="square" lIns="0" tIns="0" rIns="0" bIns="0" rtlCol="0" anchor="t"/>
          <a:lstStyle/>
          <a:p>
            <a:pPr algn="l" indent="0" marL="0">
              <a:buNone/>
            </a:pPr>
            <a:r>
              <a:rPr lang="en-US" sz="1600" dirty="0">
                <a:solidFill>
                  <a:schemeClr val="tx1"/>
                </a:solidFill>
              </a:rPr>
              <a:t>Two equally likely GE draws: 0.04 and 0.08. What's the expansion?</a:t>
            </a:r>
            <a:endParaRPr lang="en-US" sz="1600" dirty="0"/>
          </a:p>
        </p:txBody>
      </p:sp>
      <p:sp>
        <p:nvSpPr>
          <p:cNvPr id="7" name="Shape 4"/>
          <p:cNvSpPr/>
          <p:nvPr/>
        </p:nvSpPr>
        <p:spPr>
          <a:xfrm>
            <a:off x="548640" y="2240280"/>
            <a:ext cx="5394960" cy="1691640"/>
          </a:xfrm>
          <a:prstGeom prst="roundRect">
            <a:avLst>
              <a:gd name="adj" fmla="val 4324"/>
            </a:avLst>
          </a:prstGeom>
          <a:solidFill>
            <a:srgbClr val="FFFFFF"/>
          </a:solidFill>
          <a:ln w="9525">
            <a:solidFill>
              <a:srgbClr val="A1A7AD"/>
            </a:solidFill>
            <a:prstDash val="solid"/>
          </a:ln>
        </p:spPr>
      </p:sp>
      <p:sp>
        <p:nvSpPr>
          <p:cNvPr id="8" name="Text 5"/>
          <p:cNvSpPr txBox="1"/>
          <p:nvPr/>
        </p:nvSpPr>
        <p:spPr>
          <a:xfrm>
            <a:off x="777240" y="2331720"/>
            <a:ext cx="4937760" cy="365760"/>
          </a:xfrm>
          <a:prstGeom prst="rect">
            <a:avLst/>
          </a:prstGeom>
          <a:noFill/>
          <a:ln/>
        </p:spPr>
        <p:txBody>
          <a:bodyPr wrap="square" lIns="0" tIns="0" rIns="0" bIns="0" rtlCol="0" anchor="t"/>
          <a:lstStyle/>
          <a:p>
            <a:pPr algn="l" indent="0" marL="0">
              <a:buNone/>
            </a:pPr>
            <a:r>
              <a:rPr lang="en-US" sz="1600" b="1" dirty="0">
                <a:solidFill>
                  <a:srgbClr val="6B7780"/>
                </a:solidFill>
              </a:rPr>
              <a:t>Average GE, then invert</a:t>
            </a:r>
            <a:endParaRPr lang="en-US" sz="1600" dirty="0"/>
          </a:p>
        </p:txBody>
      </p:sp>
      <p:pic>
        <p:nvPicPr>
          <p:cNvPr id="9" name="eq_jA" descr="/home/claude/deck/assets/eq_jA.png">    </p:cNvPr>
          <p:cNvPicPr>
            <a:picLocks noChangeAspect="1"/>
          </p:cNvPicPr>
          <p:nvPr/>
        </p:nvPicPr>
        <p:blipFill>
          <a:blip r:embed="rId1"/>
          <a:stretch>
            <a:fillRect/>
          </a:stretch>
        </p:blipFill>
        <p:spPr>
          <a:xfrm>
            <a:off x="777240" y="2807208"/>
            <a:ext cx="3261360" cy="423672"/>
          </a:xfrm>
          <a:prstGeom prst="rect">
            <a:avLst/>
          </a:prstGeom>
        </p:spPr>
      </p:pic>
      <p:sp>
        <p:nvSpPr>
          <p:cNvPr id="10" name="Text 6"/>
          <p:cNvSpPr txBox="1"/>
          <p:nvPr/>
        </p:nvSpPr>
        <p:spPr>
          <a:xfrm>
            <a:off x="777240" y="3429000"/>
            <a:ext cx="4937760" cy="365760"/>
          </a:xfrm>
          <a:prstGeom prst="rect">
            <a:avLst/>
          </a:prstGeom>
          <a:noFill/>
          <a:ln/>
        </p:spPr>
        <p:txBody>
          <a:bodyPr wrap="square" lIns="0" tIns="0" rIns="0" bIns="0" rtlCol="0" anchor="t"/>
          <a:lstStyle/>
          <a:p>
            <a:pPr algn="l" indent="0" marL="0">
              <a:buNone/>
            </a:pPr>
            <a:r>
              <a:rPr lang="en-US" sz="1300" dirty="0">
                <a:solidFill>
                  <a:srgbClr val="5B6B73"/>
                </a:solidFill>
              </a:rPr>
              <a:t>What early SCRAPI2 did</a:t>
            </a:r>
            <a:endParaRPr lang="en-US" sz="1300" dirty="0"/>
          </a:p>
        </p:txBody>
      </p:sp>
      <p:sp>
        <p:nvSpPr>
          <p:cNvPr id="11" name="Shape 7"/>
          <p:cNvSpPr/>
          <p:nvPr/>
        </p:nvSpPr>
        <p:spPr>
          <a:xfrm>
            <a:off x="6245352" y="2240280"/>
            <a:ext cx="5394960" cy="1691640"/>
          </a:xfrm>
          <a:prstGeom prst="roundRect">
            <a:avLst>
              <a:gd name="adj" fmla="val 4324"/>
            </a:avLst>
          </a:prstGeom>
          <a:solidFill>
            <a:srgbClr val="E6F6EF"/>
          </a:solidFill>
          <a:ln w="9525">
            <a:solidFill>
              <a:schemeClr val="accent6"/>
            </a:solidFill>
            <a:prstDash val="solid"/>
          </a:ln>
        </p:spPr>
      </p:sp>
      <p:sp>
        <p:nvSpPr>
          <p:cNvPr id="12" name="Text 8"/>
          <p:cNvSpPr txBox="1"/>
          <p:nvPr/>
        </p:nvSpPr>
        <p:spPr>
          <a:xfrm>
            <a:off x="6473952" y="2331720"/>
            <a:ext cx="4937760" cy="365760"/>
          </a:xfrm>
          <a:prstGeom prst="rect">
            <a:avLst/>
          </a:prstGeom>
          <a:noFill/>
          <a:ln/>
        </p:spPr>
        <p:txBody>
          <a:bodyPr wrap="square" lIns="0" tIns="0" rIns="0" bIns="0" rtlCol="0" anchor="t"/>
          <a:lstStyle/>
          <a:p>
            <a:pPr algn="l" indent="0" marL="0">
              <a:buNone/>
            </a:pPr>
            <a:r>
              <a:rPr lang="en-US" sz="1600" b="1" dirty="0">
                <a:solidFill>
                  <a:srgbClr val="0F7A55"/>
                </a:solidFill>
              </a:rPr>
              <a:t>Invert, then average</a:t>
            </a:r>
            <a:endParaRPr lang="en-US" sz="1600" dirty="0"/>
          </a:p>
        </p:txBody>
      </p:sp>
      <p:pic>
        <p:nvPicPr>
          <p:cNvPr id="13" name="eq_jB" descr="/home/claude/deck/assets/eq_jB.png">    </p:cNvPr>
          <p:cNvPicPr>
            <a:picLocks noChangeAspect="1"/>
          </p:cNvPicPr>
          <p:nvPr/>
        </p:nvPicPr>
        <p:blipFill>
          <a:blip r:embed="rId2"/>
          <a:stretch>
            <a:fillRect/>
          </a:stretch>
        </p:blipFill>
        <p:spPr>
          <a:xfrm>
            <a:off x="6473952" y="2807208"/>
            <a:ext cx="4212336" cy="423672"/>
          </a:xfrm>
          <a:prstGeom prst="rect">
            <a:avLst/>
          </a:prstGeom>
        </p:spPr>
      </p:pic>
      <p:sp>
        <p:nvSpPr>
          <p:cNvPr id="14" name="Text 9"/>
          <p:cNvSpPr txBox="1"/>
          <p:nvPr/>
        </p:nvSpPr>
        <p:spPr>
          <a:xfrm>
            <a:off x="6473952" y="3429000"/>
            <a:ext cx="4937760" cy="365760"/>
          </a:xfrm>
          <a:prstGeom prst="rect">
            <a:avLst/>
          </a:prstGeom>
          <a:noFill/>
          <a:ln/>
        </p:spPr>
        <p:txBody>
          <a:bodyPr wrap="square" lIns="0" tIns="0" rIns="0" bIns="0" rtlCol="0" anchor="t"/>
          <a:lstStyle/>
          <a:p>
            <a:pPr algn="l" indent="0" marL="0">
              <a:buNone/>
            </a:pPr>
            <a:r>
              <a:rPr lang="en-US" sz="1300" dirty="0">
                <a:solidFill>
                  <a:srgbClr val="0F7A55"/>
                </a:solidFill>
              </a:rPr>
              <a:t>What it has to be, because SCRAPI expands by 1 / GE</a:t>
            </a:r>
            <a:endParaRPr lang="en-US" sz="1300" dirty="0"/>
          </a:p>
        </p:txBody>
      </p:sp>
      <p:sp>
        <p:nvSpPr>
          <p:cNvPr id="15" name="Text 10"/>
          <p:cNvSpPr txBox="1"/>
          <p:nvPr/>
        </p:nvSpPr>
        <p:spPr>
          <a:xfrm>
            <a:off x="548640" y="4160520"/>
            <a:ext cx="1920240" cy="685800"/>
          </a:xfrm>
          <a:prstGeom prst="rect">
            <a:avLst/>
          </a:prstGeom>
          <a:noFill/>
          <a:ln/>
        </p:spPr>
        <p:txBody>
          <a:bodyPr wrap="square" lIns="0" tIns="0" rIns="0" bIns="0" rtlCol="0" anchor="ctr"/>
          <a:lstStyle/>
          <a:p>
            <a:pPr algn="l" indent="0" marL="0">
              <a:buNone/>
            </a:pPr>
            <a:r>
              <a:rPr lang="en-US" sz="1400" b="1" dirty="0">
                <a:solidFill>
                  <a:schemeClr val="accent5"/>
                </a:solidFill>
              </a:rPr>
              <a:t>What went wrong</a:t>
            </a:r>
            <a:endParaRPr lang="en-US" sz="1400" dirty="0"/>
          </a:p>
        </p:txBody>
      </p:sp>
      <p:sp>
        <p:nvSpPr>
          <p:cNvPr id="16" name="Text 11"/>
          <p:cNvSpPr txBox="1"/>
          <p:nvPr/>
        </p:nvSpPr>
        <p:spPr>
          <a:xfrm>
            <a:off x="2606040" y="4160520"/>
            <a:ext cx="9034272" cy="685800"/>
          </a:xfrm>
          <a:prstGeom prst="rect">
            <a:avLst/>
          </a:prstGeom>
          <a:noFill/>
          <a:ln/>
        </p:spPr>
        <p:txBody>
          <a:bodyPr wrap="square" lIns="0" tIns="0" rIns="0" bIns="0" rtlCol="0" anchor="ctr"/>
          <a:lstStyle/>
          <a:p>
            <a:pPr algn="l" indent="0" marL="0">
              <a:buNone/>
            </a:pPr>
            <a:r>
              <a:rPr lang="en-US" sz="1400" dirty="0">
                <a:solidFill>
                  <a:schemeClr val="tx1"/>
                </a:solidFill>
              </a:rPr>
              <a:t>Early SCRAPI2 used the first, and point estimates fell below their own bootstrap distribution. The gap grows as GE heads toward zero.</a:t>
            </a:r>
            <a:endParaRPr lang="en-US" sz="1400" dirty="0"/>
          </a:p>
        </p:txBody>
      </p:sp>
      <p:sp>
        <p:nvSpPr>
          <p:cNvPr id="17" name="Text 12"/>
          <p:cNvSpPr txBox="1"/>
          <p:nvPr/>
        </p:nvSpPr>
        <p:spPr>
          <a:xfrm>
            <a:off x="548640" y="4873752"/>
            <a:ext cx="1920240" cy="685800"/>
          </a:xfrm>
          <a:prstGeom prst="rect">
            <a:avLst/>
          </a:prstGeom>
          <a:noFill/>
          <a:ln/>
        </p:spPr>
        <p:txBody>
          <a:bodyPr wrap="square" lIns="0" tIns="0" rIns="0" bIns="0" rtlCol="0" anchor="ctr"/>
          <a:lstStyle/>
          <a:p>
            <a:pPr algn="l" indent="0" marL="0">
              <a:buNone/>
            </a:pPr>
            <a:r>
              <a:rPr lang="en-US" sz="1400" b="1" dirty="0">
                <a:solidFill>
                  <a:schemeClr val="accent5"/>
                </a:solidFill>
              </a:rPr>
              <a:t>The fix</a:t>
            </a:r>
            <a:endParaRPr lang="en-US" sz="1400" dirty="0"/>
          </a:p>
        </p:txBody>
      </p:sp>
      <p:sp>
        <p:nvSpPr>
          <p:cNvPr id="18" name="Text 13"/>
          <p:cNvSpPr txBox="1"/>
          <p:nvPr/>
        </p:nvSpPr>
        <p:spPr>
          <a:xfrm>
            <a:off x="2606040" y="4873752"/>
            <a:ext cx="9034272" cy="685800"/>
          </a:xfrm>
          <a:prstGeom prst="rect">
            <a:avLst/>
          </a:prstGeom>
          <a:noFill/>
          <a:ln/>
        </p:spPr>
        <p:txBody>
          <a:bodyPr wrap="square" lIns="0" tIns="0" rIns="0" bIns="0" rtlCol="0" anchor="ctr"/>
          <a:lstStyle/>
          <a:p>
            <a:pPr algn="l" indent="0" marL="0">
              <a:buNone/>
            </a:pPr>
            <a:r>
              <a:rPr lang="en-US" sz="1400" dirty="0">
                <a:solidFill>
                  <a:schemeClr val="tx1"/>
                </a:solidFill>
              </a:rPr>
              <a:t>smoltEASE, September 2026: each bootstrap replicate carries its own GE draw, and the estimate is the mean of the replicates, so E[1/ψ] is built in.</a:t>
            </a:r>
            <a:endParaRPr lang="en-US" sz="1400" dirty="0"/>
          </a:p>
        </p:txBody>
      </p:sp>
      <p:sp>
        <p:nvSpPr>
          <p:cNvPr id="19" name="Text 14"/>
          <p:cNvSpPr txBox="1"/>
          <p:nvPr/>
        </p:nvSpPr>
        <p:spPr>
          <a:xfrm>
            <a:off x="548640" y="5586984"/>
            <a:ext cx="1920240" cy="685800"/>
          </a:xfrm>
          <a:prstGeom prst="rect">
            <a:avLst/>
          </a:prstGeom>
          <a:noFill/>
          <a:ln/>
        </p:spPr>
        <p:txBody>
          <a:bodyPr wrap="square" lIns="0" tIns="0" rIns="0" bIns="0" rtlCol="0" anchor="ctr"/>
          <a:lstStyle/>
          <a:p>
            <a:pPr algn="l" indent="0" marL="0">
              <a:buNone/>
            </a:pPr>
            <a:r>
              <a:rPr lang="en-US" sz="1400" b="1" dirty="0">
                <a:solidFill>
                  <a:schemeClr val="accent5"/>
                </a:solidFill>
              </a:rPr>
              <a:t>Still open</a:t>
            </a:r>
            <a:endParaRPr lang="en-US" sz="1400" dirty="0"/>
          </a:p>
        </p:txBody>
      </p:sp>
      <p:sp>
        <p:nvSpPr>
          <p:cNvPr id="20" name="Text 15"/>
          <p:cNvSpPr txBox="1"/>
          <p:nvPr/>
        </p:nvSpPr>
        <p:spPr>
          <a:xfrm>
            <a:off x="2606040" y="5586984"/>
            <a:ext cx="9034272" cy="685800"/>
          </a:xfrm>
          <a:prstGeom prst="rect">
            <a:avLst/>
          </a:prstGeom>
          <a:noFill/>
          <a:ln/>
        </p:spPr>
        <p:txBody>
          <a:bodyPr wrap="square" lIns="0" tIns="0" rIns="0" bIns="0" rtlCol="0" anchor="ctr"/>
          <a:lstStyle/>
          <a:p>
            <a:pPr algn="l" indent="0" marL="0">
              <a:buNone/>
            </a:pPr>
            <a:r>
              <a:rPr lang="en-US" sz="1400" dirty="0">
                <a:solidFill>
                  <a:schemeClr val="tx1"/>
                </a:solidFill>
              </a:rPr>
              <a:t>Near-zero GE in a high-volume week, where the 1/GE tail is real. SCRAPI2 flags these weeks, and the results get a thorough review before estimates are finalized.</a:t>
            </a:r>
            <a:endParaRPr lang="en-US" sz="1400" dirty="0"/>
          </a:p>
        </p:txBody>
      </p:sp>
      <p:sp>
        <p:nvSpPr>
          <p:cNvPr id="21"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02_lincoln_petersen.R, section 3; 08_bootstrap.R</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5 · FROM GE TO ABUNDANCE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Does It Recover GE?</a:t>
            </a:r>
            <a:endParaRPr lang="en-US" sz="3200" dirty="0"/>
          </a:p>
        </p:txBody>
      </p:sp>
      <p:pic>
        <p:nvPicPr>
          <p:cNvPr id="5" name="bpa_cover" descr="/home/claude/deck/assets/bpa_cover.png">    </p:cNvPr>
          <p:cNvPicPr>
            <a:picLocks noChangeAspect="1"/>
          </p:cNvPicPr>
          <p:nvPr/>
        </p:nvPicPr>
        <p:blipFill>
          <a:blip r:embed="rId1"/>
          <a:stretch>
            <a:fillRect/>
          </a:stretch>
        </p:blipFill>
        <p:spPr>
          <a:xfrm>
            <a:off x="548640" y="1508760"/>
            <a:ext cx="2192124" cy="3291840"/>
          </a:xfrm>
          <a:prstGeom prst="rect">
            <a:avLst/>
          </a:prstGeom>
        </p:spPr>
      </p:pic>
      <p:sp>
        <p:nvSpPr>
          <p:cNvPr id="6" name="Text 2"/>
          <p:cNvSpPr txBox="1"/>
          <p:nvPr/>
        </p:nvSpPr>
        <p:spPr>
          <a:xfrm>
            <a:off x="548640" y="4937760"/>
            <a:ext cx="2606040" cy="868680"/>
          </a:xfrm>
          <a:prstGeom prst="rect">
            <a:avLst/>
          </a:prstGeom>
          <a:noFill/>
          <a:ln/>
        </p:spPr>
        <p:txBody>
          <a:bodyPr wrap="square" lIns="0" tIns="0" rIns="0" bIns="0" rtlCol="0" anchor="t"/>
          <a:lstStyle/>
          <a:p>
            <a:pPr algn="l" indent="0" marL="0">
              <a:buNone/>
            </a:pPr>
            <a:r>
              <a:rPr lang="en-US" sz="1400" i="1" dirty="0">
                <a:solidFill>
                  <a:schemeClr val="tx2"/>
                </a:solidFill>
              </a:rPr>
              <a:t>“Truth is known, so we know what to expect from the analysis.”</a:t>
            </a:r>
            <a:endParaRPr lang="en-US" sz="1400" dirty="0"/>
          </a:p>
        </p:txBody>
      </p:sp>
      <p:sp>
        <p:nvSpPr>
          <p:cNvPr id="7" name="Text 3"/>
          <p:cNvSpPr txBox="1"/>
          <p:nvPr/>
        </p:nvSpPr>
        <p:spPr>
          <a:xfrm>
            <a:off x="548640" y="5806440"/>
            <a:ext cx="2606040" cy="548640"/>
          </a:xfrm>
          <a:prstGeom prst="rect">
            <a:avLst/>
          </a:prstGeom>
          <a:noFill/>
          <a:ln/>
        </p:spPr>
        <p:txBody>
          <a:bodyPr wrap="square" lIns="0" tIns="0" rIns="0" bIns="0" rtlCol="0" anchor="t"/>
          <a:lstStyle/>
          <a:p>
            <a:pPr algn="l" indent="0" marL="0">
              <a:buNone/>
            </a:pPr>
            <a:r>
              <a:rPr lang="en-US" sz="1100" dirty="0">
                <a:solidFill>
                  <a:srgbClr val="5B6B73"/>
                </a:solidFill>
              </a:rPr>
              <a:t>Kéry and Schaub (2012), Section 1.5. A primer for any ecologist fitting Bayesian models.</a:t>
            </a:r>
            <a:endParaRPr lang="en-US" sz="1100" dirty="0"/>
          </a:p>
        </p:txBody>
      </p:sp>
      <p:sp>
        <p:nvSpPr>
          <p:cNvPr id="8" name="Text 4"/>
          <p:cNvSpPr txBox="1"/>
          <p:nvPr/>
        </p:nvSpPr>
        <p:spPr>
          <a:xfrm>
            <a:off x="3337560" y="1371600"/>
            <a:ext cx="8302752" cy="530352"/>
          </a:xfrm>
          <a:prstGeom prst="rect">
            <a:avLst/>
          </a:prstGeom>
          <a:noFill/>
          <a:ln/>
        </p:spPr>
        <p:txBody>
          <a:bodyPr wrap="square" lIns="0" tIns="0" rIns="0" bIns="0" rtlCol="0" anchor="t"/>
          <a:lstStyle/>
          <a:p>
            <a:pPr algn="l" indent="0" marL="0">
              <a:buNone/>
            </a:pPr>
            <a:r>
              <a:rPr lang="en-US" sz="1400" b="1" dirty="0">
                <a:solidFill>
                  <a:schemeClr val="tx2"/>
                </a:solidFill>
              </a:rPr>
              <a:t>250 simulated seasons, 50 per year (MY2021 to 2025). Every wild parameter, every year: at least 92% of weekly 95% intervals covered the truth.</a:t>
            </a:r>
            <a:endParaRPr lang="en-US" sz="1400" dirty="0"/>
          </a:p>
        </p:txBody>
      </p:sp>
      <p:pic>
        <p:nvPicPr>
          <p:cNvPr id="9" name="coverage_wild" descr="/home/claude/deck/assets/coverage_wild.png">    </p:cNvPr>
          <p:cNvPicPr>
            <a:picLocks noChangeAspect="1"/>
          </p:cNvPicPr>
          <p:nvPr/>
        </p:nvPicPr>
        <p:blipFill>
          <a:blip r:embed="rId2"/>
          <a:stretch>
            <a:fillRect/>
          </a:stretch>
        </p:blipFill>
        <p:spPr>
          <a:xfrm>
            <a:off x="4660011" y="1901952"/>
            <a:ext cx="5657850" cy="3520440"/>
          </a:xfrm>
          <a:prstGeom prst="rect">
            <a:avLst/>
          </a:prstGeom>
        </p:spPr>
      </p:pic>
      <p:sp>
        <p:nvSpPr>
          <p:cNvPr id="10" name="Shape 5"/>
          <p:cNvSpPr/>
          <p:nvPr/>
        </p:nvSpPr>
        <p:spPr>
          <a:xfrm>
            <a:off x="3337560" y="5532120"/>
            <a:ext cx="1947672" cy="822960"/>
          </a:xfrm>
          <a:prstGeom prst="roundRect">
            <a:avLst>
              <a:gd name="adj" fmla="val 8889"/>
            </a:avLst>
          </a:prstGeom>
          <a:solidFill>
            <a:schemeClr val="bg2"/>
          </a:solidFill>
          <a:ln w="9525">
            <a:solidFill>
              <a:srgbClr val="D3DEE1"/>
            </a:solidFill>
            <a:prstDash val="solid"/>
          </a:ln>
        </p:spPr>
      </p:sp>
      <p:sp>
        <p:nvSpPr>
          <p:cNvPr id="11" name="Text 6"/>
          <p:cNvSpPr txBox="1"/>
          <p:nvPr/>
        </p:nvSpPr>
        <p:spPr>
          <a:xfrm>
            <a:off x="3447288" y="5559552"/>
            <a:ext cx="1728216" cy="384048"/>
          </a:xfrm>
          <a:prstGeom prst="rect">
            <a:avLst/>
          </a:prstGeom>
          <a:noFill/>
          <a:ln/>
        </p:spPr>
        <p:txBody>
          <a:bodyPr wrap="square" lIns="0" tIns="0" rIns="0" bIns="0" rtlCol="0" anchor="ctr"/>
          <a:lstStyle/>
          <a:p>
            <a:pPr algn="l" indent="0" marL="0">
              <a:buNone/>
            </a:pPr>
            <a:r>
              <a:rPr lang="en-US" sz="2000" b="1" dirty="0">
                <a:solidFill>
                  <a:schemeClr val="accent5"/>
                </a:solidFill>
              </a:rPr>
              <a:t>≥ 92%</a:t>
            </a:r>
            <a:endParaRPr lang="en-US" sz="2000" dirty="0"/>
          </a:p>
        </p:txBody>
      </p:sp>
      <p:sp>
        <p:nvSpPr>
          <p:cNvPr id="12" name="Text 7"/>
          <p:cNvSpPr txBox="1"/>
          <p:nvPr/>
        </p:nvSpPr>
        <p:spPr>
          <a:xfrm>
            <a:off x="3447288" y="5925312"/>
            <a:ext cx="1728216" cy="411480"/>
          </a:xfrm>
          <a:prstGeom prst="rect">
            <a:avLst/>
          </a:prstGeom>
          <a:noFill/>
          <a:ln/>
        </p:spPr>
        <p:txBody>
          <a:bodyPr wrap="square" lIns="0" tIns="0" rIns="0" bIns="0" rtlCol="0" anchor="t"/>
          <a:lstStyle/>
          <a:p>
            <a:pPr algn="l" indent="0" marL="0">
              <a:buNone/>
            </a:pPr>
            <a:r>
              <a:rPr lang="en-US" sz="1100" dirty="0">
                <a:solidFill>
                  <a:schemeClr val="tx1"/>
                </a:solidFill>
              </a:rPr>
              <a:t>coverage for every wild parameter, every year</a:t>
            </a:r>
            <a:endParaRPr lang="en-US" sz="1100" dirty="0"/>
          </a:p>
        </p:txBody>
      </p:sp>
      <p:sp>
        <p:nvSpPr>
          <p:cNvPr id="13" name="Shape 8"/>
          <p:cNvSpPr/>
          <p:nvPr/>
        </p:nvSpPr>
        <p:spPr>
          <a:xfrm>
            <a:off x="5449824" y="5532120"/>
            <a:ext cx="1947672" cy="822960"/>
          </a:xfrm>
          <a:prstGeom prst="roundRect">
            <a:avLst>
              <a:gd name="adj" fmla="val 8889"/>
            </a:avLst>
          </a:prstGeom>
          <a:solidFill>
            <a:schemeClr val="bg2"/>
          </a:solidFill>
          <a:ln w="9525">
            <a:solidFill>
              <a:srgbClr val="D3DEE1"/>
            </a:solidFill>
            <a:prstDash val="solid"/>
          </a:ln>
        </p:spPr>
      </p:sp>
      <p:sp>
        <p:nvSpPr>
          <p:cNvPr id="14" name="Text 9"/>
          <p:cNvSpPr txBox="1"/>
          <p:nvPr/>
        </p:nvSpPr>
        <p:spPr>
          <a:xfrm>
            <a:off x="5559552" y="5559552"/>
            <a:ext cx="1728216" cy="384048"/>
          </a:xfrm>
          <a:prstGeom prst="rect">
            <a:avLst/>
          </a:prstGeom>
          <a:noFill/>
          <a:ln/>
        </p:spPr>
        <p:txBody>
          <a:bodyPr wrap="square" lIns="0" tIns="0" rIns="0" bIns="0" rtlCol="0" anchor="ctr"/>
          <a:lstStyle/>
          <a:p>
            <a:pPr algn="l" indent="0" marL="0">
              <a:buNone/>
            </a:pPr>
            <a:r>
              <a:rPr lang="en-US" sz="2000" b="1" dirty="0">
                <a:solidFill>
                  <a:schemeClr val="accent5"/>
                </a:solidFill>
              </a:rPr>
              <a:t>0.014 to 0.029</a:t>
            </a:r>
            <a:endParaRPr lang="en-US" sz="2000" dirty="0"/>
          </a:p>
        </p:txBody>
      </p:sp>
      <p:sp>
        <p:nvSpPr>
          <p:cNvPr id="15" name="Text 10"/>
          <p:cNvSpPr txBox="1"/>
          <p:nvPr/>
        </p:nvSpPr>
        <p:spPr>
          <a:xfrm>
            <a:off x="5559552" y="5925312"/>
            <a:ext cx="1728216" cy="411480"/>
          </a:xfrm>
          <a:prstGeom prst="rect">
            <a:avLst/>
          </a:prstGeom>
          <a:noFill/>
          <a:ln/>
        </p:spPr>
        <p:txBody>
          <a:bodyPr wrap="square" lIns="0" tIns="0" rIns="0" bIns="0" rtlCol="0" anchor="t"/>
          <a:lstStyle/>
          <a:p>
            <a:pPr algn="l" indent="0" marL="0">
              <a:buNone/>
            </a:pPr>
            <a:r>
              <a:rPr lang="en-US" sz="1100" dirty="0">
                <a:solidFill>
                  <a:schemeClr val="tx1"/>
                </a:solidFill>
              </a:rPr>
              <a:t>mean absolute error, weekly wild GE</a:t>
            </a:r>
            <a:endParaRPr lang="en-US" sz="1100" dirty="0"/>
          </a:p>
        </p:txBody>
      </p:sp>
      <p:sp>
        <p:nvSpPr>
          <p:cNvPr id="16" name="Shape 11"/>
          <p:cNvSpPr/>
          <p:nvPr/>
        </p:nvSpPr>
        <p:spPr>
          <a:xfrm>
            <a:off x="7562088" y="5532120"/>
            <a:ext cx="1947672" cy="822960"/>
          </a:xfrm>
          <a:prstGeom prst="roundRect">
            <a:avLst>
              <a:gd name="adj" fmla="val 8889"/>
            </a:avLst>
          </a:prstGeom>
          <a:solidFill>
            <a:schemeClr val="bg2"/>
          </a:solidFill>
          <a:ln w="9525">
            <a:solidFill>
              <a:srgbClr val="D3DEE1"/>
            </a:solidFill>
            <a:prstDash val="solid"/>
          </a:ln>
        </p:spPr>
      </p:sp>
      <p:sp>
        <p:nvSpPr>
          <p:cNvPr id="17" name="Text 12"/>
          <p:cNvSpPr txBox="1"/>
          <p:nvPr/>
        </p:nvSpPr>
        <p:spPr>
          <a:xfrm>
            <a:off x="7671816" y="5559552"/>
            <a:ext cx="1728216" cy="384048"/>
          </a:xfrm>
          <a:prstGeom prst="rect">
            <a:avLst/>
          </a:prstGeom>
          <a:noFill/>
          <a:ln/>
        </p:spPr>
        <p:txBody>
          <a:bodyPr wrap="square" lIns="0" tIns="0" rIns="0" bIns="0" rtlCol="0" anchor="ctr"/>
          <a:lstStyle/>
          <a:p>
            <a:pPr algn="l" indent="0" marL="0">
              <a:buNone/>
            </a:pPr>
            <a:r>
              <a:rPr lang="en-US" sz="2000" b="1" dirty="0">
                <a:solidFill>
                  <a:schemeClr val="accent5"/>
                </a:solidFill>
              </a:rPr>
              <a:t>≤ 0.009</a:t>
            </a:r>
            <a:endParaRPr lang="en-US" sz="2000" dirty="0"/>
          </a:p>
        </p:txBody>
      </p:sp>
      <p:sp>
        <p:nvSpPr>
          <p:cNvPr id="18" name="Text 13"/>
          <p:cNvSpPr txBox="1"/>
          <p:nvPr/>
        </p:nvSpPr>
        <p:spPr>
          <a:xfrm>
            <a:off x="7671816" y="5925312"/>
            <a:ext cx="1728216" cy="411480"/>
          </a:xfrm>
          <a:prstGeom prst="rect">
            <a:avLst/>
          </a:prstGeom>
          <a:noFill/>
          <a:ln/>
        </p:spPr>
        <p:txBody>
          <a:bodyPr wrap="square" lIns="0" tIns="0" rIns="0" bIns="0" rtlCol="0" anchor="t"/>
          <a:lstStyle/>
          <a:p>
            <a:pPr algn="l" indent="0" marL="0">
              <a:buNone/>
            </a:pPr>
            <a:r>
              <a:rPr lang="en-US" sz="1100" dirty="0">
                <a:solidFill>
                  <a:schemeClr val="tx1"/>
                </a:solidFill>
              </a:rPr>
              <a:t>mean error (bias), weekly wild GE</a:t>
            </a:r>
            <a:endParaRPr lang="en-US" sz="1100" dirty="0"/>
          </a:p>
        </p:txBody>
      </p:sp>
      <p:sp>
        <p:nvSpPr>
          <p:cNvPr id="19" name="Shape 14"/>
          <p:cNvSpPr/>
          <p:nvPr/>
        </p:nvSpPr>
        <p:spPr>
          <a:xfrm>
            <a:off x="9674352" y="5532120"/>
            <a:ext cx="1947672" cy="822960"/>
          </a:xfrm>
          <a:prstGeom prst="roundRect">
            <a:avLst>
              <a:gd name="adj" fmla="val 8889"/>
            </a:avLst>
          </a:prstGeom>
          <a:solidFill>
            <a:schemeClr val="bg2"/>
          </a:solidFill>
          <a:ln w="9525">
            <a:solidFill>
              <a:srgbClr val="D3DEE1"/>
            </a:solidFill>
            <a:prstDash val="solid"/>
          </a:ln>
        </p:spPr>
      </p:sp>
      <p:sp>
        <p:nvSpPr>
          <p:cNvPr id="20" name="Text 15"/>
          <p:cNvSpPr txBox="1"/>
          <p:nvPr/>
        </p:nvSpPr>
        <p:spPr>
          <a:xfrm>
            <a:off x="9784080" y="5559552"/>
            <a:ext cx="1728216" cy="384048"/>
          </a:xfrm>
          <a:prstGeom prst="rect">
            <a:avLst/>
          </a:prstGeom>
          <a:noFill/>
          <a:ln/>
        </p:spPr>
        <p:txBody>
          <a:bodyPr wrap="square" lIns="0" tIns="0" rIns="0" bIns="0" rtlCol="0" anchor="ctr"/>
          <a:lstStyle/>
          <a:p>
            <a:pPr algn="l" indent="0" marL="0">
              <a:buNone/>
            </a:pPr>
            <a:r>
              <a:rPr lang="en-US" sz="2000" b="1" dirty="0">
                <a:solidFill>
                  <a:schemeClr val="accent5"/>
                </a:solidFill>
              </a:rPr>
              <a:t>92 to 95%</a:t>
            </a:r>
            <a:endParaRPr lang="en-US" sz="2000" dirty="0"/>
          </a:p>
        </p:txBody>
      </p:sp>
      <p:sp>
        <p:nvSpPr>
          <p:cNvPr id="21" name="Text 16"/>
          <p:cNvSpPr txBox="1"/>
          <p:nvPr/>
        </p:nvSpPr>
        <p:spPr>
          <a:xfrm>
            <a:off x="9784080" y="5925312"/>
            <a:ext cx="1728216" cy="411480"/>
          </a:xfrm>
          <a:prstGeom prst="rect">
            <a:avLst/>
          </a:prstGeom>
          <a:noFill/>
          <a:ln/>
        </p:spPr>
        <p:txBody>
          <a:bodyPr wrap="square" lIns="0" tIns="0" rIns="0" bIns="0" rtlCol="0" anchor="t"/>
          <a:lstStyle/>
          <a:p>
            <a:pPr algn="l" indent="0" marL="0">
              <a:buNone/>
            </a:pPr>
            <a:r>
              <a:rPr lang="en-US" sz="1100" dirty="0">
                <a:solidFill>
                  <a:schemeClr val="tx1"/>
                </a:solidFill>
              </a:rPr>
              <a:t>day and night GE: may run slightly narrow</a:t>
            </a:r>
            <a:endParaRPr lang="en-US" sz="1100" dirty="0"/>
          </a:p>
        </p:txBody>
      </p:sp>
      <p:sp>
        <p:nvSpPr>
          <p:cNvPr id="22"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09_recover_truth.R (a teaching version on the six-cell model, not the multiyear validation shown)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5 · FROM GE TO ABUNDANCE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Lessons for Your Own Models</a:t>
            </a:r>
            <a:endParaRPr lang="en-US" sz="3200" dirty="0"/>
          </a:p>
        </p:txBody>
      </p:sp>
      <p:sp>
        <p:nvSpPr>
          <p:cNvPr id="5" name="Text 2"/>
          <p:cNvSpPr/>
          <p:nvPr/>
        </p:nvSpPr>
        <p:spPr>
          <a:xfrm>
            <a:off x="548640" y="173736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3"/>
          <p:cNvSpPr txBox="1"/>
          <p:nvPr/>
        </p:nvSpPr>
        <p:spPr>
          <a:xfrm>
            <a:off x="1280160" y="1554480"/>
            <a:ext cx="10360152" cy="868680"/>
          </a:xfrm>
          <a:prstGeom prst="rect">
            <a:avLst/>
          </a:prstGeom>
          <a:noFill/>
          <a:ln/>
        </p:spPr>
        <p:txBody>
          <a:bodyPr wrap="square" lIns="0" tIns="0" rIns="0" bIns="0" rtlCol="0" anchor="ctr"/>
          <a:lstStyle/>
          <a:p>
            <a:pPr algn="l" indent="0" marL="0">
              <a:buNone/>
            </a:pPr>
            <a:r>
              <a:rPr lang="en-US" sz="1600" b="1" dirty="0">
                <a:solidFill>
                  <a:schemeClr val="tx2"/>
                </a:solidFill>
              </a:rPr>
              <a:t>JAGS does the heavy lifting. </a:t>
            </a:r>
            <a:pPr algn="l" indent="0" marL="0">
              <a:buNone/>
            </a:pPr>
            <a:r>
              <a:rPr lang="en-US" sz="1400" dirty="0">
                <a:solidFill>
                  <a:schemeClr val="tx1"/>
                </a:solidFill>
              </a:rPr>
              <a:t>Free, open-source Bayesian MCMC: write the model, and JAGS samples the posterior.</a:t>
            </a:r>
            <a:endParaRPr lang="en-US" sz="1500" dirty="0"/>
          </a:p>
        </p:txBody>
      </p:sp>
      <p:sp>
        <p:nvSpPr>
          <p:cNvPr id="7" name="Text 4"/>
          <p:cNvSpPr/>
          <p:nvPr/>
        </p:nvSpPr>
        <p:spPr>
          <a:xfrm>
            <a:off x="548640" y="269748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5"/>
          <p:cNvSpPr txBox="1"/>
          <p:nvPr/>
        </p:nvSpPr>
        <p:spPr>
          <a:xfrm>
            <a:off x="1280160" y="2514600"/>
            <a:ext cx="10360152" cy="868680"/>
          </a:xfrm>
          <a:prstGeom prst="rect">
            <a:avLst/>
          </a:prstGeom>
          <a:noFill/>
          <a:ln/>
        </p:spPr>
        <p:txBody>
          <a:bodyPr wrap="square" lIns="0" tIns="0" rIns="0" bIns="0" rtlCol="0" anchor="ctr"/>
          <a:lstStyle/>
          <a:p>
            <a:pPr algn="l" indent="0" marL="0">
              <a:buNone/>
            </a:pPr>
            <a:r>
              <a:rPr lang="en-US" sz="1600" b="1" dirty="0">
                <a:solidFill>
                  <a:schemeClr val="tx2"/>
                </a:solidFill>
              </a:rPr>
              <a:t>Hierarchical models connect observations to the answer. </a:t>
            </a:r>
            <a:pPr algn="l" indent="0" marL="0">
              <a:buNone/>
            </a:pPr>
            <a:r>
              <a:rPr lang="en-US" sz="1400" dirty="0">
                <a:solidFill>
                  <a:schemeClr val="tx1"/>
                </a:solidFill>
              </a:rPr>
              <a:t>Share information across groups and carry uncertainty through to abundance.</a:t>
            </a:r>
            <a:endParaRPr lang="en-US" sz="1500" dirty="0"/>
          </a:p>
        </p:txBody>
      </p:sp>
      <p:sp>
        <p:nvSpPr>
          <p:cNvPr id="9" name="Text 6"/>
          <p:cNvSpPr/>
          <p:nvPr/>
        </p:nvSpPr>
        <p:spPr>
          <a:xfrm>
            <a:off x="548640" y="365760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 7"/>
          <p:cNvSpPr txBox="1"/>
          <p:nvPr/>
        </p:nvSpPr>
        <p:spPr>
          <a:xfrm>
            <a:off x="1280160" y="3474720"/>
            <a:ext cx="10360152" cy="868680"/>
          </a:xfrm>
          <a:prstGeom prst="rect">
            <a:avLst/>
          </a:prstGeom>
          <a:noFill/>
          <a:ln/>
        </p:spPr>
        <p:txBody>
          <a:bodyPr wrap="square" lIns="0" tIns="0" rIns="0" bIns="0" rtlCol="0" anchor="ctr"/>
          <a:lstStyle/>
          <a:p>
            <a:pPr algn="l" indent="0" marL="0">
              <a:buNone/>
            </a:pPr>
            <a:r>
              <a:rPr lang="en-US" sz="1600" b="1" dirty="0">
                <a:solidFill>
                  <a:schemeClr val="tx2"/>
                </a:solidFill>
              </a:rPr>
              <a:t>The logit link fits naturally with probability models. </a:t>
            </a:r>
            <a:pPr algn="l" indent="0" marL="0">
              <a:buNone/>
            </a:pPr>
            <a:r>
              <a:rPr lang="en-US" sz="1400" dirty="0">
                <a:solidFill>
                  <a:schemeClr val="tx1"/>
                </a:solidFill>
              </a:rPr>
              <a:t>Add covariate and group effects while keeping probabilities between 0 and 1.</a:t>
            </a:r>
            <a:endParaRPr lang="en-US" sz="1500" dirty="0"/>
          </a:p>
        </p:txBody>
      </p:sp>
      <p:sp>
        <p:nvSpPr>
          <p:cNvPr id="11" name="Text 8"/>
          <p:cNvSpPr/>
          <p:nvPr/>
        </p:nvSpPr>
        <p:spPr>
          <a:xfrm>
            <a:off x="548640" y="461772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2" name="Text 9"/>
          <p:cNvSpPr txBox="1"/>
          <p:nvPr/>
        </p:nvSpPr>
        <p:spPr>
          <a:xfrm>
            <a:off x="1280160" y="4434840"/>
            <a:ext cx="10360152" cy="868680"/>
          </a:xfrm>
          <a:prstGeom prst="rect">
            <a:avLst/>
          </a:prstGeom>
          <a:noFill/>
          <a:ln/>
        </p:spPr>
        <p:txBody>
          <a:bodyPr wrap="square" lIns="0" tIns="0" rIns="0" bIns="0" rtlCol="0" anchor="ctr"/>
          <a:lstStyle/>
          <a:p>
            <a:pPr algn="l" indent="0" marL="0">
              <a:buNone/>
            </a:pPr>
            <a:r>
              <a:rPr lang="en-US" sz="1600" b="1" dirty="0">
                <a:solidFill>
                  <a:schemeClr val="tx2"/>
                </a:solidFill>
              </a:rPr>
              <a:t>Know what your marked fish are. </a:t>
            </a:r>
            <a:pPr algn="l" indent="0" marL="0">
              <a:buNone/>
            </a:pPr>
            <a:r>
              <a:rPr lang="en-US" sz="1400" dirty="0">
                <a:solidFill>
                  <a:schemeClr val="tx1"/>
                </a:solidFill>
              </a:rPr>
              <a:t>Tags applied after the decision, and incomplete transport flags, both moved GE a lot.</a:t>
            </a:r>
            <a:endParaRPr lang="en-US" sz="1500" dirty="0"/>
          </a:p>
        </p:txBody>
      </p:sp>
      <p:sp>
        <p:nvSpPr>
          <p:cNvPr id="13" name="Text 10"/>
          <p:cNvSpPr/>
          <p:nvPr/>
        </p:nvSpPr>
        <p:spPr>
          <a:xfrm>
            <a:off x="548640" y="557784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4" name="Text 11"/>
          <p:cNvSpPr txBox="1"/>
          <p:nvPr/>
        </p:nvSpPr>
        <p:spPr>
          <a:xfrm>
            <a:off x="1280160" y="5394960"/>
            <a:ext cx="10360152" cy="868680"/>
          </a:xfrm>
          <a:prstGeom prst="rect">
            <a:avLst/>
          </a:prstGeom>
          <a:noFill/>
          <a:ln/>
        </p:spPr>
        <p:txBody>
          <a:bodyPr wrap="square" lIns="0" tIns="0" rIns="0" bIns="0" rtlCol="0" anchor="ctr"/>
          <a:lstStyle/>
          <a:p>
            <a:pPr algn="l" indent="0" marL="0">
              <a:buNone/>
            </a:pPr>
            <a:r>
              <a:rPr lang="en-US" sz="1600" b="1" dirty="0">
                <a:solidFill>
                  <a:schemeClr val="tx2"/>
                </a:solidFill>
              </a:rPr>
              <a:t>Validate against simulated truth, </a:t>
            </a:r>
            <a:pPr algn="l" indent="0" marL="0">
              <a:buNone/>
            </a:pPr>
            <a:r>
              <a:rPr lang="en-US" sz="1400" dirty="0">
                <a:solidFill>
                  <a:schemeClr val="tx1"/>
                </a:solidFill>
              </a:rPr>
              <a:t>not against another model.</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10896"/>
            <a:ext cx="8229600" cy="237744"/>
          </a:xfrm>
          <a:prstGeom prst="rect">
            <a:avLst/>
          </a:prstGeom>
          <a:noFill/>
          <a:ln/>
        </p:spPr>
        <p:txBody>
          <a:bodyPr wrap="square" lIns="0" tIns="0" rIns="0" bIns="0" rtlCol="0" anchor="t"/>
          <a:lstStyle/>
          <a:p>
            <a:pPr algn="l" indent="0" marL="0">
              <a:buNone/>
            </a:pPr>
            <a:r>
              <a:rPr lang="en-US" sz="1100" b="1" spc="150" kern="0" dirty="0">
                <a:solidFill>
                  <a:schemeClr val="accent5"/>
                </a:solidFill>
              </a:rPr>
              <a:t>PART 5 · FROM GE TO ABUNDANCE</a:t>
            </a:r>
            <a:endParaRPr lang="en-US" sz="1100" dirty="0"/>
          </a:p>
        </p:txBody>
      </p:sp>
      <p:sp>
        <p:nvSpPr>
          <p:cNvPr id="3" name="Text 0"/>
          <p:cNvSpPr/>
          <p:nvPr>
            <p:ph idx="100" type="title" hasCustomPrompt="1"/>
          </p:nvPr>
        </p:nvSpPr>
        <p:spPr>
          <a:xfrm>
            <a:off x="548640" y="566928"/>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BPA Reading Map</a:t>
            </a:r>
            <a:endParaRPr lang="en-US" sz="3200" dirty="0"/>
          </a:p>
        </p:txBody>
      </p:sp>
      <p:pic>
        <p:nvPicPr>
          <p:cNvPr id="5" name="bpa_cover" descr="/home/claude/deck/assets/bpa_cover.png">    </p:cNvPr>
          <p:cNvPicPr>
            <a:picLocks noChangeAspect="1"/>
          </p:cNvPicPr>
          <p:nvPr/>
        </p:nvPicPr>
        <p:blipFill>
          <a:blip r:embed="rId1"/>
          <a:stretch>
            <a:fillRect/>
          </a:stretch>
        </p:blipFill>
        <p:spPr>
          <a:xfrm>
            <a:off x="548640" y="1554480"/>
            <a:ext cx="2377440" cy="3570122"/>
          </a:xfrm>
          <a:prstGeom prst="rect">
            <a:avLst/>
          </a:prstGeom>
        </p:spPr>
      </p:pic>
      <p:sp>
        <p:nvSpPr>
          <p:cNvPr id="6" name="Text 2"/>
          <p:cNvSpPr txBox="1"/>
          <p:nvPr/>
        </p:nvSpPr>
        <p:spPr>
          <a:xfrm>
            <a:off x="548640" y="5257800"/>
            <a:ext cx="2468880" cy="594360"/>
          </a:xfrm>
          <a:prstGeom prst="rect">
            <a:avLst/>
          </a:prstGeom>
          <a:noFill/>
          <a:ln/>
        </p:spPr>
        <p:txBody>
          <a:bodyPr wrap="square" lIns="0" tIns="0" rIns="0" bIns="0" rtlCol="0" anchor="t"/>
          <a:lstStyle/>
          <a:p>
            <a:pPr algn="l" indent="0" marL="0">
              <a:buNone/>
            </a:pPr>
            <a:r>
              <a:rPr lang="en-US" sz="1100" dirty="0">
                <a:solidFill>
                  <a:srgbClr val="5B6B73"/>
                </a:solidFill>
              </a:rPr>
              <a:t>Kéry and Schaub (2012), Bayesian Population Analysis using WinBUGS</a:t>
            </a:r>
            <a:endParaRPr lang="en-US" sz="1100" dirty="0"/>
          </a:p>
        </p:txBody>
      </p:sp>
      <p:sp>
        <p:nvSpPr>
          <p:cNvPr id="7" name="Text 3"/>
          <p:cNvSpPr/>
          <p:nvPr/>
        </p:nvSpPr>
        <p:spPr>
          <a:xfrm>
            <a:off x="3291840" y="1554480"/>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3</a:t>
            </a:r>
            <a:endParaRPr lang="en-US" sz="1500" dirty="0"/>
          </a:p>
        </p:txBody>
      </p:sp>
      <p:sp>
        <p:nvSpPr>
          <p:cNvPr id="8" name="Text 4"/>
          <p:cNvSpPr txBox="1"/>
          <p:nvPr/>
        </p:nvSpPr>
        <p:spPr>
          <a:xfrm>
            <a:off x="4754880" y="1554480"/>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Generalized linear models and the logit link</a:t>
            </a:r>
            <a:endParaRPr lang="en-US" sz="1500" dirty="0"/>
          </a:p>
          <a:p>
            <a:pPr algn="l" indent="0" marL="0">
              <a:buNone/>
            </a:pPr>
            <a:r>
              <a:rPr lang="en-US" sz="1300" dirty="0">
                <a:solidFill>
                  <a:srgbClr val="5B6B73"/>
                </a:solidFill>
              </a:rPr>
              <a:t>In this talk: why GE lives on the logit scale (slide 16)</a:t>
            </a:r>
            <a:endParaRPr lang="en-US" sz="1500" dirty="0"/>
          </a:p>
        </p:txBody>
      </p:sp>
      <p:sp>
        <p:nvSpPr>
          <p:cNvPr id="9" name="Text 5"/>
          <p:cNvSpPr/>
          <p:nvPr/>
        </p:nvSpPr>
        <p:spPr>
          <a:xfrm>
            <a:off x="3291840" y="2350008"/>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4.1.4</a:t>
            </a:r>
            <a:endParaRPr lang="en-US" sz="1500" dirty="0"/>
          </a:p>
        </p:txBody>
      </p:sp>
      <p:sp>
        <p:nvSpPr>
          <p:cNvPr id="10" name="Text 6"/>
          <p:cNvSpPr txBox="1"/>
          <p:nvPr/>
        </p:nvSpPr>
        <p:spPr>
          <a:xfrm>
            <a:off x="4754880" y="2350008"/>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Fixed vs random with few groups</a:t>
            </a:r>
            <a:endParaRPr lang="en-US" sz="1500" dirty="0"/>
          </a:p>
          <a:p>
            <a:pPr algn="l" indent="0" marL="0">
              <a:buNone/>
            </a:pPr>
            <a:r>
              <a:rPr lang="en-US" sz="1300" dirty="0">
                <a:solidFill>
                  <a:srgbClr val="5B6B73"/>
                </a:solidFill>
              </a:rPr>
              <a:t>In this talk: rear offsets (slide 15)</a:t>
            </a:r>
            <a:endParaRPr lang="en-US" sz="1500" dirty="0"/>
          </a:p>
        </p:txBody>
      </p:sp>
      <p:sp>
        <p:nvSpPr>
          <p:cNvPr id="11" name="Text 7"/>
          <p:cNvSpPr/>
          <p:nvPr/>
        </p:nvSpPr>
        <p:spPr>
          <a:xfrm>
            <a:off x="3291840" y="3145536"/>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5</a:t>
            </a:r>
            <a:endParaRPr lang="en-US" sz="1500" dirty="0"/>
          </a:p>
        </p:txBody>
      </p:sp>
      <p:sp>
        <p:nvSpPr>
          <p:cNvPr id="12" name="Text 8"/>
          <p:cNvSpPr txBox="1"/>
          <p:nvPr/>
        </p:nvSpPr>
        <p:spPr>
          <a:xfrm>
            <a:off x="4754880" y="3145536"/>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State-space models</a:t>
            </a:r>
            <a:endParaRPr lang="en-US" sz="1500" dirty="0"/>
          </a:p>
          <a:p>
            <a:pPr algn="l" indent="0" marL="0">
              <a:buNone/>
            </a:pPr>
            <a:r>
              <a:rPr lang="en-US" sz="1300" dirty="0">
                <a:solidFill>
                  <a:srgbClr val="5B6B73"/>
                </a:solidFill>
              </a:rPr>
              <a:t>In this talk: IDFG's screw-trap estimator (slide 4)</a:t>
            </a:r>
            <a:endParaRPr lang="en-US" sz="1500" dirty="0"/>
          </a:p>
        </p:txBody>
      </p:sp>
      <p:sp>
        <p:nvSpPr>
          <p:cNvPr id="13" name="Text 9"/>
          <p:cNvSpPr/>
          <p:nvPr/>
        </p:nvSpPr>
        <p:spPr>
          <a:xfrm>
            <a:off x="3291840" y="3941064"/>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6</a:t>
            </a:r>
            <a:endParaRPr lang="en-US" sz="1500" dirty="0"/>
          </a:p>
        </p:txBody>
      </p:sp>
      <p:sp>
        <p:nvSpPr>
          <p:cNvPr id="14" name="Text 10"/>
          <p:cNvSpPr txBox="1"/>
          <p:nvPr/>
        </p:nvSpPr>
        <p:spPr>
          <a:xfrm>
            <a:off x="4754880" y="3941064"/>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Closed-population capture-recapture</a:t>
            </a:r>
            <a:endParaRPr lang="en-US" sz="1500" dirty="0"/>
          </a:p>
          <a:p>
            <a:pPr algn="l" indent="0" marL="0">
              <a:buNone/>
            </a:pPr>
            <a:r>
              <a:rPr lang="en-US" sz="1300" dirty="0">
                <a:solidFill>
                  <a:srgbClr val="5B6B73"/>
                </a:solidFill>
              </a:rPr>
              <a:t>In this talk: Lincoln-Petersen and the row method (slides 4 and 9)</a:t>
            </a:r>
            <a:endParaRPr lang="en-US" sz="1500" dirty="0"/>
          </a:p>
        </p:txBody>
      </p:sp>
      <p:sp>
        <p:nvSpPr>
          <p:cNvPr id="15" name="Text 11"/>
          <p:cNvSpPr/>
          <p:nvPr/>
        </p:nvSpPr>
        <p:spPr>
          <a:xfrm>
            <a:off x="3291840" y="4736592"/>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7</a:t>
            </a:r>
            <a:endParaRPr lang="en-US" sz="1500" dirty="0"/>
          </a:p>
        </p:txBody>
      </p:sp>
      <p:sp>
        <p:nvSpPr>
          <p:cNvPr id="16" name="Text 12"/>
          <p:cNvSpPr txBox="1"/>
          <p:nvPr/>
        </p:nvSpPr>
        <p:spPr>
          <a:xfrm>
            <a:off x="4754880" y="4736592"/>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CJS: 7.4 time variation, 7.6 time and group effects, 7.9 identifiability</a:t>
            </a:r>
            <a:endParaRPr lang="en-US" sz="1500" dirty="0"/>
          </a:p>
          <a:p>
            <a:pPr algn="l" indent="0" marL="0">
              <a:buNone/>
            </a:pPr>
            <a:r>
              <a:rPr lang="en-US" sz="1300" dirty="0">
                <a:solidFill>
                  <a:srgbClr val="5B6B73"/>
                </a:solidFill>
              </a:rPr>
              <a:t>In this talk: the GE regression (slide 17)</a:t>
            </a:r>
            <a:endParaRPr lang="en-US" sz="1500" dirty="0"/>
          </a:p>
        </p:txBody>
      </p:sp>
      <p:sp>
        <p:nvSpPr>
          <p:cNvPr id="17" name="Text 13"/>
          <p:cNvSpPr/>
          <p:nvPr/>
        </p:nvSpPr>
        <p:spPr>
          <a:xfrm>
            <a:off x="3291840" y="5532120"/>
            <a:ext cx="1280160" cy="676656"/>
          </a:xfrm>
          <a:prstGeom prst="roundRect">
            <a:avLst>
              <a:gd name="adj" fmla="val 10811"/>
            </a:avLst>
          </a:prstGeom>
          <a:solidFill>
            <a:schemeClr val="accent5"/>
          </a:solidFill>
          <a:ln/>
        </p:spPr>
        <p:txBody>
          <a:bodyPr wrap="square" lIns="0" tIns="0" rIns="0" bIns="0" rtlCol="0" anchor="ctr"/>
          <a:lstStyle/>
          <a:p>
            <a:pPr algn="ctr" indent="0" marL="0">
              <a:buNone/>
            </a:pPr>
            <a:r>
              <a:rPr lang="en-US" sz="1500" b="1" dirty="0">
                <a:solidFill>
                  <a:schemeClr val="bg1"/>
                </a:solidFill>
              </a:rPr>
              <a:t>Ch. 9</a:t>
            </a:r>
            <a:endParaRPr lang="en-US" sz="1500" dirty="0"/>
          </a:p>
        </p:txBody>
      </p:sp>
      <p:sp>
        <p:nvSpPr>
          <p:cNvPr id="18" name="Text 14"/>
          <p:cNvSpPr txBox="1"/>
          <p:nvPr/>
        </p:nvSpPr>
        <p:spPr>
          <a:xfrm>
            <a:off x="4754880" y="5532120"/>
            <a:ext cx="6885432" cy="676656"/>
          </a:xfrm>
          <a:prstGeom prst="rect">
            <a:avLst/>
          </a:prstGeom>
          <a:noFill/>
          <a:ln/>
        </p:spPr>
        <p:txBody>
          <a:bodyPr wrap="square" lIns="0" tIns="0" rIns="0" bIns="0" rtlCol="0" anchor="ctr"/>
          <a:lstStyle/>
          <a:p>
            <a:pPr algn="l" indent="0" marL="0">
              <a:buNone/>
            </a:pPr>
            <a:r>
              <a:rPr lang="en-US" sz="1600" b="1" dirty="0">
                <a:solidFill>
                  <a:schemeClr val="tx2"/>
                </a:solidFill>
              </a:rPr>
              <a:t>Multistate models</a:t>
            </a:r>
            <a:endParaRPr lang="en-US" sz="1500" dirty="0"/>
          </a:p>
          <a:p>
            <a:pPr algn="l" indent="0" marL="0">
              <a:buNone/>
            </a:pPr>
            <a:r>
              <a:rPr lang="en-US" sz="1300" dirty="0">
                <a:solidFill>
                  <a:srgbClr val="5B6B73"/>
                </a:solidFill>
              </a:rPr>
              <a:t>In this talk: the LGR model (slides 11 to 22)</a:t>
            </a:r>
            <a:endParaRPr lang="en-US" sz="1500" dirty="0"/>
          </a:p>
        </p:txBody>
      </p:sp>
      <p:sp>
        <p:nvSpPr>
          <p:cNvPr id="19" name="code_tag"/>
          <p:cNvSpPr/>
          <p:nvPr/>
        </p:nvSpPr>
        <p:spPr>
          <a:xfrm>
            <a:off x="548640" y="6492240"/>
            <a:ext cx="9601200" cy="256032"/>
          </a:xfrm>
          <a:prstGeom prst="rect">
            <a:avLst/>
          </a:prstGeom>
          <a:noFill/>
          <a:ln/>
        </p:spPr>
        <p:txBody>
          <a:bodyPr wrap="square" lIns="0" tIns="0" rIns="0" bIns="0" rtlCol="0" anchor="ctr"/>
          <a:lstStyle/>
          <a:p>
            <a:pPr indent="0" marL="0">
              <a:buNone/>
            </a:pPr>
            <a:r>
              <a:rPr lang="en-US" sz="1000" b="1" dirty="0">
                <a:solidFill>
                  <a:schemeClr val="accent5"/>
                </a:solidFill>
              </a:rPr>
              <a:t>Code: </a:t>
            </a:r>
            <a:pPr indent="0" marL="0">
              <a:buNone/>
            </a:pPr>
            <a:r>
              <a:rPr lang="en-US" sz="1000" dirty="0">
                <a:solidFill>
                  <a:srgbClr val="5B6B73"/>
                </a:solidFill>
              </a:rPr>
              <a:t>github.com/dsmi313/BSUecostats  ·  every script ends with the BPA sections it draws 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closing_photo" descr="/home/claude/deck/assets/steelhead_gradient.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1828800"/>
            <a:ext cx="6400800" cy="9144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Thanks</a:t>
            </a:r>
            <a:endParaRPr lang="en-US" sz="4800" dirty="0"/>
          </a:p>
        </p:txBody>
      </p:sp>
      <p:sp>
        <p:nvSpPr>
          <p:cNvPr id="4" name="Text 1"/>
          <p:cNvSpPr txBox="1"/>
          <p:nvPr/>
        </p:nvSpPr>
        <p:spPr>
          <a:xfrm>
            <a:off x="640080" y="2788920"/>
            <a:ext cx="6400800" cy="457200"/>
          </a:xfrm>
          <a:prstGeom prst="rect">
            <a:avLst/>
          </a:prstGeom>
          <a:noFill/>
          <a:ln/>
        </p:spPr>
        <p:txBody>
          <a:bodyPr wrap="square" lIns="0" tIns="0" rIns="0" bIns="0" rtlCol="0" anchor="t"/>
          <a:lstStyle/>
          <a:p>
            <a:pPr algn="l" indent="0" marL="0">
              <a:buNone/>
            </a:pPr>
            <a:r>
              <a:rPr lang="en-US" sz="2000" dirty="0">
                <a:solidFill>
                  <a:srgbClr val="CFE0E4"/>
                </a:solidFill>
              </a:rPr>
              <a:t>Tim Copeland, Jonathan Ebel, and Luciano Chiaramonte</a:t>
            </a:r>
            <a:endParaRPr lang="en-US" sz="2000" dirty="0"/>
          </a:p>
        </p:txBody>
      </p:sp>
      <p:sp>
        <p:nvSpPr>
          <p:cNvPr id="5" name="Text 2"/>
          <p:cNvSpPr txBox="1"/>
          <p:nvPr/>
        </p:nvSpPr>
        <p:spPr>
          <a:xfrm>
            <a:off x="640080" y="3520440"/>
            <a:ext cx="5486400" cy="685800"/>
          </a:xfrm>
          <a:prstGeom prst="rect">
            <a:avLst/>
          </a:prstGeom>
          <a:noFill/>
          <a:ln/>
        </p:spPr>
        <p:txBody>
          <a:bodyPr wrap="square" lIns="0" tIns="0" rIns="0" bIns="0" rtlCol="0" anchor="t"/>
          <a:lstStyle/>
          <a:p>
            <a:pPr algn="l" indent="0" marL="0">
              <a:buNone/>
            </a:pPr>
            <a:r>
              <a:rPr lang="en-US" sz="3200" b="1" dirty="0">
                <a:solidFill>
                  <a:srgbClr val="F2C14E"/>
                </a:solidFill>
              </a:rPr>
              <a:t>Questions?</a:t>
            </a:r>
            <a:endParaRPr lang="en-US" sz="3200" dirty="0"/>
          </a:p>
        </p:txBody>
      </p:sp>
      <p:pic>
        <p:nvPicPr>
          <p:cNvPr id="6" name="idfg_logo" descr="/home/claude/deck/assets/idfg_logo.png">    </p:cNvPr>
          <p:cNvPicPr>
            <a:picLocks noChangeAspect="1"/>
          </p:cNvPicPr>
          <p:nvPr/>
        </p:nvPicPr>
        <p:blipFill>
          <a:blip r:embed="rId2"/>
          <a:stretch>
            <a:fillRect/>
          </a:stretch>
        </p:blipFill>
        <p:spPr>
          <a:xfrm>
            <a:off x="640080" y="4767157"/>
            <a:ext cx="868680" cy="981287"/>
          </a:xfrm>
          <a:prstGeom prst="rect">
            <a:avLst/>
          </a:prstGeom>
        </p:spPr>
      </p:pic>
      <p:sp>
        <p:nvSpPr>
          <p:cNvPr id="7" name="Text 3"/>
          <p:cNvSpPr txBox="1"/>
          <p:nvPr/>
        </p:nvSpPr>
        <p:spPr>
          <a:xfrm>
            <a:off x="1645920" y="4754880"/>
            <a:ext cx="5943600" cy="1005840"/>
          </a:xfrm>
          <a:prstGeom prst="rect">
            <a:avLst/>
          </a:prstGeom>
          <a:noFill/>
          <a:ln/>
        </p:spPr>
        <p:txBody>
          <a:bodyPr wrap="square" lIns="0" tIns="0" rIns="0" bIns="0" rtlCol="0" anchor="ctr"/>
          <a:lstStyle/>
          <a:p>
            <a:pPr algn="l" indent="0" marL="0">
              <a:buNone/>
            </a:pPr>
            <a:r>
              <a:rPr lang="en-US" sz="1600" b="1" dirty="0">
                <a:solidFill>
                  <a:schemeClr val="bg1"/>
                </a:solidFill>
              </a:rPr>
              <a:t>Dave Smith</a:t>
            </a:r>
            <a:endParaRPr lang="en-US" sz="1500" dirty="0"/>
          </a:p>
          <a:p>
            <a:pPr algn="l" indent="0" marL="0">
              <a:buNone/>
            </a:pPr>
            <a:r>
              <a:rPr lang="en-US" sz="1300" dirty="0">
                <a:solidFill>
                  <a:srgbClr val="CFE0E4"/>
                </a:solidFill>
              </a:rPr>
              <a:t>Idaho Department of Fish and Game, Nampa Research</a:t>
            </a:r>
            <a:endParaRPr lang="en-US" sz="1500" dirty="0"/>
          </a:p>
          <a:p>
            <a:pPr algn="l" indent="0" marL="0">
              <a:buNone/>
            </a:pPr>
            <a:r>
              <a:rPr lang="en-US" sz="1300" dirty="0">
                <a:solidFill>
                  <a:srgbClr val="F2C14E"/>
                </a:solidFill>
              </a:rPr>
              <a:t>david.smith@idfg.idaho.gov</a:t>
            </a:r>
            <a:endParaRPr lang="en-US" sz="1500" dirty="0"/>
          </a:p>
        </p:txBody>
      </p:sp>
      <p:sp>
        <p:nvSpPr>
          <p:cNvPr id="8" name="Shape 4"/>
          <p:cNvSpPr/>
          <p:nvPr/>
        </p:nvSpPr>
        <p:spPr>
          <a:xfrm>
            <a:off x="9555480" y="3611880"/>
            <a:ext cx="2148840" cy="2788920"/>
          </a:xfrm>
          <a:prstGeom prst="roundRect">
            <a:avLst>
              <a:gd name="adj" fmla="val 3404"/>
            </a:avLst>
          </a:prstGeom>
          <a:solidFill>
            <a:schemeClr val="bg1"/>
          </a:solidFill>
          <a:ln/>
        </p:spPr>
      </p:sp>
      <p:pic>
        <p:nvPicPr>
          <p:cNvPr id="9" name="qr_repo" descr="/home/claude/deck/assets/qr_repo.png">    </p:cNvPr>
          <p:cNvPicPr>
            <a:picLocks noChangeAspect="1"/>
          </p:cNvPicPr>
          <p:nvPr/>
        </p:nvPicPr>
        <p:blipFill>
          <a:blip r:embed="rId3"/>
          <a:stretch>
            <a:fillRect/>
          </a:stretch>
        </p:blipFill>
        <p:spPr>
          <a:xfrm>
            <a:off x="9692640" y="3749040"/>
            <a:ext cx="1874520" cy="1874520"/>
          </a:xfrm>
          <a:prstGeom prst="rect">
            <a:avLst/>
          </a:prstGeom>
        </p:spPr>
      </p:pic>
      <p:sp>
        <p:nvSpPr>
          <p:cNvPr id="10" name="Text 5"/>
          <p:cNvSpPr txBox="1"/>
          <p:nvPr/>
        </p:nvSpPr>
        <p:spPr>
          <a:xfrm>
            <a:off x="9601200" y="5669280"/>
            <a:ext cx="2057400" cy="640080"/>
          </a:xfrm>
          <a:prstGeom prst="rect">
            <a:avLst/>
          </a:prstGeom>
          <a:noFill/>
          <a:ln/>
        </p:spPr>
        <p:txBody>
          <a:bodyPr wrap="square" lIns="0" tIns="0" rIns="0" bIns="0" rtlCol="0" anchor="ctr"/>
          <a:lstStyle/>
          <a:p>
            <a:pPr algn="ctr" indent="0" marL="0">
              <a:buNone/>
            </a:pPr>
            <a:r>
              <a:rPr lang="en-US" sz="1050" b="1" dirty="0">
                <a:solidFill>
                  <a:schemeClr val="tx2"/>
                </a:solidFill>
              </a:rPr>
              <a:t>Code for this talk</a:t>
            </a:r>
            <a:endParaRPr lang="en-US" sz="1050" dirty="0"/>
          </a:p>
          <a:p>
            <a:pPr algn="ctr" indent="0" marL="0">
              <a:buNone/>
            </a:pPr>
            <a:r>
              <a:rPr lang="en-US" sz="1050" dirty="0">
                <a:solidFill>
                  <a:schemeClr val="tx2"/>
                </a:solidFill>
              </a:rPr>
              <a:t>github.com/dsmi313/BSUecostats</a:t>
            </a:r>
            <a:endParaRPr lang="en-US" sz="1050" dirty="0"/>
          </a:p>
        </p:txBody>
      </p:sp>
      <p:sp>
        <p:nvSpPr>
          <p:cNvPr id="12" name="Text 0"/>
          <p:cNvSpPr/>
          <p:nvPr>
            <p:ph idx="100" type="title" hasCustomPrompt="1"/>
          </p:nvPr>
        </p:nvSpPr>
        <p:spPr>
          <a:xfrm>
            <a:off x="640080" y="1005840"/>
            <a:ext cx="5760720" cy="1920240"/>
          </a:xfrm>
          <a:prstGeom prst="rect">
            <a:avLst/>
          </a:prstGeom>
          <a:noFill/>
          <a:ln/>
        </p:spPr>
        <p:txBody>
          <a:bodyPr wrap="square" lIns="0" tIns="0" rIns="0" bIns="0" rtlCol="0" anchor="b"/>
          <a:lstStyle/>
          <a:p>
            <a:pPr algn="l" indent="0" marL="0">
              <a:buNone/>
            </a:pPr>
            <a:endParaRPr lang="en-US" sz="4400" dirty="0"/>
          </a:p>
        </p:txBody>
      </p:sp>
    </p:spTree>
  </p:cSld>
  <p:clrMapOvr>
    <a:masterClrMapping/>
  </p:clrMapOvr>
</p:sld>
</file>

<file path=ppt/theme/theme1.xml><?xml version="1.0" encoding="utf-8"?>
<a:theme xmlns:a="http://schemas.openxmlformats.org/drawingml/2006/main" name="Lower Granite">
  <a:themeElements>
    <a:clrScheme name="Lower Granite">
      <a:dk1>
        <a:srgbClr val="1B2A33"/>
      </a:dk1>
      <a:lt1>
        <a:srgbClr val="FFFFFF"/>
      </a:lt1>
      <a:dk2>
        <a:srgbClr val="12303C"/>
      </a:dk2>
      <a:lt2>
        <a:srgbClr val="EEF4F5"/>
      </a:lt2>
      <a:accent1>
        <a:srgbClr val="2A78D6"/>
      </a:accent1>
      <a:accent2>
        <a:srgbClr val="B97D08"/>
      </a:accent2>
      <a:accent3>
        <a:srgbClr val="CC4F3A"/>
      </a:accent3>
      <a:accent4>
        <a:srgbClr val="7656A8"/>
      </a:accent4>
      <a:accent5>
        <a:srgbClr val="1F6F78"/>
      </a:accent5>
      <a:accent6>
        <a:srgbClr val="1BAF7A"/>
      </a:accent6>
      <a:hlink>
        <a:srgbClr val="2A78D6"/>
      </a:hlink>
      <a:folHlink>
        <a:srgbClr val="7656A8"/>
      </a:folHlink>
    </a:clrScheme>
    <a:fontScheme name="Lower Gran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Many Fish Are There?</dc:title>
  <dc:subject>PptxGenJS Presentation</dc:subject>
  <dc:creator>Dave Smith</dc:creator>
  <cp:lastModifiedBy>Dave Smith</cp:lastModifiedBy>
  <cp:revision>1</cp:revision>
  <dcterms:created xsi:type="dcterms:W3CDTF">2026-10-23T21:00:05Z</dcterms:created>
  <dcterms:modified xsi:type="dcterms:W3CDTF">2026-10-23T21:00:05Z</dcterms:modified>
</cp:coreProperties>
</file>